
<file path=[Content_Types].xml><?xml version="1.0" encoding="utf-8"?>
<Types xmlns="http://schemas.openxmlformats.org/package/2006/content-types">
  <Default Extension="bin" ContentType="image/unknown"/>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8288000" cy="10287000"/>
  <p:notesSz cx="6858000" cy="9144000"/>
  <p:embeddedFontLst>
    <p:embeddedFont>
      <p:font typeface="Calibri (MS)" panose="020B0604020202020204" charset="0"/>
      <p:regular r:id="rId33"/>
    </p:embeddedFont>
    <p:embeddedFont>
      <p:font typeface="Calibri (MS) Bold" panose="020B0604020202020204" charset="0"/>
      <p:bold r:id="rId34"/>
    </p:embeddedFont>
    <p:embeddedFont>
      <p:font typeface="Josefin Sans" panose="020F0502020204030204" pitchFamily="2" charset="0"/>
      <p:regular r:id="rId35"/>
    </p:embeddedFont>
    <p:embeddedFont>
      <p:font typeface="Josefin Sans Bold" panose="020F0502020204030204" pitchFamily="2" charset="0"/>
      <p:bold r:id="rId36"/>
    </p:embeddedFont>
    <p:embeddedFont>
      <p:font typeface="Noto Sans" panose="020B0502040204020203" pitchFamily="34" charset="0"/>
      <p:regular r:id="rId37"/>
    </p:embeddedFont>
    <p:embeddedFont>
      <p:font typeface="Noto Sans Bold" panose="020B0604020202020204" charset="0"/>
      <p:bold r:id="rId38"/>
    </p:embeddedFont>
    <p:embeddedFont>
      <p:font typeface="Public Sans" panose="020B0604020202020204" charset="0"/>
      <p:regular r:id="rId39"/>
    </p:embeddedFont>
    <p:embeddedFont>
      <p:font typeface="Public Sans Bold" panose="020B0604020202020204" charset="0"/>
      <p:bold r:id="rId40"/>
    </p:embeddedFont>
    <p:embeddedFont>
      <p:font typeface="Saira Heavy" panose="020B0604020202020204" charset="0"/>
      <p:bold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9.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bin"/><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bin"/><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hyperlink" Target="https://www.kaggle.com/competitions/house-prices-advanced-regression-techniques" TargetMode="Externa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bin"/></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png"/><Relationship Id="rId7" Type="http://schemas.openxmlformats.org/officeDocument/2006/relationships/image" Target="../media/image3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34.svg"/><Relationship Id="rId5" Type="http://schemas.openxmlformats.org/officeDocument/2006/relationships/image" Target="../media/image28.sv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9525" y="31153"/>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a:grpSpLocks noChangeAspect="1"/>
          </p:cNvGrpSpPr>
          <p:nvPr/>
        </p:nvGrpSpPr>
        <p:grpSpPr>
          <a:xfrm>
            <a:off x="5254374" y="31153"/>
            <a:ext cx="13033626" cy="9198592"/>
            <a:chOff x="0" y="0"/>
            <a:chExt cx="17378168" cy="12264789"/>
          </a:xfrm>
        </p:grpSpPr>
        <p:sp>
          <p:nvSpPr>
            <p:cNvPr id="5" name="Freeform 5"/>
            <p:cNvSpPr/>
            <p:nvPr/>
          </p:nvSpPr>
          <p:spPr>
            <a:xfrm>
              <a:off x="0" y="0"/>
              <a:ext cx="17378172" cy="12264771"/>
            </a:xfrm>
            <a:custGeom>
              <a:avLst/>
              <a:gdLst/>
              <a:ahLst/>
              <a:cxnLst/>
              <a:rect l="l" t="t" r="r" b="b"/>
              <a:pathLst>
                <a:path w="17378172" h="12264771">
                  <a:moveTo>
                    <a:pt x="0" y="0"/>
                  </a:moveTo>
                  <a:lnTo>
                    <a:pt x="17378172" y="0"/>
                  </a:lnTo>
                  <a:lnTo>
                    <a:pt x="17378172" y="12264771"/>
                  </a:lnTo>
                  <a:lnTo>
                    <a:pt x="0" y="12264771"/>
                  </a:lnTo>
                  <a:lnTo>
                    <a:pt x="0" y="0"/>
                  </a:lnTo>
                  <a:close/>
                </a:path>
              </a:pathLst>
            </a:custGeom>
            <a:blipFill>
              <a:blip r:embed="rId3"/>
              <a:stretch>
                <a:fillRect l="-25467"/>
              </a:stretch>
            </a:blipFill>
          </p:spPr>
          <p:txBody>
            <a:bodyPr/>
            <a:lstStyle/>
            <a:p>
              <a:endParaRPr lang="en-US"/>
            </a:p>
          </p:txBody>
        </p:sp>
      </p:grpSp>
      <p:grpSp>
        <p:nvGrpSpPr>
          <p:cNvPr id="6" name="Group 6"/>
          <p:cNvGrpSpPr/>
          <p:nvPr/>
        </p:nvGrpSpPr>
        <p:grpSpPr>
          <a:xfrm>
            <a:off x="1028700" y="5732370"/>
            <a:ext cx="820776" cy="26200"/>
            <a:chOff x="0" y="0"/>
            <a:chExt cx="1060968" cy="33867"/>
          </a:xfrm>
        </p:grpSpPr>
        <p:sp>
          <p:nvSpPr>
            <p:cNvPr id="7" name="Freeform 7"/>
            <p:cNvSpPr/>
            <p:nvPr/>
          </p:nvSpPr>
          <p:spPr>
            <a:xfrm>
              <a:off x="16891" y="0"/>
              <a:ext cx="1027176" cy="33909"/>
            </a:xfrm>
            <a:custGeom>
              <a:avLst/>
              <a:gdLst/>
              <a:ahLst/>
              <a:cxnLst/>
              <a:rect l="l" t="t" r="r" b="b"/>
              <a:pathLst>
                <a:path w="1027176" h="33909">
                  <a:moveTo>
                    <a:pt x="0" y="0"/>
                  </a:moveTo>
                  <a:lnTo>
                    <a:pt x="1027176" y="0"/>
                  </a:lnTo>
                  <a:lnTo>
                    <a:pt x="1027176" y="33909"/>
                  </a:lnTo>
                  <a:lnTo>
                    <a:pt x="0" y="33909"/>
                  </a:lnTo>
                  <a:close/>
                </a:path>
              </a:pathLst>
            </a:custGeom>
            <a:solidFill>
              <a:srgbClr val="1C3F60"/>
            </a:solidFill>
          </p:spPr>
          <p:txBody>
            <a:bodyPr/>
            <a:lstStyle/>
            <a:p>
              <a:endParaRPr lang="en-US"/>
            </a:p>
          </p:txBody>
        </p:sp>
      </p:grpSp>
      <p:grpSp>
        <p:nvGrpSpPr>
          <p:cNvPr id="8" name="Group 8"/>
          <p:cNvGrpSpPr/>
          <p:nvPr/>
        </p:nvGrpSpPr>
        <p:grpSpPr>
          <a:xfrm>
            <a:off x="611" y="72800"/>
            <a:ext cx="1438477" cy="1487442"/>
            <a:chOff x="0" y="0"/>
            <a:chExt cx="1373917" cy="1420685"/>
          </a:xfrm>
        </p:grpSpPr>
        <p:sp>
          <p:nvSpPr>
            <p:cNvPr id="9" name="Freeform 9"/>
            <p:cNvSpPr/>
            <p:nvPr/>
          </p:nvSpPr>
          <p:spPr>
            <a:xfrm>
              <a:off x="0" y="0"/>
              <a:ext cx="1373917" cy="1420685"/>
            </a:xfrm>
            <a:custGeom>
              <a:avLst/>
              <a:gdLst/>
              <a:ahLst/>
              <a:cxnLst/>
              <a:rect l="l" t="t" r="r" b="b"/>
              <a:pathLst>
                <a:path w="1373917" h="1420685">
                  <a:moveTo>
                    <a:pt x="0" y="0"/>
                  </a:moveTo>
                  <a:lnTo>
                    <a:pt x="1373917" y="0"/>
                  </a:lnTo>
                  <a:lnTo>
                    <a:pt x="1373917" y="1420685"/>
                  </a:lnTo>
                  <a:lnTo>
                    <a:pt x="0" y="1420685"/>
                  </a:lnTo>
                  <a:close/>
                </a:path>
              </a:pathLst>
            </a:custGeom>
            <a:blipFill>
              <a:blip r:embed="rId4"/>
              <a:stretch>
                <a:fillRect l="-1942" r="-1942"/>
              </a:stretch>
            </a:blipFill>
          </p:spPr>
          <p:txBody>
            <a:bodyPr/>
            <a:lstStyle/>
            <a:p>
              <a:endParaRPr lang="en-US"/>
            </a:p>
          </p:txBody>
        </p:sp>
      </p:grpSp>
      <p:sp>
        <p:nvSpPr>
          <p:cNvPr id="10" name="TextBox 10"/>
          <p:cNvSpPr txBox="1"/>
          <p:nvPr/>
        </p:nvSpPr>
        <p:spPr>
          <a:xfrm>
            <a:off x="581888" y="2892774"/>
            <a:ext cx="9702098" cy="1790700"/>
          </a:xfrm>
          <a:prstGeom prst="rect">
            <a:avLst/>
          </a:prstGeom>
        </p:spPr>
        <p:txBody>
          <a:bodyPr lIns="0" tIns="0" rIns="0" bIns="0" rtlCol="0" anchor="t">
            <a:spAutoFit/>
          </a:bodyPr>
          <a:lstStyle/>
          <a:p>
            <a:pPr algn="ctr">
              <a:lnSpc>
                <a:spcPts val="7025"/>
              </a:lnSpc>
            </a:pPr>
            <a:r>
              <a:rPr lang="en-US" sz="5855" b="1">
                <a:solidFill>
                  <a:srgbClr val="0B1320"/>
                </a:solidFill>
                <a:latin typeface="Josefin Sans Bold" panose="00000800000000000000"/>
                <a:ea typeface="Josefin Sans Bold" panose="00000800000000000000"/>
                <a:cs typeface="Josefin Sans Bold" panose="00000800000000000000"/>
                <a:sym typeface="Josefin Sans Bold" panose="00000800000000000000"/>
              </a:rPr>
              <a:t>Phân tích và Dự đoán thể loại nhạc </a:t>
            </a:r>
          </a:p>
        </p:txBody>
      </p:sp>
      <p:sp>
        <p:nvSpPr>
          <p:cNvPr id="11" name="TextBox 11"/>
          <p:cNvSpPr txBox="1"/>
          <p:nvPr/>
        </p:nvSpPr>
        <p:spPr>
          <a:xfrm>
            <a:off x="1028700" y="6234647"/>
            <a:ext cx="10043369" cy="1827085"/>
          </a:xfrm>
          <a:prstGeom prst="rect">
            <a:avLst/>
          </a:prstGeom>
        </p:spPr>
        <p:txBody>
          <a:bodyPr lIns="0" tIns="0" rIns="0" bIns="0" rtlCol="0" anchor="t">
            <a:spAutoFit/>
          </a:bodyPr>
          <a:lstStyle/>
          <a:p>
            <a:pPr algn="l">
              <a:lnSpc>
                <a:spcPts val="4820"/>
              </a:lnSpc>
            </a:pPr>
            <a:r>
              <a:rPr lang="en-US" sz="3440">
                <a:solidFill>
                  <a:srgbClr val="0B1320"/>
                </a:solidFill>
                <a:latin typeface="Josefin Sans" panose="00000500000000000000"/>
                <a:ea typeface="Josefin Sans" panose="00000500000000000000"/>
                <a:cs typeface="Josefin Sans" panose="00000500000000000000"/>
                <a:sym typeface="Josefin Sans" panose="00000500000000000000"/>
              </a:rPr>
              <a:t>Nguyễn Đăng Khoa, Lê Thị Trúc Ly, Lê Đoàn Kim Ngân, Lâm Tú Nhi</a:t>
            </a:r>
          </a:p>
          <a:p>
            <a:pPr algn="l">
              <a:lnSpc>
                <a:spcPts val="4820"/>
              </a:lnSpc>
            </a:pPr>
            <a:endParaRPr lang="en-US" sz="3440">
              <a:solidFill>
                <a:srgbClr val="0B1320"/>
              </a:solidFill>
              <a:latin typeface="Josefin Sans" panose="00000500000000000000"/>
              <a:ea typeface="Josefin Sans" panose="00000500000000000000"/>
              <a:cs typeface="Josefin Sans" panose="00000500000000000000"/>
              <a:sym typeface="Josefin Sans" panose="00000500000000000000"/>
            </a:endParaRPr>
          </a:p>
        </p:txBody>
      </p:sp>
      <p:sp>
        <p:nvSpPr>
          <p:cNvPr id="12" name="TextBox 1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B1320"/>
                </a:solidFill>
                <a:latin typeface="Noto Sans" panose="020B0502040504020204"/>
                <a:ea typeface="Noto Sans" panose="020B0502040504020204"/>
                <a:cs typeface="Noto Sans" panose="020B0502040504020204"/>
                <a:sym typeface="Noto Sans" panose="020B0502040504020204"/>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9525"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US"/>
            </a:p>
          </p:txBody>
        </p:sp>
      </p:grpSp>
      <p:grpSp>
        <p:nvGrpSpPr>
          <p:cNvPr id="6" name="Group 6"/>
          <p:cNvGrpSpPr/>
          <p:nvPr/>
        </p:nvGrpSpPr>
        <p:grpSpPr>
          <a:xfrm>
            <a:off x="8745424" y="0"/>
            <a:ext cx="13632171" cy="8958162"/>
            <a:chOff x="0" y="0"/>
            <a:chExt cx="18176229" cy="11944216"/>
          </a:xfrm>
        </p:grpSpPr>
        <p:sp>
          <p:nvSpPr>
            <p:cNvPr id="7" name="TextBox 7"/>
            <p:cNvSpPr txBox="1"/>
            <p:nvPr/>
          </p:nvSpPr>
          <p:spPr>
            <a:xfrm>
              <a:off x="1009605" y="-352425"/>
              <a:ext cx="17166623" cy="2118038"/>
            </a:xfrm>
            <a:prstGeom prst="rect">
              <a:avLst/>
            </a:prstGeom>
          </p:spPr>
          <p:txBody>
            <a:bodyPr lIns="0" tIns="0" rIns="0" bIns="0" rtlCol="0" anchor="t">
              <a:spAutoFit/>
            </a:bodyPr>
            <a:lstStyle/>
            <a:p>
              <a:pPr marL="0" lvl="0" indent="0" algn="l">
                <a:lnSpc>
                  <a:spcPts val="12200"/>
                </a:lnSpc>
              </a:pPr>
              <a:endParaRPr/>
            </a:p>
          </p:txBody>
        </p:sp>
        <p:sp>
          <p:nvSpPr>
            <p:cNvPr id="8" name="AutoShape 8"/>
            <p:cNvSpPr/>
            <p:nvPr/>
          </p:nvSpPr>
          <p:spPr>
            <a:xfrm>
              <a:off x="1009605" y="4311713"/>
              <a:ext cx="17166623" cy="0"/>
            </a:xfrm>
            <a:prstGeom prst="line">
              <a:avLst/>
            </a:prstGeom>
            <a:ln w="14768" cap="rnd">
              <a:solidFill>
                <a:srgbClr val="0B1320">
                  <a:alpha val="34902"/>
                </a:srgbClr>
              </a:solidFill>
              <a:prstDash val="solid"/>
              <a:headEnd type="none" w="sm" len="sm"/>
              <a:tailEnd type="none" w="sm" len="sm"/>
            </a:ln>
          </p:spPr>
          <p:txBody>
            <a:bodyPr/>
            <a:lstStyle/>
            <a:p>
              <a:endParaRPr lang="en-US"/>
            </a:p>
          </p:txBody>
        </p:sp>
        <p:sp>
          <p:nvSpPr>
            <p:cNvPr id="9" name="AutoShape 9"/>
            <p:cNvSpPr/>
            <p:nvPr/>
          </p:nvSpPr>
          <p:spPr>
            <a:xfrm>
              <a:off x="1009605" y="6217993"/>
              <a:ext cx="17166623" cy="0"/>
            </a:xfrm>
            <a:prstGeom prst="line">
              <a:avLst/>
            </a:prstGeom>
            <a:ln w="14768" cap="rnd">
              <a:solidFill>
                <a:srgbClr val="0B1320">
                  <a:alpha val="34902"/>
                </a:srgbClr>
              </a:solidFill>
              <a:prstDash val="solid"/>
              <a:headEnd type="none" w="sm" len="sm"/>
              <a:tailEnd type="none" w="sm" len="sm"/>
            </a:ln>
          </p:spPr>
          <p:txBody>
            <a:bodyPr/>
            <a:lstStyle/>
            <a:p>
              <a:endParaRPr lang="en-US"/>
            </a:p>
          </p:txBody>
        </p:sp>
        <p:sp>
          <p:nvSpPr>
            <p:cNvPr id="10" name="AutoShape 10"/>
            <p:cNvSpPr/>
            <p:nvPr/>
          </p:nvSpPr>
          <p:spPr>
            <a:xfrm>
              <a:off x="1009605" y="8124272"/>
              <a:ext cx="17166623" cy="0"/>
            </a:xfrm>
            <a:prstGeom prst="line">
              <a:avLst/>
            </a:prstGeom>
            <a:ln w="14768" cap="rnd">
              <a:solidFill>
                <a:srgbClr val="0B1320">
                  <a:alpha val="34902"/>
                </a:srgbClr>
              </a:solidFill>
              <a:prstDash val="solid"/>
              <a:headEnd type="none" w="sm" len="sm"/>
              <a:tailEnd type="none" w="sm" len="sm"/>
            </a:ln>
          </p:spPr>
          <p:txBody>
            <a:bodyPr/>
            <a:lstStyle/>
            <a:p>
              <a:endParaRPr lang="en-US"/>
            </a:p>
          </p:txBody>
        </p:sp>
        <p:sp>
          <p:nvSpPr>
            <p:cNvPr id="11" name="AutoShape 11"/>
            <p:cNvSpPr/>
            <p:nvPr/>
          </p:nvSpPr>
          <p:spPr>
            <a:xfrm>
              <a:off x="1009605" y="10030552"/>
              <a:ext cx="17166623" cy="0"/>
            </a:xfrm>
            <a:prstGeom prst="line">
              <a:avLst/>
            </a:prstGeom>
            <a:ln w="14768" cap="rnd">
              <a:solidFill>
                <a:srgbClr val="0B1320">
                  <a:alpha val="34902"/>
                </a:srgbClr>
              </a:solidFill>
              <a:prstDash val="solid"/>
              <a:headEnd type="none" w="sm" len="sm"/>
              <a:tailEnd type="none" w="sm" len="sm"/>
            </a:ln>
          </p:spPr>
          <p:txBody>
            <a:bodyPr/>
            <a:lstStyle/>
            <a:p>
              <a:endParaRPr lang="en-US"/>
            </a:p>
          </p:txBody>
        </p:sp>
        <p:sp>
          <p:nvSpPr>
            <p:cNvPr id="12" name="AutoShape 12"/>
            <p:cNvSpPr/>
            <p:nvPr/>
          </p:nvSpPr>
          <p:spPr>
            <a:xfrm>
              <a:off x="1009605" y="11936832"/>
              <a:ext cx="17166623" cy="0"/>
            </a:xfrm>
            <a:prstGeom prst="line">
              <a:avLst/>
            </a:prstGeom>
            <a:ln w="14768" cap="rnd">
              <a:solidFill>
                <a:srgbClr val="0B1320">
                  <a:alpha val="34902"/>
                </a:srgbClr>
              </a:solidFill>
              <a:prstDash val="solid"/>
              <a:headEnd type="none" w="sm" len="sm"/>
              <a:tailEnd type="none" w="sm" len="sm"/>
            </a:ln>
          </p:spPr>
          <p:txBody>
            <a:bodyPr/>
            <a:lstStyle/>
            <a:p>
              <a:endParaRPr lang="en-US"/>
            </a:p>
          </p:txBody>
        </p:sp>
        <p:sp>
          <p:nvSpPr>
            <p:cNvPr id="13" name="TextBox 13"/>
            <p:cNvSpPr txBox="1"/>
            <p:nvPr/>
          </p:nvSpPr>
          <p:spPr>
            <a:xfrm>
              <a:off x="1009605" y="2802002"/>
              <a:ext cx="17166623" cy="951216"/>
            </a:xfrm>
            <a:prstGeom prst="rect">
              <a:avLst/>
            </a:prstGeom>
          </p:spPr>
          <p:txBody>
            <a:bodyPr lIns="0" tIns="0" rIns="0" bIns="0" rtlCol="0" anchor="t">
              <a:spAutoFit/>
            </a:bodyPr>
            <a:lstStyle/>
            <a:p>
              <a:pPr marL="0" lvl="0" indent="0" algn="l">
                <a:lnSpc>
                  <a:spcPts val="6255"/>
                </a:lnSpc>
              </a:pPr>
              <a:r>
                <a:rPr lang="en-US" sz="3910" b="1">
                  <a:solidFill>
                    <a:srgbClr val="0B1320"/>
                  </a:solidFill>
                  <a:latin typeface="Josefin Sans Bold" panose="00000800000000000000"/>
                  <a:ea typeface="Josefin Sans Bold" panose="00000800000000000000"/>
                  <a:cs typeface="Josefin Sans Bold" panose="00000800000000000000"/>
                  <a:sym typeface="Josefin Sans Bold" panose="00000800000000000000"/>
                </a:rPr>
                <a:t>Giới thiệu</a:t>
              </a:r>
            </a:p>
          </p:txBody>
        </p:sp>
        <p:sp>
          <p:nvSpPr>
            <p:cNvPr id="14" name="TextBox 14"/>
            <p:cNvSpPr txBox="1"/>
            <p:nvPr/>
          </p:nvSpPr>
          <p:spPr>
            <a:xfrm>
              <a:off x="1009605" y="4708282"/>
              <a:ext cx="17166623" cy="951216"/>
            </a:xfrm>
            <a:prstGeom prst="rect">
              <a:avLst/>
            </a:prstGeom>
          </p:spPr>
          <p:txBody>
            <a:bodyPr lIns="0" tIns="0" rIns="0" bIns="0" rtlCol="0" anchor="t">
              <a:spAutoFit/>
            </a:bodyPr>
            <a:lstStyle/>
            <a:p>
              <a:pPr marL="0" lvl="0" indent="0" algn="l">
                <a:lnSpc>
                  <a:spcPts val="6255"/>
                </a:lnSpc>
              </a:pPr>
              <a:r>
                <a:rPr lang="en-US" sz="3910" b="1">
                  <a:solidFill>
                    <a:srgbClr val="0B1320"/>
                  </a:solidFill>
                  <a:latin typeface="Josefin Sans Bold" panose="00000800000000000000"/>
                  <a:ea typeface="Josefin Sans Bold" panose="00000800000000000000"/>
                  <a:cs typeface="Josefin Sans Bold" panose="00000800000000000000"/>
                  <a:sym typeface="Josefin Sans Bold" panose="00000800000000000000"/>
                </a:rPr>
                <a:t>Các công việc liên quan</a:t>
              </a:r>
            </a:p>
          </p:txBody>
        </p:sp>
        <p:sp>
          <p:nvSpPr>
            <p:cNvPr id="15" name="TextBox 15"/>
            <p:cNvSpPr txBox="1"/>
            <p:nvPr/>
          </p:nvSpPr>
          <p:spPr>
            <a:xfrm>
              <a:off x="1009605" y="6549510"/>
              <a:ext cx="17166623" cy="1014646"/>
            </a:xfrm>
            <a:prstGeom prst="rect">
              <a:avLst/>
            </a:prstGeom>
          </p:spPr>
          <p:txBody>
            <a:bodyPr lIns="0" tIns="0" rIns="0" bIns="0" rtlCol="0" anchor="t">
              <a:spAutoFit/>
            </a:bodyPr>
            <a:lstStyle/>
            <a:p>
              <a:pPr marL="0" lvl="0" indent="0" algn="l">
                <a:lnSpc>
                  <a:spcPts val="6255"/>
                </a:lnSpc>
              </a:pPr>
              <a:r>
                <a:rPr lang="en-US" sz="3910" b="1">
                  <a:solidFill>
                    <a:srgbClr val="0B1320"/>
                  </a:solidFill>
                  <a:latin typeface="Calibri (MS) Bold" panose="020F0702030404030204"/>
                  <a:ea typeface="Calibri (MS) Bold" panose="020F0702030404030204"/>
                  <a:cs typeface="Calibri (MS) Bold" panose="020F0702030404030204"/>
                  <a:sym typeface="Calibri (MS) Bold" panose="020F0702030404030204"/>
                </a:rPr>
                <a:t>Phương pháp đề xuất</a:t>
              </a:r>
            </a:p>
          </p:txBody>
        </p:sp>
        <p:sp>
          <p:nvSpPr>
            <p:cNvPr id="16" name="TextBox 16"/>
            <p:cNvSpPr txBox="1"/>
            <p:nvPr/>
          </p:nvSpPr>
          <p:spPr>
            <a:xfrm>
              <a:off x="1009605" y="8455789"/>
              <a:ext cx="17166623" cy="1014646"/>
            </a:xfrm>
            <a:prstGeom prst="rect">
              <a:avLst/>
            </a:prstGeom>
          </p:spPr>
          <p:txBody>
            <a:bodyPr lIns="0" tIns="0" rIns="0" bIns="0" rtlCol="0" anchor="t">
              <a:spAutoFit/>
            </a:bodyPr>
            <a:lstStyle/>
            <a:p>
              <a:pPr marL="0" lvl="0" indent="0" algn="l">
                <a:lnSpc>
                  <a:spcPts val="6255"/>
                </a:lnSpc>
              </a:pPr>
              <a:r>
                <a:rPr lang="en-US" sz="3910" b="1">
                  <a:solidFill>
                    <a:srgbClr val="0B1320"/>
                  </a:solidFill>
                  <a:latin typeface="Calibri (MS) Bold" panose="020F0702030404030204"/>
                  <a:ea typeface="Calibri (MS) Bold" panose="020F0702030404030204"/>
                  <a:cs typeface="Calibri (MS) Bold" panose="020F0702030404030204"/>
                  <a:sym typeface="Calibri (MS) Bold" panose="020F0702030404030204"/>
                </a:rPr>
                <a:t>Thực nghiệm và Thảo luận</a:t>
              </a:r>
            </a:p>
          </p:txBody>
        </p:sp>
        <p:sp>
          <p:nvSpPr>
            <p:cNvPr id="17" name="TextBox 17"/>
            <p:cNvSpPr txBox="1"/>
            <p:nvPr/>
          </p:nvSpPr>
          <p:spPr>
            <a:xfrm>
              <a:off x="1009605" y="10362069"/>
              <a:ext cx="17166623" cy="1014646"/>
            </a:xfrm>
            <a:prstGeom prst="rect">
              <a:avLst/>
            </a:prstGeom>
          </p:spPr>
          <p:txBody>
            <a:bodyPr lIns="0" tIns="0" rIns="0" bIns="0" rtlCol="0" anchor="t">
              <a:spAutoFit/>
            </a:bodyPr>
            <a:lstStyle/>
            <a:p>
              <a:pPr marL="0" lvl="0" indent="0" algn="l">
                <a:lnSpc>
                  <a:spcPts val="6255"/>
                </a:lnSpc>
              </a:pPr>
              <a:r>
                <a:rPr lang="en-US" sz="3910" b="1">
                  <a:solidFill>
                    <a:srgbClr val="0B1320"/>
                  </a:solidFill>
                  <a:latin typeface="Calibri (MS) Bold" panose="020F0702030404030204"/>
                  <a:ea typeface="Calibri (MS) Bold" panose="020F0702030404030204"/>
                  <a:cs typeface="Calibri (MS) Bold" panose="020F0702030404030204"/>
                  <a:sym typeface="Calibri (MS) Bold" panose="020F0702030404030204"/>
                </a:rPr>
                <a:t>Kết luận</a:t>
              </a:r>
            </a:p>
          </p:txBody>
        </p:sp>
        <p:sp>
          <p:nvSpPr>
            <p:cNvPr id="18" name="Freeform 18"/>
            <p:cNvSpPr/>
            <p:nvPr/>
          </p:nvSpPr>
          <p:spPr>
            <a:xfrm>
              <a:off x="0" y="2829785"/>
              <a:ext cx="599156" cy="1196787"/>
            </a:xfrm>
            <a:custGeom>
              <a:avLst/>
              <a:gdLst/>
              <a:ahLst/>
              <a:cxnLst/>
              <a:rect l="l" t="t" r="r" b="b"/>
              <a:pathLst>
                <a:path w="599156" h="1196787">
                  <a:moveTo>
                    <a:pt x="0" y="0"/>
                  </a:moveTo>
                  <a:lnTo>
                    <a:pt x="599156" y="0"/>
                  </a:lnTo>
                  <a:lnTo>
                    <a:pt x="599156" y="1196787"/>
                  </a:lnTo>
                  <a:lnTo>
                    <a:pt x="0" y="11967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9" name="Freeform 19"/>
            <p:cNvSpPr/>
            <p:nvPr/>
          </p:nvSpPr>
          <p:spPr>
            <a:xfrm>
              <a:off x="0" y="4668003"/>
              <a:ext cx="599156" cy="1196787"/>
            </a:xfrm>
            <a:custGeom>
              <a:avLst/>
              <a:gdLst/>
              <a:ahLst/>
              <a:cxnLst/>
              <a:rect l="l" t="t" r="r" b="b"/>
              <a:pathLst>
                <a:path w="599156" h="1196787">
                  <a:moveTo>
                    <a:pt x="0" y="0"/>
                  </a:moveTo>
                  <a:lnTo>
                    <a:pt x="599156" y="0"/>
                  </a:lnTo>
                  <a:lnTo>
                    <a:pt x="599156" y="1196787"/>
                  </a:lnTo>
                  <a:lnTo>
                    <a:pt x="0" y="11967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0" name="Freeform 20"/>
            <p:cNvSpPr/>
            <p:nvPr/>
          </p:nvSpPr>
          <p:spPr>
            <a:xfrm>
              <a:off x="0" y="6506221"/>
              <a:ext cx="599156" cy="1196787"/>
            </a:xfrm>
            <a:custGeom>
              <a:avLst/>
              <a:gdLst/>
              <a:ahLst/>
              <a:cxnLst/>
              <a:rect l="l" t="t" r="r" b="b"/>
              <a:pathLst>
                <a:path w="599156" h="1196787">
                  <a:moveTo>
                    <a:pt x="0" y="0"/>
                  </a:moveTo>
                  <a:lnTo>
                    <a:pt x="599156" y="0"/>
                  </a:lnTo>
                  <a:lnTo>
                    <a:pt x="599156" y="1196787"/>
                  </a:lnTo>
                  <a:lnTo>
                    <a:pt x="0" y="11967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Freeform 21"/>
            <p:cNvSpPr/>
            <p:nvPr/>
          </p:nvSpPr>
          <p:spPr>
            <a:xfrm>
              <a:off x="0" y="8494482"/>
              <a:ext cx="599156" cy="1196787"/>
            </a:xfrm>
            <a:custGeom>
              <a:avLst/>
              <a:gdLst/>
              <a:ahLst/>
              <a:cxnLst/>
              <a:rect l="l" t="t" r="r" b="b"/>
              <a:pathLst>
                <a:path w="599156" h="1196787">
                  <a:moveTo>
                    <a:pt x="0" y="0"/>
                  </a:moveTo>
                  <a:lnTo>
                    <a:pt x="599156" y="0"/>
                  </a:lnTo>
                  <a:lnTo>
                    <a:pt x="599156" y="1196787"/>
                  </a:lnTo>
                  <a:lnTo>
                    <a:pt x="0" y="11967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2" name="Freeform 22"/>
            <p:cNvSpPr/>
            <p:nvPr/>
          </p:nvSpPr>
          <p:spPr>
            <a:xfrm>
              <a:off x="0" y="10332772"/>
              <a:ext cx="599156" cy="1196787"/>
            </a:xfrm>
            <a:custGeom>
              <a:avLst/>
              <a:gdLst/>
              <a:ahLst/>
              <a:cxnLst/>
              <a:rect l="l" t="t" r="r" b="b"/>
              <a:pathLst>
                <a:path w="599156" h="1196787">
                  <a:moveTo>
                    <a:pt x="0" y="0"/>
                  </a:moveTo>
                  <a:lnTo>
                    <a:pt x="599156" y="0"/>
                  </a:lnTo>
                  <a:lnTo>
                    <a:pt x="599156" y="1196787"/>
                  </a:lnTo>
                  <a:lnTo>
                    <a:pt x="0" y="11967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23" name="TextBox 23"/>
          <p:cNvSpPr txBox="1"/>
          <p:nvPr/>
        </p:nvSpPr>
        <p:spPr>
          <a:xfrm>
            <a:off x="608431" y="4191000"/>
            <a:ext cx="7643570" cy="952500"/>
          </a:xfrm>
          <a:prstGeom prst="rect">
            <a:avLst/>
          </a:prstGeom>
        </p:spPr>
        <p:txBody>
          <a:bodyPr lIns="0" tIns="0" rIns="0" bIns="0" rtlCol="0" anchor="t">
            <a:spAutoFit/>
          </a:bodyPr>
          <a:lstStyle/>
          <a:p>
            <a:pPr algn="l">
              <a:lnSpc>
                <a:spcPts val="7440"/>
              </a:lnSpc>
            </a:pPr>
            <a:r>
              <a:rPr lang="en-US" sz="6200" b="1">
                <a:solidFill>
                  <a:srgbClr val="1C3F60"/>
                </a:solidFill>
                <a:latin typeface="Josefin Sans Bold" panose="00000800000000000000"/>
                <a:ea typeface="Josefin Sans Bold" panose="00000800000000000000"/>
                <a:cs typeface="Josefin Sans Bold" panose="00000800000000000000"/>
                <a:sym typeface="Josefin Sans Bold" panose="00000800000000000000"/>
              </a:rPr>
              <a:t>Nội dung trình bày</a:t>
            </a:r>
          </a:p>
        </p:txBody>
      </p:sp>
      <p:grpSp>
        <p:nvGrpSpPr>
          <p:cNvPr id="24" name="Group 24"/>
          <p:cNvGrpSpPr/>
          <p:nvPr/>
        </p:nvGrpSpPr>
        <p:grpSpPr>
          <a:xfrm>
            <a:off x="611" y="72800"/>
            <a:ext cx="1162554" cy="1202126"/>
            <a:chOff x="0" y="0"/>
            <a:chExt cx="1373917" cy="1420685"/>
          </a:xfrm>
        </p:grpSpPr>
        <p:sp>
          <p:nvSpPr>
            <p:cNvPr id="25" name="Freeform 25"/>
            <p:cNvSpPr/>
            <p:nvPr/>
          </p:nvSpPr>
          <p:spPr>
            <a:xfrm>
              <a:off x="0" y="0"/>
              <a:ext cx="1373917" cy="1420685"/>
            </a:xfrm>
            <a:custGeom>
              <a:avLst/>
              <a:gdLst/>
              <a:ahLst/>
              <a:cxnLst/>
              <a:rect l="l" t="t" r="r" b="b"/>
              <a:pathLst>
                <a:path w="1373917" h="1420685">
                  <a:moveTo>
                    <a:pt x="0" y="0"/>
                  </a:moveTo>
                  <a:lnTo>
                    <a:pt x="1373917" y="0"/>
                  </a:lnTo>
                  <a:lnTo>
                    <a:pt x="1373917" y="1420685"/>
                  </a:lnTo>
                  <a:lnTo>
                    <a:pt x="0" y="1420685"/>
                  </a:lnTo>
                  <a:close/>
                </a:path>
              </a:pathLst>
            </a:custGeom>
            <a:blipFill>
              <a:blip r:embed="rId6"/>
              <a:stretch>
                <a:fillRect l="-1942" r="-1942"/>
              </a:stretch>
            </a:blipFill>
          </p:spPr>
          <p:txBody>
            <a:bodyPr/>
            <a:lstStyle/>
            <a:p>
              <a:endParaRPr lang="en-US"/>
            </a:p>
          </p:txBody>
        </p:sp>
      </p:grpSp>
      <p:sp>
        <p:nvSpPr>
          <p:cNvPr id="26" name="TextBox 2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952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grpSp>
        <p:nvGrpSpPr>
          <p:cNvPr id="5" name="Group 5"/>
          <p:cNvGrpSpPr/>
          <p:nvPr/>
        </p:nvGrpSpPr>
        <p:grpSpPr>
          <a:xfrm>
            <a:off x="11243945" y="266700"/>
            <a:ext cx="6939915" cy="2270760"/>
            <a:chOff x="0" y="0"/>
            <a:chExt cx="3896488" cy="1420685"/>
          </a:xfrm>
        </p:grpSpPr>
        <p:sp>
          <p:nvSpPr>
            <p:cNvPr id="6" name="Freeform 6"/>
            <p:cNvSpPr/>
            <p:nvPr/>
          </p:nvSpPr>
          <p:spPr>
            <a:xfrm>
              <a:off x="0" y="0"/>
              <a:ext cx="3896488" cy="1420685"/>
            </a:xfrm>
            <a:custGeom>
              <a:avLst/>
              <a:gdLst/>
              <a:ahLst/>
              <a:cxnLst/>
              <a:rect l="l" t="t" r="r" b="b"/>
              <a:pathLst>
                <a:path w="3896488" h="1420685">
                  <a:moveTo>
                    <a:pt x="0" y="0"/>
                  </a:moveTo>
                  <a:lnTo>
                    <a:pt x="3896488" y="0"/>
                  </a:lnTo>
                  <a:lnTo>
                    <a:pt x="3896488" y="1420685"/>
                  </a:lnTo>
                  <a:lnTo>
                    <a:pt x="0" y="1420685"/>
                  </a:lnTo>
                  <a:close/>
                </a:path>
              </a:pathLst>
            </a:custGeom>
            <a:blipFill>
              <a:blip r:embed="rId3"/>
              <a:stretch>
                <a:fillRect t="-24738" b="-24738"/>
              </a:stretch>
            </a:blipFill>
          </p:spPr>
          <p:txBody>
            <a:bodyPr/>
            <a:lstStyle/>
            <a:p>
              <a:endParaRPr lang="en-US"/>
            </a:p>
          </p:txBody>
        </p:sp>
      </p:grpSp>
      <p:grpSp>
        <p:nvGrpSpPr>
          <p:cNvPr id="7" name="Group 7"/>
          <p:cNvGrpSpPr/>
          <p:nvPr/>
        </p:nvGrpSpPr>
        <p:grpSpPr>
          <a:xfrm>
            <a:off x="1547495" y="7230110"/>
            <a:ext cx="14241780" cy="2473325"/>
            <a:chOff x="0" y="0"/>
            <a:chExt cx="6231436" cy="1077729"/>
          </a:xfrm>
        </p:grpSpPr>
        <p:sp>
          <p:nvSpPr>
            <p:cNvPr id="8" name="Freeform 8"/>
            <p:cNvSpPr/>
            <p:nvPr/>
          </p:nvSpPr>
          <p:spPr>
            <a:xfrm>
              <a:off x="0" y="0"/>
              <a:ext cx="6231436" cy="1077729"/>
            </a:xfrm>
            <a:custGeom>
              <a:avLst/>
              <a:gdLst/>
              <a:ahLst/>
              <a:cxnLst/>
              <a:rect l="l" t="t" r="r" b="b"/>
              <a:pathLst>
                <a:path w="6231436" h="1077729">
                  <a:moveTo>
                    <a:pt x="0" y="0"/>
                  </a:moveTo>
                  <a:lnTo>
                    <a:pt x="6231436" y="0"/>
                  </a:lnTo>
                  <a:lnTo>
                    <a:pt x="6231436" y="1077729"/>
                  </a:lnTo>
                  <a:lnTo>
                    <a:pt x="0" y="1077729"/>
                  </a:lnTo>
                  <a:close/>
                </a:path>
              </a:pathLst>
            </a:custGeom>
            <a:blipFill>
              <a:blip r:embed="rId4"/>
              <a:stretch>
                <a:fillRect t="-10711" b="-10711"/>
              </a:stretch>
            </a:blipFill>
          </p:spPr>
          <p:txBody>
            <a:bodyPr/>
            <a:lstStyle/>
            <a:p>
              <a:endParaRPr lang="en-US"/>
            </a:p>
          </p:txBody>
        </p:sp>
      </p:grpSp>
      <p:sp>
        <p:nvSpPr>
          <p:cNvPr id="9" name="TextBox 9"/>
          <p:cNvSpPr txBox="1"/>
          <p:nvPr/>
        </p:nvSpPr>
        <p:spPr>
          <a:xfrm>
            <a:off x="1242897" y="2048151"/>
            <a:ext cx="4395903" cy="551433"/>
          </a:xfrm>
          <a:prstGeom prst="rect">
            <a:avLst/>
          </a:prstGeom>
        </p:spPr>
        <p:txBody>
          <a:bodyPr wrap="square" lIns="0" tIns="0" rIns="0" bIns="0" rtlCol="0" anchor="t">
            <a:spAutoFit/>
          </a:bodyPr>
          <a:lstStyle/>
          <a:p>
            <a:pPr algn="ctr">
              <a:lnSpc>
                <a:spcPts val="4320"/>
              </a:lnSpc>
              <a:spcBef>
                <a:spcPct val="0"/>
              </a:spcBef>
            </a:pP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Vấn</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đề</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cần</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giải</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quyết</a:t>
            </a:r>
            <a:endPar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endParaRPr>
          </a:p>
        </p:txBody>
      </p:sp>
      <p:sp>
        <p:nvSpPr>
          <p:cNvPr id="10" name="TextBox 10"/>
          <p:cNvSpPr txBox="1"/>
          <p:nvPr/>
        </p:nvSpPr>
        <p:spPr>
          <a:xfrm>
            <a:off x="762067" y="4991394"/>
            <a:ext cx="13754083" cy="2562225"/>
          </a:xfrm>
          <a:prstGeom prst="rect">
            <a:avLst/>
          </a:prstGeom>
        </p:spPr>
        <p:txBody>
          <a:bodyPr lIns="0" tIns="0" rIns="0" bIns="0" rtlCol="0" anchor="t">
            <a:spAutoFit/>
          </a:bodyPr>
          <a:lstStyle/>
          <a:p>
            <a:pPr algn="l">
              <a:lnSpc>
                <a:spcPts val="5100"/>
              </a:lnSpc>
            </a:pPr>
            <a:r>
              <a:rPr lang="en-US" sz="3000" b="1">
                <a:solidFill>
                  <a:srgbClr val="0B1320"/>
                </a:solidFill>
                <a:latin typeface="Public Sans Bold"/>
                <a:ea typeface="Public Sans Bold"/>
                <a:cs typeface="Public Sans Bold"/>
                <a:sym typeface="Public Sans Bold"/>
              </a:rPr>
              <a:t> </a:t>
            </a:r>
          </a:p>
          <a:p>
            <a:pPr marL="647700" lvl="1" indent="-323850" algn="l">
              <a:lnSpc>
                <a:spcPts val="5100"/>
              </a:lnSpc>
              <a:buFont typeface="Arial" panose="020B0604020202020204"/>
              <a:buChar char="•"/>
            </a:pPr>
            <a:r>
              <a:rPr lang="en-US" sz="3000" b="1">
                <a:solidFill>
                  <a:srgbClr val="0B1320"/>
                </a:solidFill>
                <a:latin typeface="Public Sans Bold"/>
                <a:ea typeface="Public Sans Bold"/>
                <a:cs typeface="Public Sans Bold"/>
                <a:sym typeface="Public Sans Bold"/>
              </a:rPr>
              <a:t>Input: </a:t>
            </a:r>
            <a:r>
              <a:rPr lang="en-US" sz="3000">
                <a:solidFill>
                  <a:srgbClr val="0B1320"/>
                </a:solidFill>
                <a:latin typeface="Public Sans"/>
                <a:ea typeface="Public Sans"/>
                <a:cs typeface="Public Sans"/>
                <a:sym typeface="Public Sans"/>
              </a:rPr>
              <a:t>Tập dữ liệu gồm 18 cột, 17 biến đặc trưng mô tả bản nhạc</a:t>
            </a:r>
          </a:p>
          <a:p>
            <a:pPr marL="647700" lvl="1" indent="-323850" algn="l">
              <a:lnSpc>
                <a:spcPts val="5100"/>
              </a:lnSpc>
              <a:buFont typeface="Arial" panose="020B0604020202020204"/>
              <a:buChar char="•"/>
            </a:pPr>
            <a:r>
              <a:rPr lang="en-US" sz="3000" b="1">
                <a:solidFill>
                  <a:srgbClr val="0B1320"/>
                </a:solidFill>
                <a:latin typeface="Public Sans Bold"/>
                <a:ea typeface="Public Sans Bold"/>
                <a:cs typeface="Public Sans Bold"/>
                <a:sym typeface="Public Sans Bold"/>
              </a:rPr>
              <a:t>Output: </a:t>
            </a:r>
            <a:r>
              <a:rPr lang="en-US" sz="3000">
                <a:solidFill>
                  <a:srgbClr val="0B1320"/>
                </a:solidFill>
                <a:latin typeface="Public Sans"/>
                <a:ea typeface="Public Sans"/>
                <a:cs typeface="Public Sans"/>
                <a:sym typeface="Public Sans"/>
              </a:rPr>
              <a:t>Thể loại của bản nhạc</a:t>
            </a:r>
          </a:p>
          <a:p>
            <a:pPr marL="0" lvl="0" indent="0" algn="l">
              <a:lnSpc>
                <a:spcPts val="5100"/>
              </a:lnSpc>
            </a:pPr>
            <a:endParaRPr lang="en-US" sz="3000">
              <a:solidFill>
                <a:srgbClr val="0B1320"/>
              </a:solidFill>
              <a:latin typeface="Public Sans"/>
              <a:ea typeface="Public Sans"/>
              <a:cs typeface="Public Sans"/>
              <a:sym typeface="Public Sans"/>
            </a:endParaRPr>
          </a:p>
        </p:txBody>
      </p:sp>
      <p:sp>
        <p:nvSpPr>
          <p:cNvPr id="11" name="TextBox 11"/>
          <p:cNvSpPr txBox="1"/>
          <p:nvPr/>
        </p:nvSpPr>
        <p:spPr>
          <a:xfrm>
            <a:off x="1028700" y="914400"/>
            <a:ext cx="6453673" cy="933396"/>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1. Giới thiệu</a:t>
            </a:r>
          </a:p>
        </p:txBody>
      </p:sp>
      <p:sp>
        <p:nvSpPr>
          <p:cNvPr id="12" name="TextBox 1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3</a:t>
            </a:r>
          </a:p>
        </p:txBody>
      </p:sp>
      <p:sp>
        <p:nvSpPr>
          <p:cNvPr id="13" name="TextBox 13"/>
          <p:cNvSpPr txBox="1"/>
          <p:nvPr/>
        </p:nvSpPr>
        <p:spPr>
          <a:xfrm>
            <a:off x="719758" y="2048151"/>
            <a:ext cx="9834283" cy="3912078"/>
          </a:xfrm>
          <a:prstGeom prst="rect">
            <a:avLst/>
          </a:prstGeom>
        </p:spPr>
        <p:txBody>
          <a:bodyPr wrap="square" lIns="0" tIns="0" rIns="0" bIns="0" rtlCol="0" anchor="t">
            <a:spAutoFit/>
          </a:bodyPr>
          <a:lstStyle/>
          <a:p>
            <a:pPr algn="l">
              <a:lnSpc>
                <a:spcPts val="5170"/>
              </a:lnSpc>
            </a:pPr>
            <a:endParaRPr dirty="0"/>
          </a:p>
          <a:p>
            <a:pPr marL="678815" lvl="1" indent="-339090" algn="l">
              <a:lnSpc>
                <a:spcPts val="5345"/>
              </a:lnSpc>
              <a:buFont typeface="Arial" panose="020B0604020202020204"/>
              <a:buChar char="•"/>
            </a:pPr>
            <a:r>
              <a:rPr lang="en-US" sz="3145" dirty="0" err="1">
                <a:solidFill>
                  <a:srgbClr val="0B1320"/>
                </a:solidFill>
                <a:latin typeface="Public Sans"/>
                <a:ea typeface="Public Sans"/>
                <a:cs typeface="Public Sans"/>
                <a:sym typeface="Public Sans"/>
              </a:rPr>
              <a:t>Phân</a:t>
            </a:r>
            <a:r>
              <a:rPr lang="en-US" sz="3145" dirty="0">
                <a:solidFill>
                  <a:srgbClr val="0B1320"/>
                </a:solidFill>
                <a:latin typeface="Public Sans"/>
                <a:ea typeface="Public Sans"/>
                <a:cs typeface="Public Sans"/>
                <a:sym typeface="Public Sans"/>
              </a:rPr>
              <a:t> </a:t>
            </a:r>
            <a:r>
              <a:rPr lang="en-US" sz="3145" dirty="0" err="1">
                <a:solidFill>
                  <a:srgbClr val="0B1320"/>
                </a:solidFill>
                <a:latin typeface="Public Sans"/>
                <a:ea typeface="Public Sans"/>
                <a:cs typeface="Public Sans"/>
                <a:sym typeface="Public Sans"/>
              </a:rPr>
              <a:t>loại</a:t>
            </a:r>
            <a:r>
              <a:rPr lang="en-US" sz="3145" dirty="0">
                <a:solidFill>
                  <a:srgbClr val="0B1320"/>
                </a:solidFill>
                <a:latin typeface="Public Sans"/>
                <a:ea typeface="Public Sans"/>
                <a:cs typeface="Public Sans"/>
                <a:sym typeface="Public Sans"/>
              </a:rPr>
              <a:t> </a:t>
            </a:r>
            <a:r>
              <a:rPr lang="en-US" sz="3145" dirty="0" err="1">
                <a:solidFill>
                  <a:srgbClr val="0B1320"/>
                </a:solidFill>
                <a:latin typeface="Public Sans"/>
                <a:ea typeface="Public Sans"/>
                <a:cs typeface="Public Sans"/>
                <a:sym typeface="Public Sans"/>
              </a:rPr>
              <a:t>bản</a:t>
            </a:r>
            <a:r>
              <a:rPr lang="en-US" sz="3145" dirty="0">
                <a:solidFill>
                  <a:srgbClr val="0B1320"/>
                </a:solidFill>
                <a:latin typeface="Public Sans"/>
                <a:ea typeface="Public Sans"/>
                <a:cs typeface="Public Sans"/>
                <a:sym typeface="Public Sans"/>
              </a:rPr>
              <a:t> </a:t>
            </a:r>
            <a:r>
              <a:rPr lang="en-US" sz="3145" dirty="0" err="1">
                <a:solidFill>
                  <a:srgbClr val="0B1320"/>
                </a:solidFill>
                <a:latin typeface="Public Sans"/>
                <a:ea typeface="Public Sans"/>
                <a:cs typeface="Public Sans"/>
                <a:sym typeface="Public Sans"/>
              </a:rPr>
              <a:t>nhạc</a:t>
            </a:r>
            <a:r>
              <a:rPr lang="en-US" sz="3145" dirty="0">
                <a:solidFill>
                  <a:srgbClr val="0B1320"/>
                </a:solidFill>
                <a:latin typeface="Public Sans"/>
                <a:ea typeface="Public Sans"/>
                <a:cs typeface="Public Sans"/>
                <a:sym typeface="Public Sans"/>
              </a:rPr>
              <a:t> </a:t>
            </a:r>
            <a:r>
              <a:rPr lang="en-US" sz="3145" dirty="0" err="1">
                <a:solidFill>
                  <a:srgbClr val="0B1320"/>
                </a:solidFill>
                <a:latin typeface="Public Sans"/>
                <a:ea typeface="Public Sans"/>
                <a:cs typeface="Public Sans"/>
                <a:sym typeface="Public Sans"/>
              </a:rPr>
              <a:t>vào</a:t>
            </a:r>
            <a:r>
              <a:rPr lang="en-US" sz="3145" dirty="0">
                <a:solidFill>
                  <a:srgbClr val="0B1320"/>
                </a:solidFill>
                <a:latin typeface="Public Sans"/>
                <a:ea typeface="Public Sans"/>
                <a:cs typeface="Public Sans"/>
                <a:sym typeface="Public Sans"/>
              </a:rPr>
              <a:t> </a:t>
            </a:r>
            <a:r>
              <a:rPr lang="en-US" sz="3145" dirty="0" err="1">
                <a:solidFill>
                  <a:srgbClr val="0B1320"/>
                </a:solidFill>
                <a:latin typeface="Public Sans"/>
                <a:ea typeface="Public Sans"/>
                <a:cs typeface="Public Sans"/>
                <a:sym typeface="Public Sans"/>
              </a:rPr>
              <a:t>đúng</a:t>
            </a:r>
            <a:r>
              <a:rPr lang="en-US" sz="3145" dirty="0">
                <a:solidFill>
                  <a:srgbClr val="0B1320"/>
                </a:solidFill>
                <a:latin typeface="Public Sans"/>
                <a:ea typeface="Public Sans"/>
                <a:cs typeface="Public Sans"/>
                <a:sym typeface="Public Sans"/>
              </a:rPr>
              <a:t> </a:t>
            </a:r>
            <a:r>
              <a:rPr lang="en-US" sz="3145" dirty="0" err="1">
                <a:solidFill>
                  <a:srgbClr val="0B1320"/>
                </a:solidFill>
                <a:latin typeface="Public Sans"/>
                <a:ea typeface="Public Sans"/>
                <a:cs typeface="Public Sans"/>
                <a:sym typeface="Public Sans"/>
              </a:rPr>
              <a:t>thể</a:t>
            </a:r>
            <a:r>
              <a:rPr lang="en-US" sz="3145" dirty="0">
                <a:solidFill>
                  <a:srgbClr val="0B1320"/>
                </a:solidFill>
                <a:latin typeface="Public Sans"/>
                <a:ea typeface="Public Sans"/>
                <a:cs typeface="Public Sans"/>
                <a:sym typeface="Public Sans"/>
              </a:rPr>
              <a:t> </a:t>
            </a:r>
            <a:r>
              <a:rPr lang="en-US" sz="3145" dirty="0" err="1">
                <a:solidFill>
                  <a:srgbClr val="0B1320"/>
                </a:solidFill>
                <a:latin typeface="Public Sans"/>
                <a:ea typeface="Public Sans"/>
                <a:cs typeface="Public Sans"/>
                <a:sym typeface="Public Sans"/>
              </a:rPr>
              <a:t>loại</a:t>
            </a:r>
            <a:r>
              <a:rPr lang="en-US" sz="3145" dirty="0">
                <a:solidFill>
                  <a:srgbClr val="0B1320"/>
                </a:solidFill>
                <a:latin typeface="Public Sans"/>
                <a:ea typeface="Public Sans"/>
                <a:cs typeface="Public Sans"/>
                <a:sym typeface="Public Sans"/>
              </a:rPr>
              <a:t> </a:t>
            </a:r>
            <a:r>
              <a:rPr lang="en-US" sz="3145" dirty="0" err="1">
                <a:solidFill>
                  <a:srgbClr val="0B1320"/>
                </a:solidFill>
                <a:latin typeface="Public Sans"/>
                <a:ea typeface="Public Sans"/>
                <a:cs typeface="Public Sans"/>
                <a:sym typeface="Public Sans"/>
              </a:rPr>
              <a:t>như</a:t>
            </a:r>
            <a:r>
              <a:rPr lang="en-US" sz="3145" dirty="0">
                <a:solidFill>
                  <a:srgbClr val="0B1320"/>
                </a:solidFill>
                <a:latin typeface="Public Sans"/>
                <a:ea typeface="Public Sans"/>
                <a:cs typeface="Public Sans"/>
                <a:sym typeface="Public Sans"/>
              </a:rPr>
              <a:t> Pop, Rock, Jazz, Classical, Hip-Hop…</a:t>
            </a:r>
          </a:p>
          <a:p>
            <a:pPr marL="656590" lvl="1" indent="-328295" algn="l">
              <a:lnSpc>
                <a:spcPts val="5170"/>
              </a:lnSpc>
              <a:buFont typeface="Arial" panose="020B0604020202020204"/>
              <a:buChar char="•"/>
            </a:pPr>
            <a:r>
              <a:rPr lang="en-US" sz="3040" dirty="0" err="1">
                <a:solidFill>
                  <a:srgbClr val="0B1320"/>
                </a:solidFill>
                <a:latin typeface="Public Sans"/>
                <a:ea typeface="Public Sans"/>
                <a:cs typeface="Public Sans"/>
                <a:sym typeface="Public Sans"/>
              </a:rPr>
              <a:t>Dựa</a:t>
            </a:r>
            <a:r>
              <a:rPr lang="en-US" sz="3040" dirty="0">
                <a:solidFill>
                  <a:srgbClr val="0B1320"/>
                </a:solidFill>
                <a:latin typeface="Public Sans"/>
                <a:ea typeface="Public Sans"/>
                <a:cs typeface="Public Sans"/>
                <a:sym typeface="Public Sans"/>
              </a:rPr>
              <a:t> </a:t>
            </a:r>
            <a:r>
              <a:rPr lang="en-US" sz="3040" dirty="0" err="1">
                <a:solidFill>
                  <a:srgbClr val="0B1320"/>
                </a:solidFill>
                <a:latin typeface="Public Sans"/>
                <a:ea typeface="Public Sans"/>
                <a:cs typeface="Public Sans"/>
                <a:sym typeface="Public Sans"/>
              </a:rPr>
              <a:t>trên</a:t>
            </a:r>
            <a:r>
              <a:rPr lang="en-US" sz="3040" dirty="0">
                <a:solidFill>
                  <a:srgbClr val="0B1320"/>
                </a:solidFill>
                <a:latin typeface="Public Sans"/>
                <a:ea typeface="Public Sans"/>
                <a:cs typeface="Public Sans"/>
                <a:sym typeface="Public Sans"/>
              </a:rPr>
              <a:t> </a:t>
            </a:r>
            <a:r>
              <a:rPr lang="en-US" sz="3040" dirty="0" err="1">
                <a:solidFill>
                  <a:srgbClr val="0B1320"/>
                </a:solidFill>
                <a:latin typeface="Public Sans"/>
                <a:ea typeface="Public Sans"/>
                <a:cs typeface="Public Sans"/>
                <a:sym typeface="Public Sans"/>
              </a:rPr>
              <a:t>các</a:t>
            </a:r>
            <a:r>
              <a:rPr lang="en-US" sz="3040" dirty="0">
                <a:solidFill>
                  <a:srgbClr val="0B1320"/>
                </a:solidFill>
                <a:latin typeface="Public Sans"/>
                <a:ea typeface="Public Sans"/>
                <a:cs typeface="Public Sans"/>
                <a:sym typeface="Public Sans"/>
              </a:rPr>
              <a:t> </a:t>
            </a:r>
            <a:r>
              <a:rPr lang="en-US" sz="3040" dirty="0" err="1">
                <a:solidFill>
                  <a:srgbClr val="0B1320"/>
                </a:solidFill>
                <a:latin typeface="Public Sans"/>
                <a:ea typeface="Public Sans"/>
                <a:cs typeface="Public Sans"/>
                <a:sym typeface="Public Sans"/>
              </a:rPr>
              <a:t>đặc</a:t>
            </a:r>
            <a:r>
              <a:rPr lang="en-US" sz="3040" dirty="0">
                <a:solidFill>
                  <a:srgbClr val="0B1320"/>
                </a:solidFill>
                <a:latin typeface="Public Sans"/>
                <a:ea typeface="Public Sans"/>
                <a:cs typeface="Public Sans"/>
                <a:sym typeface="Public Sans"/>
              </a:rPr>
              <a:t> </a:t>
            </a:r>
            <a:r>
              <a:rPr lang="en-US" sz="3040" dirty="0" err="1">
                <a:solidFill>
                  <a:srgbClr val="0B1320"/>
                </a:solidFill>
                <a:latin typeface="Public Sans"/>
                <a:ea typeface="Public Sans"/>
                <a:cs typeface="Public Sans"/>
                <a:sym typeface="Public Sans"/>
              </a:rPr>
              <a:t>trưng</a:t>
            </a:r>
            <a:r>
              <a:rPr lang="en-US" sz="3040" dirty="0">
                <a:solidFill>
                  <a:srgbClr val="0B1320"/>
                </a:solidFill>
                <a:latin typeface="Public Sans"/>
                <a:ea typeface="Public Sans"/>
                <a:cs typeface="Public Sans"/>
                <a:sym typeface="Public Sans"/>
              </a:rPr>
              <a:t> </a:t>
            </a:r>
            <a:r>
              <a:rPr lang="en-US" sz="3040" dirty="0" err="1">
                <a:solidFill>
                  <a:srgbClr val="0B1320"/>
                </a:solidFill>
                <a:latin typeface="Public Sans"/>
                <a:ea typeface="Public Sans"/>
                <a:cs typeface="Public Sans"/>
                <a:sym typeface="Public Sans"/>
              </a:rPr>
              <a:t>âm</a:t>
            </a:r>
            <a:r>
              <a:rPr lang="en-US" sz="3040" dirty="0">
                <a:solidFill>
                  <a:srgbClr val="0B1320"/>
                </a:solidFill>
                <a:latin typeface="Public Sans"/>
                <a:ea typeface="Public Sans"/>
                <a:cs typeface="Public Sans"/>
                <a:sym typeface="Public Sans"/>
              </a:rPr>
              <a:t> </a:t>
            </a:r>
            <a:r>
              <a:rPr lang="en-US" sz="3040" dirty="0" err="1">
                <a:solidFill>
                  <a:srgbClr val="0B1320"/>
                </a:solidFill>
                <a:latin typeface="Public Sans"/>
                <a:ea typeface="Public Sans"/>
                <a:cs typeface="Public Sans"/>
                <a:sym typeface="Public Sans"/>
              </a:rPr>
              <a:t>thanh</a:t>
            </a:r>
            <a:r>
              <a:rPr lang="en-US" sz="3040" dirty="0">
                <a:solidFill>
                  <a:srgbClr val="0B1320"/>
                </a:solidFill>
                <a:latin typeface="Public Sans"/>
                <a:ea typeface="Public Sans"/>
                <a:cs typeface="Public Sans"/>
                <a:sym typeface="Public Sans"/>
              </a:rPr>
              <a:t>.</a:t>
            </a:r>
          </a:p>
          <a:p>
            <a:pPr marL="656590" lvl="1" indent="-328295" algn="l">
              <a:lnSpc>
                <a:spcPts val="5170"/>
              </a:lnSpc>
              <a:buFont typeface="Arial" panose="020B0604020202020204"/>
              <a:buChar char="•"/>
            </a:pPr>
            <a:r>
              <a:rPr lang="en-US" sz="3040" dirty="0" err="1">
                <a:solidFill>
                  <a:srgbClr val="0B1320"/>
                </a:solidFill>
                <a:latin typeface="Public Sans"/>
                <a:ea typeface="Public Sans"/>
                <a:cs typeface="Public Sans"/>
                <a:sym typeface="Public Sans"/>
              </a:rPr>
              <a:t>Đây</a:t>
            </a:r>
            <a:r>
              <a:rPr lang="en-US" sz="3040" dirty="0">
                <a:solidFill>
                  <a:srgbClr val="0B1320"/>
                </a:solidFill>
                <a:latin typeface="Public Sans"/>
                <a:ea typeface="Public Sans"/>
                <a:cs typeface="Public Sans"/>
                <a:sym typeface="Public Sans"/>
              </a:rPr>
              <a:t> </a:t>
            </a:r>
            <a:r>
              <a:rPr lang="en-US" sz="3040" dirty="0" err="1">
                <a:solidFill>
                  <a:srgbClr val="0B1320"/>
                </a:solidFill>
                <a:latin typeface="Public Sans"/>
                <a:ea typeface="Public Sans"/>
                <a:cs typeface="Public Sans"/>
                <a:sym typeface="Public Sans"/>
              </a:rPr>
              <a:t>là</a:t>
            </a:r>
            <a:r>
              <a:rPr lang="en-US" sz="3040" dirty="0">
                <a:solidFill>
                  <a:srgbClr val="0B1320"/>
                </a:solidFill>
                <a:latin typeface="Public Sans"/>
                <a:ea typeface="Public Sans"/>
                <a:cs typeface="Public Sans"/>
                <a:sym typeface="Public Sans"/>
              </a:rPr>
              <a:t> </a:t>
            </a:r>
            <a:r>
              <a:rPr lang="en-US" sz="3040" dirty="0" err="1">
                <a:solidFill>
                  <a:srgbClr val="0B1320"/>
                </a:solidFill>
                <a:latin typeface="Public Sans"/>
                <a:ea typeface="Public Sans"/>
                <a:cs typeface="Public Sans"/>
                <a:sym typeface="Public Sans"/>
              </a:rPr>
              <a:t>bài</a:t>
            </a:r>
            <a:r>
              <a:rPr lang="en-US" sz="3040" dirty="0">
                <a:solidFill>
                  <a:srgbClr val="0B1320"/>
                </a:solidFill>
                <a:latin typeface="Public Sans"/>
                <a:ea typeface="Public Sans"/>
                <a:cs typeface="Public Sans"/>
                <a:sym typeface="Public Sans"/>
              </a:rPr>
              <a:t> </a:t>
            </a:r>
            <a:r>
              <a:rPr lang="en-US" sz="3040" dirty="0" err="1">
                <a:solidFill>
                  <a:srgbClr val="0B1320"/>
                </a:solidFill>
                <a:latin typeface="Public Sans"/>
                <a:ea typeface="Public Sans"/>
                <a:cs typeface="Public Sans"/>
                <a:sym typeface="Public Sans"/>
              </a:rPr>
              <a:t>toán</a:t>
            </a:r>
            <a:r>
              <a:rPr lang="en-US" sz="3040" dirty="0">
                <a:solidFill>
                  <a:srgbClr val="0B1320"/>
                </a:solidFill>
                <a:latin typeface="Public Sans"/>
                <a:ea typeface="Public Sans"/>
                <a:cs typeface="Public Sans"/>
                <a:sym typeface="Public Sans"/>
              </a:rPr>
              <a:t> </a:t>
            </a:r>
            <a:r>
              <a:rPr lang="en-US" sz="3040" dirty="0" err="1">
                <a:solidFill>
                  <a:srgbClr val="0B1320"/>
                </a:solidFill>
                <a:latin typeface="Public Sans"/>
                <a:ea typeface="Public Sans"/>
                <a:cs typeface="Public Sans"/>
                <a:sym typeface="Public Sans"/>
              </a:rPr>
              <a:t>phân</a:t>
            </a:r>
            <a:r>
              <a:rPr lang="en-US" sz="3040" dirty="0">
                <a:solidFill>
                  <a:srgbClr val="0B1320"/>
                </a:solidFill>
                <a:latin typeface="Public Sans"/>
                <a:ea typeface="Public Sans"/>
                <a:cs typeface="Public Sans"/>
                <a:sym typeface="Public Sans"/>
              </a:rPr>
              <a:t> </a:t>
            </a:r>
            <a:r>
              <a:rPr lang="en-US" sz="3040" dirty="0" err="1">
                <a:solidFill>
                  <a:srgbClr val="0B1320"/>
                </a:solidFill>
                <a:latin typeface="Public Sans"/>
                <a:ea typeface="Public Sans"/>
                <a:cs typeface="Public Sans"/>
                <a:sym typeface="Public Sans"/>
              </a:rPr>
              <a:t>loại</a:t>
            </a:r>
            <a:endParaRPr lang="en-US" sz="3040" dirty="0">
              <a:solidFill>
                <a:srgbClr val="0B1320"/>
              </a:solidFill>
              <a:latin typeface="Public Sans"/>
              <a:ea typeface="Public Sans"/>
              <a:cs typeface="Public Sans"/>
              <a:sym typeface="Public Sans"/>
            </a:endParaRPr>
          </a:p>
          <a:p>
            <a:pPr marL="0" lvl="0" indent="0" algn="l">
              <a:lnSpc>
                <a:spcPts val="5170"/>
              </a:lnSpc>
            </a:pPr>
            <a:endParaRPr lang="en-US" sz="3040" dirty="0">
              <a:solidFill>
                <a:srgbClr val="0B1320"/>
              </a:solidFill>
              <a:latin typeface="Public Sans"/>
              <a:ea typeface="Public Sans"/>
              <a:cs typeface="Public Sans"/>
              <a:sym typeface="Public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graphicFrame>
        <p:nvGraphicFramePr>
          <p:cNvPr id="5" name="Table 5"/>
          <p:cNvGraphicFramePr>
            <a:graphicFrameLocks noGrp="1"/>
          </p:cNvGraphicFramePr>
          <p:nvPr/>
        </p:nvGraphicFramePr>
        <p:xfrm>
          <a:off x="666959" y="3734076"/>
          <a:ext cx="7177154" cy="4158070"/>
        </p:xfrm>
        <a:graphic>
          <a:graphicData uri="http://schemas.openxmlformats.org/drawingml/2006/table">
            <a:tbl>
              <a:tblPr/>
              <a:tblGrid>
                <a:gridCol w="2998331">
                  <a:extLst>
                    <a:ext uri="{9D8B030D-6E8A-4147-A177-3AD203B41FA5}">
                      <a16:colId xmlns:a16="http://schemas.microsoft.com/office/drawing/2014/main" val="20000"/>
                    </a:ext>
                  </a:extLst>
                </a:gridCol>
                <a:gridCol w="4178823">
                  <a:extLst>
                    <a:ext uri="{9D8B030D-6E8A-4147-A177-3AD203B41FA5}">
                      <a16:colId xmlns:a16="http://schemas.microsoft.com/office/drawing/2014/main" val="20001"/>
                    </a:ext>
                  </a:extLst>
                </a:gridCol>
              </a:tblGrid>
              <a:tr h="1029522">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Tên đặc trưng</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Ý nghĩa</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extLst>
                  <a:ext uri="{0D108BD9-81ED-4DB2-BD59-A6C34878D82A}">
                    <a16:rowId xmlns:a16="http://schemas.microsoft.com/office/drawing/2014/main" val="10000"/>
                  </a:ext>
                </a:extLst>
              </a:tr>
              <a:tr h="1029522">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Artist Name</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Tên nghệ sĩ/ ban nhạc</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29522">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Track Name</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Tên bài hát</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69504">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Popularity</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Mức độ phổ biến</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Box 6"/>
          <p:cNvSpPr txBox="1"/>
          <p:nvPr/>
        </p:nvSpPr>
        <p:spPr>
          <a:xfrm>
            <a:off x="1028700" y="914400"/>
            <a:ext cx="6453673" cy="933396"/>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1. Giới thiệu</a:t>
            </a:r>
          </a:p>
        </p:txBody>
      </p:sp>
      <p:sp>
        <p:nvSpPr>
          <p:cNvPr id="7" name="TextBox 7"/>
          <p:cNvSpPr txBox="1"/>
          <p:nvPr/>
        </p:nvSpPr>
        <p:spPr>
          <a:xfrm>
            <a:off x="1092990" y="2048151"/>
            <a:ext cx="1650209" cy="551433"/>
          </a:xfrm>
          <a:prstGeom prst="rect">
            <a:avLst/>
          </a:prstGeom>
        </p:spPr>
        <p:txBody>
          <a:bodyPr wrap="square" lIns="0" tIns="0" rIns="0" bIns="0" rtlCol="0" anchor="t">
            <a:spAutoFit/>
          </a:bodyPr>
          <a:lstStyle/>
          <a:p>
            <a:pPr algn="ctr">
              <a:lnSpc>
                <a:spcPts val="4320"/>
              </a:lnSpc>
              <a:spcBef>
                <a:spcPct val="0"/>
              </a:spcBef>
            </a:pP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Dữ</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liệu</a:t>
            </a:r>
            <a:endPar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endParaRPr>
          </a:p>
        </p:txBody>
      </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4</a:t>
            </a:r>
          </a:p>
        </p:txBody>
      </p:sp>
      <p:sp>
        <p:nvSpPr>
          <p:cNvPr id="9" name="TextBox 9"/>
          <p:cNvSpPr txBox="1"/>
          <p:nvPr/>
        </p:nvSpPr>
        <p:spPr>
          <a:xfrm>
            <a:off x="727142" y="2886351"/>
            <a:ext cx="5308821" cy="561975"/>
          </a:xfrm>
          <a:prstGeom prst="rect">
            <a:avLst/>
          </a:prstGeom>
        </p:spPr>
        <p:txBody>
          <a:bodyPr lIns="0" tIns="0" rIns="0" bIns="0" rtlCol="0" anchor="t">
            <a:spAutoFit/>
          </a:bodyPr>
          <a:lstStyle/>
          <a:p>
            <a:pPr algn="l">
              <a:lnSpc>
                <a:spcPts val="3840"/>
              </a:lnSpc>
              <a:spcBef>
                <a:spcPct val="0"/>
              </a:spcBef>
            </a:pPr>
            <a:r>
              <a:rPr lang="en-US" sz="3200" b="1" dirty="0">
                <a:solidFill>
                  <a:srgbClr val="000000"/>
                </a:solidFill>
                <a:latin typeface="Calibri (MS) Bold" panose="020F0702030404030204"/>
                <a:ea typeface="Calibri (MS) Bold" panose="020F0702030404030204"/>
                <a:cs typeface="Calibri (MS) Bold" panose="020F0702030404030204"/>
                <a:sym typeface="Calibri (MS) Bold" panose="020F0702030404030204"/>
              </a:rPr>
              <a:t>Thông tin </a:t>
            </a:r>
            <a:r>
              <a:rPr lang="en-US" sz="3200" b="1" dirty="0" err="1">
                <a:solidFill>
                  <a:srgbClr val="000000"/>
                </a:solidFill>
                <a:latin typeface="Calibri (MS) Bold" panose="020F0702030404030204"/>
                <a:ea typeface="Calibri (MS) Bold" panose="020F0702030404030204"/>
                <a:cs typeface="Calibri (MS) Bold" panose="020F0702030404030204"/>
                <a:sym typeface="Calibri (MS) Bold" panose="020F0702030404030204"/>
              </a:rPr>
              <a:t>của</a:t>
            </a:r>
            <a:r>
              <a:rPr lang="en-US" sz="3200" b="1" dirty="0">
                <a:solidFill>
                  <a:srgbClr val="000000"/>
                </a:solidFill>
                <a:latin typeface="Calibri (MS) Bold" panose="020F0702030404030204"/>
                <a:ea typeface="Calibri (MS) Bold" panose="020F0702030404030204"/>
                <a:cs typeface="Calibri (MS) Bold" panose="020F0702030404030204"/>
                <a:sym typeface="Calibri (MS) Bold" panose="020F0702030404030204"/>
              </a:rPr>
              <a:t> </a:t>
            </a:r>
            <a:r>
              <a:rPr lang="en-US" sz="3200" b="1" dirty="0" err="1">
                <a:solidFill>
                  <a:srgbClr val="000000"/>
                </a:solidFill>
                <a:latin typeface="Calibri (MS) Bold" panose="020F0702030404030204"/>
                <a:ea typeface="Calibri (MS) Bold" panose="020F0702030404030204"/>
                <a:cs typeface="Calibri (MS) Bold" panose="020F0702030404030204"/>
                <a:sym typeface="Calibri (MS) Bold" panose="020F0702030404030204"/>
              </a:rPr>
              <a:t>nghệ</a:t>
            </a:r>
            <a:r>
              <a:rPr lang="en-US" sz="3200" b="1" dirty="0">
                <a:solidFill>
                  <a:srgbClr val="000000"/>
                </a:solidFill>
                <a:latin typeface="Calibri (MS) Bold" panose="020F0702030404030204"/>
                <a:ea typeface="Calibri (MS) Bold" panose="020F0702030404030204"/>
                <a:cs typeface="Calibri (MS) Bold" panose="020F0702030404030204"/>
                <a:sym typeface="Calibri (MS) Bold" panose="020F0702030404030204"/>
              </a:rPr>
              <a:t> </a:t>
            </a:r>
            <a:r>
              <a:rPr lang="en-US" sz="3200" b="1" dirty="0" err="1">
                <a:solidFill>
                  <a:srgbClr val="000000"/>
                </a:solidFill>
                <a:latin typeface="Calibri (MS) Bold" panose="020F0702030404030204"/>
                <a:ea typeface="Calibri (MS) Bold" panose="020F0702030404030204"/>
                <a:cs typeface="Calibri (MS) Bold" panose="020F0702030404030204"/>
                <a:sym typeface="Calibri (MS) Bold" panose="020F0702030404030204"/>
              </a:rPr>
              <a:t>sĩ</a:t>
            </a:r>
            <a:r>
              <a:rPr lang="en-US" sz="3200" b="1" dirty="0">
                <a:solidFill>
                  <a:srgbClr val="000000"/>
                </a:solidFill>
                <a:latin typeface="Calibri (MS) Bold" panose="020F0702030404030204"/>
                <a:ea typeface="Calibri (MS) Bold" panose="020F0702030404030204"/>
                <a:cs typeface="Calibri (MS) Bold" panose="020F0702030404030204"/>
                <a:sym typeface="Calibri (MS) Bold" panose="020F0702030404030204"/>
              </a:rPr>
              <a:t> </a:t>
            </a:r>
            <a:r>
              <a:rPr lang="en-US" sz="3200" b="1" dirty="0" err="1">
                <a:solidFill>
                  <a:srgbClr val="000000"/>
                </a:solidFill>
                <a:latin typeface="Calibri (MS) Bold" panose="020F0702030404030204"/>
                <a:ea typeface="Calibri (MS) Bold" panose="020F0702030404030204"/>
                <a:cs typeface="Calibri (MS) Bold" panose="020F0702030404030204"/>
                <a:sym typeface="Calibri (MS) Bold" panose="020F0702030404030204"/>
              </a:rPr>
              <a:t>và</a:t>
            </a:r>
            <a:r>
              <a:rPr lang="en-US" sz="3200" b="1" dirty="0">
                <a:solidFill>
                  <a:srgbClr val="000000"/>
                </a:solidFill>
                <a:latin typeface="Calibri (MS) Bold" panose="020F0702030404030204"/>
                <a:ea typeface="Calibri (MS) Bold" panose="020F0702030404030204"/>
                <a:cs typeface="Calibri (MS) Bold" panose="020F0702030404030204"/>
                <a:sym typeface="Calibri (MS) Bold" panose="020F0702030404030204"/>
              </a:rPr>
              <a:t> </a:t>
            </a:r>
            <a:r>
              <a:rPr lang="en-US" sz="3200" b="1" dirty="0" err="1">
                <a:solidFill>
                  <a:srgbClr val="000000"/>
                </a:solidFill>
                <a:latin typeface="Calibri (MS) Bold" panose="020F0702030404030204"/>
                <a:ea typeface="Calibri (MS) Bold" panose="020F0702030404030204"/>
                <a:cs typeface="Calibri (MS) Bold" panose="020F0702030404030204"/>
                <a:sym typeface="Calibri (MS) Bold" panose="020F0702030404030204"/>
              </a:rPr>
              <a:t>bài</a:t>
            </a:r>
            <a:r>
              <a:rPr lang="en-US" sz="3200" b="1" dirty="0">
                <a:solidFill>
                  <a:srgbClr val="000000"/>
                </a:solidFill>
                <a:latin typeface="Calibri (MS) Bold" panose="020F0702030404030204"/>
                <a:ea typeface="Calibri (MS) Bold" panose="020F0702030404030204"/>
                <a:cs typeface="Calibri (MS) Bold" panose="020F0702030404030204"/>
                <a:sym typeface="Calibri (MS) Bold" panose="020F0702030404030204"/>
              </a:rPr>
              <a:t> </a:t>
            </a:r>
            <a:r>
              <a:rPr lang="en-US" sz="3200" b="1" dirty="0" err="1">
                <a:solidFill>
                  <a:srgbClr val="000000"/>
                </a:solidFill>
                <a:latin typeface="Calibri (MS) Bold" panose="020F0702030404030204"/>
                <a:ea typeface="Calibri (MS) Bold" panose="020F0702030404030204"/>
                <a:cs typeface="Calibri (MS) Bold" panose="020F0702030404030204"/>
                <a:sym typeface="Calibri (MS) Bold" panose="020F0702030404030204"/>
              </a:rPr>
              <a:t>hát</a:t>
            </a:r>
            <a:endParaRPr lang="en-US" sz="3200" b="1" dirty="0">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graphicFrame>
        <p:nvGraphicFramePr>
          <p:cNvPr id="10" name="Table 10"/>
          <p:cNvGraphicFramePr>
            <a:graphicFrameLocks noGrp="1"/>
          </p:cNvGraphicFramePr>
          <p:nvPr/>
        </p:nvGraphicFramePr>
        <p:xfrm>
          <a:off x="8624127" y="3744426"/>
          <a:ext cx="8780429" cy="5217774"/>
        </p:xfrm>
        <a:graphic>
          <a:graphicData uri="http://schemas.openxmlformats.org/drawingml/2006/table">
            <a:tbl>
              <a:tblPr/>
              <a:tblGrid>
                <a:gridCol w="3043987">
                  <a:extLst>
                    <a:ext uri="{9D8B030D-6E8A-4147-A177-3AD203B41FA5}">
                      <a16:colId xmlns:a16="http://schemas.microsoft.com/office/drawing/2014/main" val="20000"/>
                    </a:ext>
                  </a:extLst>
                </a:gridCol>
                <a:gridCol w="5736442">
                  <a:extLst>
                    <a:ext uri="{9D8B030D-6E8A-4147-A177-3AD203B41FA5}">
                      <a16:colId xmlns:a16="http://schemas.microsoft.com/office/drawing/2014/main" val="20001"/>
                    </a:ext>
                  </a:extLst>
                </a:gridCol>
              </a:tblGrid>
              <a:tr h="1027592">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Tên đặc trưng</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Ý nghĩa</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extLst>
                  <a:ext uri="{0D108BD9-81ED-4DB2-BD59-A6C34878D82A}">
                    <a16:rowId xmlns:a16="http://schemas.microsoft.com/office/drawing/2014/main" val="10000"/>
                  </a:ext>
                </a:extLst>
              </a:tr>
              <a:tr h="1027592">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Danceability</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 Mức độ phù hợp để nhảy (0–1)</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27592">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Energy</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Tên bài hát</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67499">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Valence</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Mức độ phổ biến</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67499">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Tempo</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 Tốc độ bài nhạc tính bằng BPM</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Box 11"/>
          <p:cNvSpPr txBox="1"/>
          <p:nvPr/>
        </p:nvSpPr>
        <p:spPr>
          <a:xfrm>
            <a:off x="8899800" y="2886351"/>
            <a:ext cx="3812712" cy="611032"/>
          </a:xfrm>
          <a:prstGeom prst="rect">
            <a:avLst/>
          </a:prstGeom>
        </p:spPr>
        <p:txBody>
          <a:bodyPr lIns="0" tIns="0" rIns="0" bIns="0" rtlCol="0" anchor="t">
            <a:spAutoFit/>
          </a:bodyPr>
          <a:lstStyle/>
          <a:p>
            <a:pPr algn="l">
              <a:lnSpc>
                <a:spcPts val="4225"/>
              </a:lnSpc>
              <a:spcBef>
                <a:spcPct val="0"/>
              </a:spcBef>
            </a:pPr>
            <a:r>
              <a:rPr lang="en-US" sz="3525" b="1">
                <a:solidFill>
                  <a:srgbClr val="000000"/>
                </a:solidFill>
                <a:latin typeface="Calibri (MS) Bold" panose="020F0702030404030204"/>
                <a:ea typeface="Calibri (MS) Bold" panose="020F0702030404030204"/>
                <a:cs typeface="Calibri (MS) Bold" panose="020F0702030404030204"/>
                <a:sym typeface="Calibri (MS) Bold" panose="020F0702030404030204"/>
              </a:rPr>
              <a:t>Đặc trưng âm nhạc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graphicFrame>
        <p:nvGraphicFramePr>
          <p:cNvPr id="5" name="Table 5"/>
          <p:cNvGraphicFramePr>
            <a:graphicFrameLocks noGrp="1"/>
          </p:cNvGraphicFramePr>
          <p:nvPr/>
        </p:nvGraphicFramePr>
        <p:xfrm>
          <a:off x="255455" y="2460547"/>
          <a:ext cx="8122575" cy="7489079"/>
        </p:xfrm>
        <a:graphic>
          <a:graphicData uri="http://schemas.openxmlformats.org/drawingml/2006/table">
            <a:tbl>
              <a:tblPr/>
              <a:tblGrid>
                <a:gridCol w="3586349">
                  <a:extLst>
                    <a:ext uri="{9D8B030D-6E8A-4147-A177-3AD203B41FA5}">
                      <a16:colId xmlns:a16="http://schemas.microsoft.com/office/drawing/2014/main" val="20000"/>
                    </a:ext>
                  </a:extLst>
                </a:gridCol>
                <a:gridCol w="4536226">
                  <a:extLst>
                    <a:ext uri="{9D8B030D-6E8A-4147-A177-3AD203B41FA5}">
                      <a16:colId xmlns:a16="http://schemas.microsoft.com/office/drawing/2014/main" val="20001"/>
                    </a:ext>
                  </a:extLst>
                </a:gridCol>
              </a:tblGrid>
              <a:tr h="986092">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Tên đặc trưng</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Ý nghĩa</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extLst>
                  <a:ext uri="{0D108BD9-81ED-4DB2-BD59-A6C34878D82A}">
                    <a16:rowId xmlns:a16="http://schemas.microsoft.com/office/drawing/2014/main" val="10000"/>
                  </a:ext>
                </a:extLst>
              </a:tr>
              <a:tr h="1483924">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loudness</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Độ lớn âm thanh của toàn bài hát</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86092">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speechiness</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Mức độ “giọng nói” </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83924">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acousticness</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Mức độ “acoustic” của bài hát (0–1)</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483924">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instrumentalness</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Mức độ khả năng bài hát</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065123">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liveness</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Mức độ được trình diễn</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Box 6"/>
          <p:cNvSpPr txBox="1"/>
          <p:nvPr/>
        </p:nvSpPr>
        <p:spPr>
          <a:xfrm>
            <a:off x="1786768" y="324180"/>
            <a:ext cx="6453673" cy="933396"/>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1. Giới thiệu</a:t>
            </a:r>
          </a:p>
        </p:txBody>
      </p:sp>
      <p:sp>
        <p:nvSpPr>
          <p:cNvPr id="7" name="TextBox 7"/>
          <p:cNvSpPr txBox="1"/>
          <p:nvPr/>
        </p:nvSpPr>
        <p:spPr>
          <a:xfrm>
            <a:off x="1786768" y="1171851"/>
            <a:ext cx="1642232" cy="551433"/>
          </a:xfrm>
          <a:prstGeom prst="rect">
            <a:avLst/>
          </a:prstGeom>
        </p:spPr>
        <p:txBody>
          <a:bodyPr wrap="square" lIns="0" tIns="0" rIns="0" bIns="0" rtlCol="0" anchor="t">
            <a:spAutoFit/>
          </a:bodyPr>
          <a:lstStyle/>
          <a:p>
            <a:pPr algn="ctr">
              <a:lnSpc>
                <a:spcPts val="4320"/>
              </a:lnSpc>
              <a:spcBef>
                <a:spcPct val="0"/>
              </a:spcBef>
            </a:pP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Dữ</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liệu</a:t>
            </a:r>
            <a:endPar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endParaRPr>
          </a:p>
        </p:txBody>
      </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5</a:t>
            </a:r>
          </a:p>
        </p:txBody>
      </p:sp>
      <p:graphicFrame>
        <p:nvGraphicFramePr>
          <p:cNvPr id="9" name="Table 9"/>
          <p:cNvGraphicFramePr>
            <a:graphicFrameLocks noGrp="1"/>
          </p:cNvGraphicFramePr>
          <p:nvPr/>
        </p:nvGraphicFramePr>
        <p:xfrm>
          <a:off x="9144000" y="2459136"/>
          <a:ext cx="7784925" cy="4575342"/>
        </p:xfrm>
        <a:graphic>
          <a:graphicData uri="http://schemas.openxmlformats.org/drawingml/2006/table">
            <a:tbl>
              <a:tblPr/>
              <a:tblGrid>
                <a:gridCol w="3588583">
                  <a:extLst>
                    <a:ext uri="{9D8B030D-6E8A-4147-A177-3AD203B41FA5}">
                      <a16:colId xmlns:a16="http://schemas.microsoft.com/office/drawing/2014/main" val="20000"/>
                    </a:ext>
                  </a:extLst>
                </a:gridCol>
                <a:gridCol w="4196342">
                  <a:extLst>
                    <a:ext uri="{9D8B030D-6E8A-4147-A177-3AD203B41FA5}">
                      <a16:colId xmlns:a16="http://schemas.microsoft.com/office/drawing/2014/main" val="20001"/>
                    </a:ext>
                  </a:extLst>
                </a:gridCol>
              </a:tblGrid>
              <a:tr h="1028655">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Tên đặc trưng</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Ý nghĩa</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extLst>
                  <a:ext uri="{0D108BD9-81ED-4DB2-BD59-A6C34878D82A}">
                    <a16:rowId xmlns:a16="http://schemas.microsoft.com/office/drawing/2014/main" val="10000"/>
                  </a:ext>
                </a:extLst>
              </a:tr>
              <a:tr h="989313">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key</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Tông của bản nhạc.</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88772">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mode</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 Giọng nhạc của bài hát</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68602">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time_signature</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Chỉ số nhịp</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Box 10"/>
          <p:cNvSpPr txBox="1"/>
          <p:nvPr/>
        </p:nvSpPr>
        <p:spPr>
          <a:xfrm>
            <a:off x="409455" y="1724301"/>
            <a:ext cx="3462998" cy="561975"/>
          </a:xfrm>
          <a:prstGeom prst="rect">
            <a:avLst/>
          </a:prstGeom>
        </p:spPr>
        <p:txBody>
          <a:bodyPr lIns="0" tIns="0" rIns="0" bIns="0" rtlCol="0" anchor="t">
            <a:spAutoFit/>
          </a:bodyPr>
          <a:lstStyle/>
          <a:p>
            <a:pPr algn="l">
              <a:lnSpc>
                <a:spcPts val="3840"/>
              </a:lnSpc>
              <a:spcBef>
                <a:spcPct val="0"/>
              </a:spcBef>
            </a:pPr>
            <a:r>
              <a:rPr lang="en-US" sz="3200" b="1">
                <a:solidFill>
                  <a:srgbClr val="000000"/>
                </a:solidFill>
                <a:latin typeface="Calibri (MS) Bold" panose="020F0702030404030204"/>
                <a:ea typeface="Calibri (MS) Bold" panose="020F0702030404030204"/>
                <a:cs typeface="Calibri (MS) Bold" panose="020F0702030404030204"/>
                <a:sym typeface="Calibri (MS) Bold" panose="020F0702030404030204"/>
              </a:rPr>
              <a:t>Đặc trưng âm thanh</a:t>
            </a:r>
          </a:p>
        </p:txBody>
      </p:sp>
      <p:sp>
        <p:nvSpPr>
          <p:cNvPr id="11" name="TextBox 11"/>
          <p:cNvSpPr txBox="1"/>
          <p:nvPr/>
        </p:nvSpPr>
        <p:spPr>
          <a:xfrm>
            <a:off x="10202363" y="1724301"/>
            <a:ext cx="5308821" cy="561975"/>
          </a:xfrm>
          <a:prstGeom prst="rect">
            <a:avLst/>
          </a:prstGeom>
        </p:spPr>
        <p:txBody>
          <a:bodyPr lIns="0" tIns="0" rIns="0" bIns="0" rtlCol="0" anchor="t">
            <a:spAutoFit/>
          </a:bodyPr>
          <a:lstStyle/>
          <a:p>
            <a:pPr algn="l">
              <a:lnSpc>
                <a:spcPts val="3840"/>
              </a:lnSpc>
              <a:spcBef>
                <a:spcPct val="0"/>
              </a:spcBef>
            </a:pPr>
            <a:r>
              <a:rPr lang="en-US" sz="3200" b="1">
                <a:solidFill>
                  <a:srgbClr val="000000"/>
                </a:solidFill>
                <a:latin typeface="Calibri (MS) Bold" panose="020F0702030404030204"/>
                <a:ea typeface="Calibri (MS) Bold" panose="020F0702030404030204"/>
                <a:cs typeface="Calibri (MS) Bold" panose="020F0702030404030204"/>
                <a:sym typeface="Calibri (MS) Bold" panose="020F0702030404030204"/>
              </a:rPr>
              <a:t>Thông tin về cấu trúc âm nhạc</a:t>
            </a:r>
          </a:p>
        </p:txBody>
      </p:sp>
      <p:sp>
        <p:nvSpPr>
          <p:cNvPr id="12" name="TextBox 12"/>
          <p:cNvSpPr txBox="1"/>
          <p:nvPr/>
        </p:nvSpPr>
        <p:spPr>
          <a:xfrm>
            <a:off x="9825851" y="7131139"/>
            <a:ext cx="5308821" cy="561975"/>
          </a:xfrm>
          <a:prstGeom prst="rect">
            <a:avLst/>
          </a:prstGeom>
        </p:spPr>
        <p:txBody>
          <a:bodyPr lIns="0" tIns="0" rIns="0" bIns="0" rtlCol="0" anchor="t">
            <a:spAutoFit/>
          </a:bodyPr>
          <a:lstStyle/>
          <a:p>
            <a:pPr algn="l">
              <a:lnSpc>
                <a:spcPts val="3840"/>
              </a:lnSpc>
              <a:spcBef>
                <a:spcPct val="0"/>
              </a:spcBef>
            </a:pPr>
            <a:r>
              <a:rPr lang="en-US" sz="3200" b="1">
                <a:solidFill>
                  <a:srgbClr val="000000"/>
                </a:solidFill>
                <a:latin typeface="Calibri (MS) Bold" panose="020F0702030404030204"/>
                <a:ea typeface="Calibri (MS) Bold" panose="020F0702030404030204"/>
                <a:cs typeface="Calibri (MS) Bold" panose="020F0702030404030204"/>
                <a:sym typeface="Calibri (MS) Bold" panose="020F0702030404030204"/>
              </a:rPr>
              <a:t>Thông tin về thời lượng</a:t>
            </a:r>
          </a:p>
        </p:txBody>
      </p:sp>
      <p:graphicFrame>
        <p:nvGraphicFramePr>
          <p:cNvPr id="13" name="Table 13"/>
          <p:cNvGraphicFramePr>
            <a:graphicFrameLocks noGrp="1"/>
          </p:cNvGraphicFramePr>
          <p:nvPr/>
        </p:nvGraphicFramePr>
        <p:xfrm>
          <a:off x="9144000" y="7864564"/>
          <a:ext cx="7784925" cy="2039264"/>
        </p:xfrm>
        <a:graphic>
          <a:graphicData uri="http://schemas.openxmlformats.org/drawingml/2006/table">
            <a:tbl>
              <a:tblPr/>
              <a:tblGrid>
                <a:gridCol w="4108860">
                  <a:extLst>
                    <a:ext uri="{9D8B030D-6E8A-4147-A177-3AD203B41FA5}">
                      <a16:colId xmlns:a16="http://schemas.microsoft.com/office/drawing/2014/main" val="20000"/>
                    </a:ext>
                  </a:extLst>
                </a:gridCol>
                <a:gridCol w="3676065">
                  <a:extLst>
                    <a:ext uri="{9D8B030D-6E8A-4147-A177-3AD203B41FA5}">
                      <a16:colId xmlns:a16="http://schemas.microsoft.com/office/drawing/2014/main" val="20001"/>
                    </a:ext>
                  </a:extLst>
                </a:gridCol>
              </a:tblGrid>
              <a:tr h="1039510">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Tên đặc trưng</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Ý nghĩa</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extLst>
                  <a:ext uri="{0D108BD9-81ED-4DB2-BD59-A6C34878D82A}">
                    <a16:rowId xmlns:a16="http://schemas.microsoft.com/office/drawing/2014/main" val="10000"/>
                  </a:ext>
                </a:extLst>
              </a:tr>
              <a:tr h="999754">
                <a:tc>
                  <a:txBody>
                    <a:bodyPr/>
                    <a:lstStyle/>
                    <a:p>
                      <a:pPr algn="ctr">
                        <a:lnSpc>
                          <a:spcPts val="3920"/>
                        </a:lnSpc>
                        <a:defRPr/>
                      </a:pPr>
                      <a:r>
                        <a:rPr lang="en-US" sz="2800" b="1">
                          <a:solidFill>
                            <a:srgbClr val="000000"/>
                          </a:solidFill>
                          <a:latin typeface="Noto Sans Bold" panose="020B0802040504020204"/>
                          <a:ea typeface="Noto Sans Bold" panose="020B0802040504020204"/>
                          <a:cs typeface="Noto Sans Bold" panose="020B0802040504020204"/>
                          <a:sym typeface="Noto Sans Bold" panose="020B0802040504020204"/>
                        </a:rPr>
                        <a:t>duration_in min/ms</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C3D8EF"/>
                    </a:solidFill>
                  </a:tcPr>
                </a:tc>
                <a:tc>
                  <a:txBody>
                    <a:bodyPr/>
                    <a:lstStyle/>
                    <a:p>
                      <a:pPr algn="ctr">
                        <a:lnSpc>
                          <a:spcPts val="3920"/>
                        </a:lnSpc>
                        <a:defRPr/>
                      </a:pPr>
                      <a:r>
                        <a:rPr lang="en-US" sz="2800">
                          <a:solidFill>
                            <a:srgbClr val="000000"/>
                          </a:solidFill>
                          <a:latin typeface="Noto Sans" panose="020B0502040504020204"/>
                          <a:ea typeface="Noto Sans" panose="020B0502040504020204"/>
                          <a:cs typeface="Noto Sans" panose="020B0502040504020204"/>
                          <a:sym typeface="Noto Sans" panose="020B0502040504020204"/>
                        </a:rPr>
                        <a:t>Thời gian bài hát</a:t>
                      </a:r>
                      <a:endParaRPr lang="en-US" sz="1100"/>
                    </a:p>
                  </a:txBody>
                  <a:tcPr marL="190500" marR="190500" marT="190500" marB="190500">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952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graphicFrame>
        <p:nvGraphicFramePr>
          <p:cNvPr id="5" name="Table 5"/>
          <p:cNvGraphicFramePr>
            <a:graphicFrameLocks noGrp="1"/>
          </p:cNvGraphicFramePr>
          <p:nvPr/>
        </p:nvGraphicFramePr>
        <p:xfrm>
          <a:off x="10139538" y="2846388"/>
          <a:ext cx="4059031" cy="2600325"/>
        </p:xfrm>
        <a:graphic>
          <a:graphicData uri="http://schemas.openxmlformats.org/drawingml/2006/table">
            <a:tbl>
              <a:tblPr/>
              <a:tblGrid>
                <a:gridCol w="2852579">
                  <a:extLst>
                    <a:ext uri="{9D8B030D-6E8A-4147-A177-3AD203B41FA5}">
                      <a16:colId xmlns:a16="http://schemas.microsoft.com/office/drawing/2014/main" val="20000"/>
                    </a:ext>
                  </a:extLst>
                </a:gridCol>
                <a:gridCol w="1206452">
                  <a:extLst>
                    <a:ext uri="{9D8B030D-6E8A-4147-A177-3AD203B41FA5}">
                      <a16:colId xmlns:a16="http://schemas.microsoft.com/office/drawing/2014/main" val="20001"/>
                    </a:ext>
                  </a:extLst>
                </a:gridCol>
              </a:tblGrid>
              <a:tr h="870009">
                <a:tc>
                  <a:txBody>
                    <a:bodyPr/>
                    <a:lstStyle/>
                    <a:p>
                      <a:pPr algn="ctr">
                        <a:lnSpc>
                          <a:spcPts val="2800"/>
                        </a:lnSpc>
                        <a:defRPr/>
                      </a:pPr>
                      <a:r>
                        <a:rPr lang="en-US" sz="2000">
                          <a:solidFill>
                            <a:srgbClr val="1C3F60"/>
                          </a:solidFill>
                          <a:latin typeface="Garet"/>
                          <a:ea typeface="Garet"/>
                          <a:cs typeface="Garet"/>
                          <a:sym typeface="Garet"/>
                        </a:rPr>
                        <a:t>instrumentalness</a:t>
                      </a:r>
                      <a:endParaRPr lang="en-US" sz="1100"/>
                    </a:p>
                  </a:txBody>
                  <a:tcPr marL="190500" marR="190500" marT="190500" marB="190500">
                    <a:lnL w="47625" cap="flat" cmpd="sng" algn="ctr">
                      <a:solidFill>
                        <a:srgbClr val="0B1320"/>
                      </a:solidFill>
                      <a:prstDash val="solid"/>
                      <a:round/>
                      <a:headEnd type="none" w="med" len="med"/>
                      <a:tailEnd type="none" w="med" len="med"/>
                    </a:lnL>
                    <a:lnR w="47625" cap="flat" cmpd="sng" algn="ctr">
                      <a:solidFill>
                        <a:srgbClr val="0B1320"/>
                      </a:solidFill>
                      <a:prstDash val="solid"/>
                      <a:round/>
                      <a:headEnd type="none" w="med" len="med"/>
                      <a:tailEnd type="none" w="med" len="med"/>
                    </a:lnR>
                    <a:lnT w="47625" cap="flat" cmpd="sng" algn="ctr">
                      <a:solidFill>
                        <a:srgbClr val="0B1320"/>
                      </a:solidFill>
                      <a:prstDash val="solid"/>
                      <a:round/>
                      <a:headEnd type="none" w="med" len="med"/>
                      <a:tailEnd type="none" w="med" len="med"/>
                    </a:lnT>
                    <a:lnB w="47625" cap="flat" cmpd="sng" algn="ctr">
                      <a:solidFill>
                        <a:srgbClr val="0B1320"/>
                      </a:solidFill>
                      <a:prstDash val="solid"/>
                      <a:round/>
                      <a:headEnd type="none" w="med" len="med"/>
                      <a:tailEnd type="none" w="med" len="med"/>
                    </a:lnB>
                    <a:solidFill>
                      <a:srgbClr val="F3F6FA"/>
                    </a:solidFill>
                  </a:tcPr>
                </a:tc>
                <a:tc>
                  <a:txBody>
                    <a:bodyPr/>
                    <a:lstStyle/>
                    <a:p>
                      <a:pPr algn="ctr">
                        <a:lnSpc>
                          <a:spcPts val="2800"/>
                        </a:lnSpc>
                        <a:defRPr/>
                      </a:pPr>
                      <a:r>
                        <a:rPr lang="en-US" sz="2000">
                          <a:solidFill>
                            <a:srgbClr val="1C3F60"/>
                          </a:solidFill>
                          <a:latin typeface="Garet"/>
                          <a:ea typeface="Garet"/>
                          <a:cs typeface="Garet"/>
                          <a:sym typeface="Garet"/>
                        </a:rPr>
                        <a:t>3541</a:t>
                      </a:r>
                      <a:endParaRPr lang="en-US" sz="1100"/>
                    </a:p>
                  </a:txBody>
                  <a:tcPr marL="190500" marR="190500" marT="190500" marB="190500">
                    <a:lnL w="47625" cap="flat" cmpd="sng" algn="ctr">
                      <a:solidFill>
                        <a:srgbClr val="0B1320"/>
                      </a:solidFill>
                      <a:prstDash val="solid"/>
                      <a:round/>
                      <a:headEnd type="none" w="med" len="med"/>
                      <a:tailEnd type="none" w="med" len="med"/>
                    </a:lnL>
                    <a:lnR w="47625" cap="flat" cmpd="sng" algn="ctr">
                      <a:solidFill>
                        <a:srgbClr val="0B1320"/>
                      </a:solidFill>
                      <a:prstDash val="solid"/>
                      <a:round/>
                      <a:headEnd type="none" w="med" len="med"/>
                      <a:tailEnd type="none" w="med" len="med"/>
                    </a:lnR>
                    <a:lnT w="47625" cap="flat" cmpd="sng" algn="ctr">
                      <a:solidFill>
                        <a:srgbClr val="0B1320"/>
                      </a:solidFill>
                      <a:prstDash val="solid"/>
                      <a:round/>
                      <a:headEnd type="none" w="med" len="med"/>
                      <a:tailEnd type="none" w="med" len="med"/>
                    </a:lnT>
                    <a:lnB w="47625" cap="flat" cmpd="sng" algn="ctr">
                      <a:solidFill>
                        <a:srgbClr val="0B1320"/>
                      </a:solidFill>
                      <a:prstDash val="solid"/>
                      <a:round/>
                      <a:headEnd type="none" w="med" len="med"/>
                      <a:tailEnd type="none" w="med" len="med"/>
                    </a:lnB>
                    <a:solidFill>
                      <a:srgbClr val="F3F6FA"/>
                    </a:solidFill>
                  </a:tcPr>
                </a:tc>
                <a:extLst>
                  <a:ext uri="{0D108BD9-81ED-4DB2-BD59-A6C34878D82A}">
                    <a16:rowId xmlns:a16="http://schemas.microsoft.com/office/drawing/2014/main" val="10000"/>
                  </a:ext>
                </a:extLst>
              </a:tr>
              <a:tr h="863541">
                <a:tc>
                  <a:txBody>
                    <a:bodyPr/>
                    <a:lstStyle/>
                    <a:p>
                      <a:pPr algn="ctr">
                        <a:lnSpc>
                          <a:spcPts val="2800"/>
                        </a:lnSpc>
                        <a:defRPr/>
                      </a:pPr>
                      <a:r>
                        <a:rPr lang="en-US" sz="2000">
                          <a:solidFill>
                            <a:srgbClr val="1C3F60"/>
                          </a:solidFill>
                          <a:latin typeface="Garet"/>
                          <a:ea typeface="Garet"/>
                          <a:cs typeface="Garet"/>
                          <a:sym typeface="Garet"/>
                        </a:rPr>
                        <a:t>Key</a:t>
                      </a:r>
                      <a:endParaRPr lang="en-US" sz="1100"/>
                    </a:p>
                  </a:txBody>
                  <a:tcPr marL="190500" marR="190500" marT="190500" marB="190500">
                    <a:lnL w="47625" cap="flat" cmpd="sng" algn="ctr">
                      <a:solidFill>
                        <a:srgbClr val="0B1320"/>
                      </a:solidFill>
                      <a:prstDash val="solid"/>
                      <a:round/>
                      <a:headEnd type="none" w="med" len="med"/>
                      <a:tailEnd type="none" w="med" len="med"/>
                    </a:lnL>
                    <a:lnR w="47625" cap="flat" cmpd="sng" algn="ctr">
                      <a:solidFill>
                        <a:srgbClr val="0B1320"/>
                      </a:solidFill>
                      <a:prstDash val="solid"/>
                      <a:round/>
                      <a:headEnd type="none" w="med" len="med"/>
                      <a:tailEnd type="none" w="med" len="med"/>
                    </a:lnR>
                    <a:lnT w="47625" cap="flat" cmpd="sng" algn="ctr">
                      <a:solidFill>
                        <a:srgbClr val="0B1320"/>
                      </a:solidFill>
                      <a:prstDash val="solid"/>
                      <a:round/>
                      <a:headEnd type="none" w="med" len="med"/>
                      <a:tailEnd type="none" w="med" len="med"/>
                    </a:lnT>
                    <a:lnB w="47625" cap="flat" cmpd="sng" algn="ctr">
                      <a:solidFill>
                        <a:srgbClr val="0B1320"/>
                      </a:solidFill>
                      <a:prstDash val="solid"/>
                      <a:round/>
                      <a:headEnd type="none" w="med" len="med"/>
                      <a:tailEnd type="none" w="med" len="med"/>
                    </a:lnB>
                    <a:solidFill>
                      <a:srgbClr val="F3F6FA"/>
                    </a:solidFill>
                  </a:tcPr>
                </a:tc>
                <a:tc>
                  <a:txBody>
                    <a:bodyPr/>
                    <a:lstStyle/>
                    <a:p>
                      <a:pPr algn="ctr">
                        <a:lnSpc>
                          <a:spcPts val="2800"/>
                        </a:lnSpc>
                        <a:defRPr/>
                      </a:pPr>
                      <a:r>
                        <a:rPr lang="en-US" sz="2000">
                          <a:solidFill>
                            <a:srgbClr val="1C3F60"/>
                          </a:solidFill>
                          <a:latin typeface="Garet"/>
                          <a:ea typeface="Garet"/>
                          <a:cs typeface="Garet"/>
                          <a:sym typeface="Garet"/>
                        </a:rPr>
                        <a:t>1609</a:t>
                      </a:r>
                      <a:endParaRPr lang="en-US" sz="1100"/>
                    </a:p>
                  </a:txBody>
                  <a:tcPr marL="190500" marR="190500" marT="190500" marB="190500">
                    <a:lnL w="47625" cap="flat" cmpd="sng" algn="ctr">
                      <a:solidFill>
                        <a:srgbClr val="0B1320"/>
                      </a:solidFill>
                      <a:prstDash val="solid"/>
                      <a:round/>
                      <a:headEnd type="none" w="med" len="med"/>
                      <a:tailEnd type="none" w="med" len="med"/>
                    </a:lnL>
                    <a:lnR w="47625" cap="flat" cmpd="sng" algn="ctr">
                      <a:solidFill>
                        <a:srgbClr val="0B1320"/>
                      </a:solidFill>
                      <a:prstDash val="solid"/>
                      <a:round/>
                      <a:headEnd type="none" w="med" len="med"/>
                      <a:tailEnd type="none" w="med" len="med"/>
                    </a:lnR>
                    <a:lnT w="47625" cap="flat" cmpd="sng" algn="ctr">
                      <a:solidFill>
                        <a:srgbClr val="0B1320"/>
                      </a:solidFill>
                      <a:prstDash val="solid"/>
                      <a:round/>
                      <a:headEnd type="none" w="med" len="med"/>
                      <a:tailEnd type="none" w="med" len="med"/>
                    </a:lnT>
                    <a:lnB w="47625" cap="flat" cmpd="sng" algn="ctr">
                      <a:solidFill>
                        <a:srgbClr val="0B1320"/>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866775">
                <a:tc>
                  <a:txBody>
                    <a:bodyPr/>
                    <a:lstStyle/>
                    <a:p>
                      <a:pPr algn="ctr">
                        <a:lnSpc>
                          <a:spcPts val="2800"/>
                        </a:lnSpc>
                        <a:defRPr/>
                      </a:pPr>
                      <a:r>
                        <a:rPr lang="en-US" sz="2000">
                          <a:solidFill>
                            <a:srgbClr val="1C3F60"/>
                          </a:solidFill>
                          <a:latin typeface="Garet"/>
                          <a:ea typeface="Garet"/>
                          <a:cs typeface="Garet"/>
                          <a:sym typeface="Garet"/>
                        </a:rPr>
                        <a:t>Popularity</a:t>
                      </a:r>
                      <a:endParaRPr lang="en-US" sz="1100"/>
                    </a:p>
                  </a:txBody>
                  <a:tcPr marL="190500" marR="190500" marT="190500" marB="190500">
                    <a:lnL w="47625" cap="flat" cmpd="sng" algn="ctr">
                      <a:solidFill>
                        <a:srgbClr val="0B1320"/>
                      </a:solidFill>
                      <a:prstDash val="solid"/>
                      <a:round/>
                      <a:headEnd type="none" w="med" len="med"/>
                      <a:tailEnd type="none" w="med" len="med"/>
                    </a:lnL>
                    <a:lnR w="47625" cap="flat" cmpd="sng" algn="ctr">
                      <a:solidFill>
                        <a:srgbClr val="0B1320"/>
                      </a:solidFill>
                      <a:prstDash val="solid"/>
                      <a:round/>
                      <a:headEnd type="none" w="med" len="med"/>
                      <a:tailEnd type="none" w="med" len="med"/>
                    </a:lnR>
                    <a:lnT w="47625" cap="flat" cmpd="sng" algn="ctr">
                      <a:solidFill>
                        <a:srgbClr val="0B1320"/>
                      </a:solidFill>
                      <a:prstDash val="solid"/>
                      <a:round/>
                      <a:headEnd type="none" w="med" len="med"/>
                      <a:tailEnd type="none" w="med" len="med"/>
                    </a:lnT>
                    <a:lnB w="47625" cap="flat" cmpd="sng" algn="ctr">
                      <a:solidFill>
                        <a:srgbClr val="0B1320"/>
                      </a:solidFill>
                      <a:prstDash val="solid"/>
                      <a:round/>
                      <a:headEnd type="none" w="med" len="med"/>
                      <a:tailEnd type="none" w="med" len="med"/>
                    </a:lnB>
                    <a:solidFill>
                      <a:srgbClr val="F3F6FA"/>
                    </a:solidFill>
                  </a:tcPr>
                </a:tc>
                <a:tc>
                  <a:txBody>
                    <a:bodyPr/>
                    <a:lstStyle/>
                    <a:p>
                      <a:pPr algn="ctr">
                        <a:lnSpc>
                          <a:spcPts val="2800"/>
                        </a:lnSpc>
                        <a:defRPr/>
                      </a:pPr>
                      <a:r>
                        <a:rPr lang="en-US" sz="2000">
                          <a:solidFill>
                            <a:srgbClr val="1C3F60"/>
                          </a:solidFill>
                          <a:latin typeface="Garet"/>
                          <a:ea typeface="Garet"/>
                          <a:cs typeface="Garet"/>
                          <a:sym typeface="Garet"/>
                        </a:rPr>
                        <a:t> 333 </a:t>
                      </a:r>
                      <a:endParaRPr lang="en-US" sz="1100"/>
                    </a:p>
                  </a:txBody>
                  <a:tcPr marL="190500" marR="190500" marT="190500" marB="190500">
                    <a:lnL w="47625" cap="flat" cmpd="sng" algn="ctr">
                      <a:solidFill>
                        <a:srgbClr val="0B1320"/>
                      </a:solidFill>
                      <a:prstDash val="solid"/>
                      <a:round/>
                      <a:headEnd type="none" w="med" len="med"/>
                      <a:tailEnd type="none" w="med" len="med"/>
                    </a:lnL>
                    <a:lnR w="47625" cap="flat" cmpd="sng" algn="ctr">
                      <a:solidFill>
                        <a:srgbClr val="0B1320"/>
                      </a:solidFill>
                      <a:prstDash val="solid"/>
                      <a:round/>
                      <a:headEnd type="none" w="med" len="med"/>
                      <a:tailEnd type="none" w="med" len="med"/>
                    </a:lnR>
                    <a:lnT w="47625" cap="flat" cmpd="sng" algn="ctr">
                      <a:solidFill>
                        <a:srgbClr val="0B1320"/>
                      </a:solidFill>
                      <a:prstDash val="solid"/>
                      <a:round/>
                      <a:headEnd type="none" w="med" len="med"/>
                      <a:tailEnd type="none" w="med" len="med"/>
                    </a:lnT>
                    <a:lnB w="47625" cap="flat" cmpd="sng" algn="ctr">
                      <a:solidFill>
                        <a:srgbClr val="0B1320"/>
                      </a:solidFill>
                      <a:prstDash val="solid"/>
                      <a:round/>
                      <a:headEnd type="none" w="med" len="med"/>
                      <a:tailEnd type="none" w="med" len="med"/>
                    </a:lnB>
                    <a:solidFill>
                      <a:srgbClr val="F3F6FA"/>
                    </a:solidFill>
                  </a:tcPr>
                </a:tc>
                <a:extLst>
                  <a:ext uri="{0D108BD9-81ED-4DB2-BD59-A6C34878D82A}">
                    <a16:rowId xmlns:a16="http://schemas.microsoft.com/office/drawing/2014/main" val="10002"/>
                  </a:ext>
                </a:extLst>
              </a:tr>
            </a:tbl>
          </a:graphicData>
        </a:graphic>
      </p:graphicFrame>
      <p:grpSp>
        <p:nvGrpSpPr>
          <p:cNvPr id="6" name="Group 6"/>
          <p:cNvGrpSpPr/>
          <p:nvPr/>
        </p:nvGrpSpPr>
        <p:grpSpPr>
          <a:xfrm>
            <a:off x="9575983" y="5703273"/>
            <a:ext cx="6706544" cy="4312720"/>
            <a:chOff x="0" y="0"/>
            <a:chExt cx="2778069" cy="1786469"/>
          </a:xfrm>
        </p:grpSpPr>
        <p:sp>
          <p:nvSpPr>
            <p:cNvPr id="7" name="Freeform 7"/>
            <p:cNvSpPr/>
            <p:nvPr/>
          </p:nvSpPr>
          <p:spPr>
            <a:xfrm>
              <a:off x="0" y="0"/>
              <a:ext cx="2778069" cy="1786469"/>
            </a:xfrm>
            <a:custGeom>
              <a:avLst/>
              <a:gdLst/>
              <a:ahLst/>
              <a:cxnLst/>
              <a:rect l="l" t="t" r="r" b="b"/>
              <a:pathLst>
                <a:path w="2778069" h="1786469">
                  <a:moveTo>
                    <a:pt x="0" y="0"/>
                  </a:moveTo>
                  <a:lnTo>
                    <a:pt x="2778069" y="0"/>
                  </a:lnTo>
                  <a:lnTo>
                    <a:pt x="2778069" y="1786469"/>
                  </a:lnTo>
                  <a:lnTo>
                    <a:pt x="0" y="1786469"/>
                  </a:lnTo>
                  <a:close/>
                </a:path>
              </a:pathLst>
            </a:custGeom>
            <a:blipFill>
              <a:blip r:embed="rId3"/>
              <a:stretch>
                <a:fillRect t="-3746" b="-3746"/>
              </a:stretch>
            </a:blipFill>
          </p:spPr>
          <p:txBody>
            <a:bodyPr/>
            <a:lstStyle/>
            <a:p>
              <a:endParaRPr lang="en-US"/>
            </a:p>
          </p:txBody>
        </p:sp>
      </p:grpSp>
      <p:grpSp>
        <p:nvGrpSpPr>
          <p:cNvPr id="8" name="Group 8"/>
          <p:cNvGrpSpPr/>
          <p:nvPr/>
        </p:nvGrpSpPr>
        <p:grpSpPr>
          <a:xfrm>
            <a:off x="1106735" y="5703273"/>
            <a:ext cx="7127976" cy="4583727"/>
            <a:chOff x="0" y="0"/>
            <a:chExt cx="2778069" cy="1786469"/>
          </a:xfrm>
        </p:grpSpPr>
        <p:sp>
          <p:nvSpPr>
            <p:cNvPr id="9" name="Freeform 9"/>
            <p:cNvSpPr/>
            <p:nvPr/>
          </p:nvSpPr>
          <p:spPr>
            <a:xfrm>
              <a:off x="0" y="0"/>
              <a:ext cx="2778069" cy="1786469"/>
            </a:xfrm>
            <a:custGeom>
              <a:avLst/>
              <a:gdLst/>
              <a:ahLst/>
              <a:cxnLst/>
              <a:rect l="l" t="t" r="r" b="b"/>
              <a:pathLst>
                <a:path w="2778069" h="1786469">
                  <a:moveTo>
                    <a:pt x="0" y="0"/>
                  </a:moveTo>
                  <a:lnTo>
                    <a:pt x="2778069" y="0"/>
                  </a:lnTo>
                  <a:lnTo>
                    <a:pt x="2778069" y="1786469"/>
                  </a:lnTo>
                  <a:lnTo>
                    <a:pt x="0" y="1786469"/>
                  </a:lnTo>
                  <a:close/>
                </a:path>
              </a:pathLst>
            </a:custGeom>
            <a:blipFill>
              <a:blip r:embed="rId4"/>
              <a:stretch>
                <a:fillRect l="-141" r="-141"/>
              </a:stretch>
            </a:blipFill>
          </p:spPr>
          <p:txBody>
            <a:bodyPr/>
            <a:lstStyle/>
            <a:p>
              <a:endParaRPr lang="en-US"/>
            </a:p>
          </p:txBody>
        </p:sp>
      </p:gr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6</a:t>
            </a:r>
          </a:p>
        </p:txBody>
      </p:sp>
      <p:sp>
        <p:nvSpPr>
          <p:cNvPr id="11" name="TextBox 11"/>
          <p:cNvSpPr txBox="1"/>
          <p:nvPr/>
        </p:nvSpPr>
        <p:spPr>
          <a:xfrm>
            <a:off x="181504" y="1619250"/>
            <a:ext cx="9394479" cy="4826001"/>
          </a:xfrm>
          <a:prstGeom prst="rect">
            <a:avLst/>
          </a:prstGeom>
        </p:spPr>
        <p:txBody>
          <a:bodyPr lIns="0" tIns="0" rIns="0" bIns="0" rtlCol="0" anchor="t">
            <a:spAutoFit/>
          </a:bodyPr>
          <a:lstStyle/>
          <a:p>
            <a:pPr algn="l">
              <a:lnSpc>
                <a:spcPts val="5440"/>
              </a:lnSpc>
            </a:pPr>
            <a:endParaRPr/>
          </a:p>
          <a:p>
            <a:pPr marL="690880" lvl="1" indent="-345440" algn="l">
              <a:lnSpc>
                <a:spcPts val="5440"/>
              </a:lnSpc>
              <a:buFont typeface="Arial" panose="020B0604020202020204"/>
              <a:buChar char="•"/>
            </a:pPr>
            <a:r>
              <a:rPr lang="en-US" sz="3200">
                <a:solidFill>
                  <a:srgbClr val="0B1320"/>
                </a:solidFill>
                <a:latin typeface="Calibri (MS)" panose="020F0502020204030204"/>
                <a:ea typeface="Calibri (MS)" panose="020F0502020204030204"/>
                <a:cs typeface="Calibri (MS)" panose="020F0502020204030204"/>
                <a:sym typeface="Calibri (MS)" panose="020F0502020204030204"/>
              </a:rPr>
              <a:t>Dữ liệu thiếu và không đồng nhất</a:t>
            </a:r>
          </a:p>
          <a:p>
            <a:pPr marL="690880" lvl="1" indent="-345440" algn="l">
              <a:lnSpc>
                <a:spcPts val="5440"/>
              </a:lnSpc>
              <a:buFont typeface="Arial" panose="020B0604020202020204"/>
              <a:buChar char="•"/>
            </a:pPr>
            <a:r>
              <a:rPr lang="en-US" sz="3200">
                <a:solidFill>
                  <a:srgbClr val="0B1320"/>
                </a:solidFill>
                <a:latin typeface="Calibri (MS)" panose="020F0502020204030204"/>
                <a:ea typeface="Calibri (MS)" panose="020F0502020204030204"/>
                <a:cs typeface="Calibri (MS)" panose="020F0502020204030204"/>
                <a:sym typeface="Calibri (MS)" panose="020F0502020204030204"/>
              </a:rPr>
              <a:t>Nguy cơ overfitting với mô hình phức tạp</a:t>
            </a:r>
          </a:p>
          <a:p>
            <a:pPr marL="690880" lvl="1" indent="-345440" algn="l">
              <a:lnSpc>
                <a:spcPts val="5440"/>
              </a:lnSpc>
              <a:buFont typeface="Arial" panose="020B0604020202020204"/>
              <a:buChar char="•"/>
            </a:pPr>
            <a:r>
              <a:rPr lang="en-US" sz="3200">
                <a:solidFill>
                  <a:srgbClr val="0B1320"/>
                </a:solidFill>
                <a:latin typeface="Calibri (MS)" panose="020F0502020204030204"/>
                <a:ea typeface="Calibri (MS)" panose="020F0502020204030204"/>
                <a:cs typeface="Calibri (MS)" panose="020F0502020204030204"/>
                <a:sym typeface="Calibri (MS)" panose="020F0502020204030204"/>
              </a:rPr>
              <a:t> Nhiều đặc trưng mang tính liên tục và tương quan cao</a:t>
            </a:r>
          </a:p>
          <a:p>
            <a:pPr marL="690880" lvl="1" indent="-345440" algn="l">
              <a:lnSpc>
                <a:spcPts val="5440"/>
              </a:lnSpc>
              <a:buFont typeface="Arial" panose="020B0604020202020204"/>
              <a:buChar char="•"/>
            </a:pPr>
            <a:r>
              <a:rPr lang="en-US" sz="3200">
                <a:solidFill>
                  <a:srgbClr val="0B1320"/>
                </a:solidFill>
                <a:latin typeface="Calibri (MS)" panose="020F0502020204030204"/>
                <a:ea typeface="Calibri (MS)" panose="020F0502020204030204"/>
                <a:cs typeface="Calibri (MS)" panose="020F0502020204030204"/>
                <a:sym typeface="Calibri (MS)" panose="020F0502020204030204"/>
              </a:rPr>
              <a:t>Dữ liệu có nhiễu và biến động lớn</a:t>
            </a:r>
          </a:p>
          <a:p>
            <a:pPr marL="0" lvl="0" indent="0" algn="l">
              <a:lnSpc>
                <a:spcPts val="5440"/>
              </a:lnSpc>
            </a:pPr>
            <a:endParaRPr lang="en-US" sz="3200">
              <a:solidFill>
                <a:srgbClr val="0B1320"/>
              </a:solidFill>
              <a:latin typeface="Calibri (MS)" panose="020F0502020204030204"/>
              <a:ea typeface="Calibri (MS)" panose="020F0502020204030204"/>
              <a:cs typeface="Calibri (MS)" panose="020F0502020204030204"/>
              <a:sym typeface="Calibri (MS)" panose="020F0502020204030204"/>
            </a:endParaRPr>
          </a:p>
        </p:txBody>
      </p:sp>
      <p:sp>
        <p:nvSpPr>
          <p:cNvPr id="12" name="TextBox 12"/>
          <p:cNvSpPr txBox="1"/>
          <p:nvPr/>
        </p:nvSpPr>
        <p:spPr>
          <a:xfrm>
            <a:off x="1028700" y="914400"/>
            <a:ext cx="6453673"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1. Giới thiệu</a:t>
            </a:r>
          </a:p>
        </p:txBody>
      </p:sp>
      <p:sp>
        <p:nvSpPr>
          <p:cNvPr id="13" name="TextBox 13"/>
          <p:cNvSpPr txBox="1"/>
          <p:nvPr/>
        </p:nvSpPr>
        <p:spPr>
          <a:xfrm>
            <a:off x="1106735" y="1762125"/>
            <a:ext cx="2398465" cy="551433"/>
          </a:xfrm>
          <a:prstGeom prst="rect">
            <a:avLst/>
          </a:prstGeom>
        </p:spPr>
        <p:txBody>
          <a:bodyPr wrap="square" lIns="0" tIns="0" rIns="0" bIns="0" rtlCol="0" anchor="t">
            <a:spAutoFit/>
          </a:bodyPr>
          <a:lstStyle/>
          <a:p>
            <a:pPr algn="ctr">
              <a:lnSpc>
                <a:spcPts val="4320"/>
              </a:lnSpc>
              <a:spcBef>
                <a:spcPct val="0"/>
              </a:spcBef>
            </a:pP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Thách</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thức</a:t>
            </a:r>
            <a:endPar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endParaRPr>
          </a:p>
        </p:txBody>
      </p:sp>
      <p:sp>
        <p:nvSpPr>
          <p:cNvPr id="14" name="TextBox 14"/>
          <p:cNvSpPr txBox="1"/>
          <p:nvPr/>
        </p:nvSpPr>
        <p:spPr>
          <a:xfrm>
            <a:off x="9975143" y="1895286"/>
            <a:ext cx="4223427" cy="693927"/>
          </a:xfrm>
          <a:prstGeom prst="rect">
            <a:avLst/>
          </a:prstGeom>
        </p:spPr>
        <p:txBody>
          <a:bodyPr lIns="0" tIns="0" rIns="0" bIns="0" rtlCol="0" anchor="t">
            <a:spAutoFit/>
          </a:bodyPr>
          <a:lstStyle/>
          <a:p>
            <a:pPr marL="0" lvl="0" indent="0" algn="l">
              <a:lnSpc>
                <a:spcPts val="5350"/>
              </a:lnSpc>
            </a:pPr>
            <a:r>
              <a:rPr lang="en-US" sz="3150" b="1">
                <a:solidFill>
                  <a:srgbClr val="0B1320"/>
                </a:solidFill>
                <a:latin typeface="Calibri (MS) Bold" panose="020F0702030404030204"/>
                <a:ea typeface="Calibri (MS) Bold" panose="020F0702030404030204"/>
                <a:cs typeface="Calibri (MS) Bold" panose="020F0702030404030204"/>
                <a:sym typeface="Calibri (MS) Bold" panose="020F0702030404030204"/>
              </a:rPr>
              <a:t>Các cột có giá trị bị thiếu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sp>
        <p:nvSpPr>
          <p:cNvPr id="5" name="TextBox 5"/>
          <p:cNvSpPr txBox="1"/>
          <p:nvPr/>
        </p:nvSpPr>
        <p:spPr>
          <a:xfrm>
            <a:off x="1028700" y="914400"/>
            <a:ext cx="7351664"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2. Các công việc liên quan</a:t>
            </a:r>
          </a:p>
        </p:txBody>
      </p:sp>
      <p:sp>
        <p:nvSpPr>
          <p:cNvPr id="6" name="TextBox 6"/>
          <p:cNvSpPr txBox="1"/>
          <p:nvPr/>
        </p:nvSpPr>
        <p:spPr>
          <a:xfrm>
            <a:off x="927140" y="2048151"/>
            <a:ext cx="2501860" cy="551433"/>
          </a:xfrm>
          <a:prstGeom prst="rect">
            <a:avLst/>
          </a:prstGeom>
        </p:spPr>
        <p:txBody>
          <a:bodyPr wrap="square" lIns="0" tIns="0" rIns="0" bIns="0" rtlCol="0" anchor="t">
            <a:spAutoFit/>
          </a:bodyPr>
          <a:lstStyle/>
          <a:p>
            <a:pPr algn="ctr">
              <a:lnSpc>
                <a:spcPts val="4320"/>
              </a:lnSpc>
              <a:spcBef>
                <a:spcPct val="0"/>
              </a:spcBef>
            </a:pP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Các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mô</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hình</a:t>
            </a:r>
            <a:endPar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endParaRPr>
          </a:p>
        </p:txBody>
      </p:sp>
      <p:sp>
        <p:nvSpPr>
          <p:cNvPr id="9" name="TextBox 9"/>
          <p:cNvSpPr txBox="1"/>
          <p:nvPr/>
        </p:nvSpPr>
        <p:spPr>
          <a:xfrm>
            <a:off x="3086100" y="8101965"/>
            <a:ext cx="12828270" cy="1225550"/>
          </a:xfrm>
          <a:prstGeom prst="rect">
            <a:avLst/>
          </a:prstGeom>
        </p:spPr>
        <p:txBody>
          <a:bodyPr wrap="square" lIns="0" tIns="0" rIns="0" bIns="0" rtlCol="0" anchor="t">
            <a:spAutoFit/>
          </a:bodyPr>
          <a:lstStyle/>
          <a:p>
            <a:pPr algn="ctr">
              <a:lnSpc>
                <a:spcPts val="4780"/>
              </a:lnSpc>
            </a:pPr>
            <a:r>
              <a:rPr lang="en-US" sz="3415">
                <a:solidFill>
                  <a:srgbClr val="000000"/>
                </a:solidFill>
                <a:latin typeface="Calibri (MS)" panose="020F0502020204030204"/>
                <a:ea typeface="Calibri (MS)" panose="020F0502020204030204"/>
                <a:cs typeface="Calibri (MS)" panose="020F0502020204030204"/>
                <a:sym typeface="Calibri (MS)" panose="020F0502020204030204"/>
              </a:rPr>
              <a:t>LightGBM: </a:t>
            </a:r>
            <a:r>
              <a:rPr lang="en-US" altLang="en-US" sz="3415">
                <a:solidFill>
                  <a:srgbClr val="000000"/>
                </a:solidFill>
                <a:latin typeface="Calibri (MS)" panose="020F0502020204030204"/>
                <a:ea typeface="Calibri (MS)" panose="020F0502020204030204"/>
                <a:cs typeface="Calibri (MS)" panose="020F0502020204030204"/>
                <a:sym typeface="Calibri (MS)" panose="020F0502020204030204"/>
              </a:rPr>
              <a:t>phiên bản cải tiến của thuật toán Gradient Boosting, giúp tối </a:t>
            </a:r>
            <a:r>
              <a:rPr lang="" altLang="en-US" sz="3415">
                <a:solidFill>
                  <a:srgbClr val="000000"/>
                </a:solidFill>
                <a:latin typeface="Calibri (MS)" panose="020F0502020204030204"/>
                <a:ea typeface="Calibri (MS)" panose="020F0502020204030204"/>
                <a:cs typeface="Calibri (MS)" panose="020F0502020204030204"/>
                <a:sym typeface="Calibri (MS)" panose="020F0502020204030204"/>
              </a:rPr>
              <a:t>ư</a:t>
            </a:r>
            <a:r>
              <a:rPr lang="en-US" altLang="en-US" sz="3415">
                <a:solidFill>
                  <a:srgbClr val="000000"/>
                </a:solidFill>
                <a:latin typeface="Calibri (MS)" panose="020F0502020204030204"/>
                <a:ea typeface="Calibri (MS)" panose="020F0502020204030204"/>
                <a:cs typeface="Calibri (MS)" panose="020F0502020204030204"/>
                <a:sym typeface="Calibri (MS)" panose="020F0502020204030204"/>
              </a:rPr>
              <a:t>u hóa tốc </a:t>
            </a:r>
            <a:r>
              <a:rPr lang="" altLang="en-US" sz="3415">
                <a:solidFill>
                  <a:srgbClr val="000000"/>
                </a:solidFill>
                <a:latin typeface="Calibri (MS)" panose="020F0502020204030204"/>
                <a:ea typeface="Calibri (MS)" panose="020F0502020204030204"/>
                <a:cs typeface="Calibri (MS)" panose="020F0502020204030204"/>
                <a:sym typeface="Calibri (MS)" panose="020F0502020204030204"/>
              </a:rPr>
              <a:t>đ</a:t>
            </a:r>
            <a:r>
              <a:rPr lang="en-US" altLang="en-US" sz="3415">
                <a:solidFill>
                  <a:srgbClr val="000000"/>
                </a:solidFill>
                <a:latin typeface="Calibri (MS)" panose="020F0502020204030204"/>
                <a:ea typeface="Calibri (MS)" panose="020F0502020204030204"/>
                <a:cs typeface="Calibri (MS)" panose="020F0502020204030204"/>
                <a:sym typeface="Calibri (MS)" panose="020F0502020204030204"/>
              </a:rPr>
              <a:t>ộ huấn luyện và giảm thiểu bộ nhớ cần thiết</a:t>
            </a:r>
          </a:p>
        </p:txBody>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7</a:t>
            </a:r>
          </a:p>
        </p:txBody>
      </p:sp>
      <p:pic>
        <p:nvPicPr>
          <p:cNvPr id="16" name="Picture 15"/>
          <p:cNvPicPr/>
          <p:nvPr/>
        </p:nvPicPr>
        <p:blipFill>
          <a:blip r:embed="rId3"/>
          <a:stretch>
            <a:fillRect/>
          </a:stretch>
        </p:blipFill>
        <p:spPr>
          <a:xfrm>
            <a:off x="5029200" y="2781300"/>
            <a:ext cx="9020810" cy="51384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sp>
        <p:nvSpPr>
          <p:cNvPr id="5" name="TextBox 5"/>
          <p:cNvSpPr txBox="1"/>
          <p:nvPr/>
        </p:nvSpPr>
        <p:spPr>
          <a:xfrm>
            <a:off x="1028700" y="914400"/>
            <a:ext cx="7351664"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2. Các công việc liên quan</a:t>
            </a:r>
          </a:p>
        </p:txBody>
      </p:sp>
      <p:sp>
        <p:nvSpPr>
          <p:cNvPr id="6" name="TextBox 6"/>
          <p:cNvSpPr txBox="1"/>
          <p:nvPr/>
        </p:nvSpPr>
        <p:spPr>
          <a:xfrm>
            <a:off x="927140" y="2048151"/>
            <a:ext cx="2501860" cy="551433"/>
          </a:xfrm>
          <a:prstGeom prst="rect">
            <a:avLst/>
          </a:prstGeom>
        </p:spPr>
        <p:txBody>
          <a:bodyPr wrap="square" lIns="0" tIns="0" rIns="0" bIns="0" rtlCol="0" anchor="t">
            <a:spAutoFit/>
          </a:bodyPr>
          <a:lstStyle/>
          <a:p>
            <a:pPr algn="ctr">
              <a:lnSpc>
                <a:spcPts val="4320"/>
              </a:lnSpc>
              <a:spcBef>
                <a:spcPct val="0"/>
              </a:spcBef>
            </a:pP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Các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mô</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hình</a:t>
            </a:r>
            <a:endPar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endParaRP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8</a:t>
            </a:r>
          </a:p>
        </p:txBody>
      </p:sp>
      <p:grpSp>
        <p:nvGrpSpPr>
          <p:cNvPr id="8" name="Group 8"/>
          <p:cNvGrpSpPr/>
          <p:nvPr/>
        </p:nvGrpSpPr>
        <p:grpSpPr>
          <a:xfrm>
            <a:off x="9748970" y="2548075"/>
            <a:ext cx="7815844" cy="4949636"/>
            <a:chOff x="0" y="0"/>
            <a:chExt cx="1737157" cy="1100111"/>
          </a:xfrm>
        </p:grpSpPr>
        <p:sp>
          <p:nvSpPr>
            <p:cNvPr id="9" name="Freeform 9"/>
            <p:cNvSpPr/>
            <p:nvPr/>
          </p:nvSpPr>
          <p:spPr>
            <a:xfrm>
              <a:off x="0" y="0"/>
              <a:ext cx="1737157" cy="1100111"/>
            </a:xfrm>
            <a:custGeom>
              <a:avLst/>
              <a:gdLst/>
              <a:ahLst/>
              <a:cxnLst/>
              <a:rect l="l" t="t" r="r" b="b"/>
              <a:pathLst>
                <a:path w="1737157" h="1100111">
                  <a:moveTo>
                    <a:pt x="0" y="0"/>
                  </a:moveTo>
                  <a:lnTo>
                    <a:pt x="1737157" y="0"/>
                  </a:lnTo>
                  <a:lnTo>
                    <a:pt x="1737157" y="1100111"/>
                  </a:lnTo>
                  <a:lnTo>
                    <a:pt x="0" y="1100111"/>
                  </a:lnTo>
                  <a:close/>
                </a:path>
              </a:pathLst>
            </a:custGeom>
            <a:blipFill>
              <a:blip r:embed="rId3"/>
              <a:stretch>
                <a:fillRect t="-470" b="-470"/>
              </a:stretch>
            </a:blipFill>
          </p:spPr>
          <p:txBody>
            <a:bodyPr/>
            <a:lstStyle/>
            <a:p>
              <a:endParaRPr lang="en-US"/>
            </a:p>
          </p:txBody>
        </p:sp>
      </p:grpSp>
      <p:sp>
        <p:nvSpPr>
          <p:cNvPr id="10" name="TextBox 10"/>
          <p:cNvSpPr txBox="1"/>
          <p:nvPr/>
        </p:nvSpPr>
        <p:spPr>
          <a:xfrm>
            <a:off x="9144000" y="7406662"/>
            <a:ext cx="8785034" cy="1910934"/>
          </a:xfrm>
          <a:prstGeom prst="rect">
            <a:avLst/>
          </a:prstGeom>
        </p:spPr>
        <p:txBody>
          <a:bodyPr lIns="0" tIns="0" rIns="0" bIns="0" rtlCol="0" anchor="t">
            <a:spAutoFit/>
          </a:bodyPr>
          <a:lstStyle/>
          <a:p>
            <a:pPr algn="ctr">
              <a:lnSpc>
                <a:spcPts val="4920"/>
              </a:lnSpc>
            </a:pPr>
            <a:r>
              <a:rPr lang="en-US" sz="3515">
                <a:solidFill>
                  <a:srgbClr val="000000"/>
                </a:solidFill>
                <a:latin typeface="Calibri (MS)" panose="020F0502020204030204"/>
                <a:ea typeface="Calibri (MS)" panose="020F0502020204030204"/>
                <a:cs typeface="Calibri (MS)" panose="020F0502020204030204"/>
                <a:sym typeface="Calibri (MS)" panose="020F0502020204030204"/>
              </a:rPr>
              <a:t>XGBoost: Tối ưu hóa từ GB, nhanh, có regularization, xử lý missing tốt</a:t>
            </a:r>
          </a:p>
          <a:p>
            <a:pPr algn="ctr">
              <a:lnSpc>
                <a:spcPts val="4920"/>
              </a:lnSpc>
            </a:pPr>
            <a:endParaRPr lang="en-US" sz="3515">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nvGrpSpPr>
          <p:cNvPr id="11" name="Group 11"/>
          <p:cNvGrpSpPr/>
          <p:nvPr/>
        </p:nvGrpSpPr>
        <p:grpSpPr>
          <a:xfrm>
            <a:off x="936665" y="2768138"/>
            <a:ext cx="7220525" cy="5207067"/>
            <a:chOff x="0" y="0"/>
            <a:chExt cx="1525499" cy="1100111"/>
          </a:xfrm>
        </p:grpSpPr>
        <p:sp>
          <p:nvSpPr>
            <p:cNvPr id="12" name="Freeform 12"/>
            <p:cNvSpPr/>
            <p:nvPr/>
          </p:nvSpPr>
          <p:spPr>
            <a:xfrm>
              <a:off x="0" y="0"/>
              <a:ext cx="1525499" cy="1100111"/>
            </a:xfrm>
            <a:custGeom>
              <a:avLst/>
              <a:gdLst/>
              <a:ahLst/>
              <a:cxnLst/>
              <a:rect l="l" t="t" r="r" b="b"/>
              <a:pathLst>
                <a:path w="1525499" h="1100111">
                  <a:moveTo>
                    <a:pt x="0" y="0"/>
                  </a:moveTo>
                  <a:lnTo>
                    <a:pt x="1525499" y="0"/>
                  </a:lnTo>
                  <a:lnTo>
                    <a:pt x="1525499" y="1100111"/>
                  </a:lnTo>
                  <a:lnTo>
                    <a:pt x="0" y="1100111"/>
                  </a:lnTo>
                  <a:close/>
                </a:path>
              </a:pathLst>
            </a:custGeom>
            <a:blipFill>
              <a:blip r:embed="rId4"/>
              <a:stretch>
                <a:fillRect l="-22114" r="-22114"/>
              </a:stretch>
            </a:blipFill>
          </p:spPr>
          <p:txBody>
            <a:bodyPr/>
            <a:lstStyle/>
            <a:p>
              <a:endParaRPr lang="en-US"/>
            </a:p>
          </p:txBody>
        </p:sp>
      </p:grpSp>
      <p:sp>
        <p:nvSpPr>
          <p:cNvPr id="13" name="TextBox 13"/>
          <p:cNvSpPr txBox="1"/>
          <p:nvPr/>
        </p:nvSpPr>
        <p:spPr>
          <a:xfrm>
            <a:off x="927140" y="8070456"/>
            <a:ext cx="6831471" cy="1247140"/>
          </a:xfrm>
          <a:prstGeom prst="rect">
            <a:avLst/>
          </a:prstGeom>
        </p:spPr>
        <p:txBody>
          <a:bodyPr lIns="0" tIns="0" rIns="0" bIns="0" rtlCol="0" anchor="t">
            <a:spAutoFit/>
          </a:bodyPr>
          <a:lstStyle/>
          <a:p>
            <a:pPr algn="ctr">
              <a:lnSpc>
                <a:spcPts val="4760"/>
              </a:lnSpc>
            </a:pPr>
            <a:r>
              <a:rPr lang="en-US" sz="3400">
                <a:solidFill>
                  <a:srgbClr val="000000"/>
                </a:solidFill>
                <a:latin typeface="Calibri (MS)" panose="020F0502020204030204"/>
                <a:ea typeface="Calibri (MS)" panose="020F0502020204030204"/>
                <a:cs typeface="Calibri (MS)" panose="020F0502020204030204"/>
                <a:sym typeface="Calibri (MS)" panose="020F0502020204030204"/>
              </a:rPr>
              <a:t>CatBoost: Boosting tối ưu cho dữ liệu phân loại, tự xử lý categorical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952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sp>
        <p:nvSpPr>
          <p:cNvPr id="5" name="TextBox 5"/>
          <p:cNvSpPr txBox="1"/>
          <p:nvPr/>
        </p:nvSpPr>
        <p:spPr>
          <a:xfrm>
            <a:off x="1028700" y="914400"/>
            <a:ext cx="7351664"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2. Các công việc liên quan</a:t>
            </a:r>
          </a:p>
        </p:txBody>
      </p:sp>
      <p:sp>
        <p:nvSpPr>
          <p:cNvPr id="6" name="TextBox 6"/>
          <p:cNvSpPr txBox="1"/>
          <p:nvPr/>
        </p:nvSpPr>
        <p:spPr>
          <a:xfrm>
            <a:off x="1028700" y="2119045"/>
            <a:ext cx="6454370" cy="628650"/>
          </a:xfrm>
          <a:prstGeom prst="rect">
            <a:avLst/>
          </a:prstGeom>
        </p:spPr>
        <p:txBody>
          <a:bodyPr lIns="0" tIns="0" rIns="0" bIns="0" rtlCol="0" anchor="t">
            <a:spAutoFit/>
          </a:bodyPr>
          <a:lstStyle/>
          <a:p>
            <a:pPr algn="ctr">
              <a:lnSpc>
                <a:spcPts val="4320"/>
              </a:lnSpc>
              <a:spcBef>
                <a:spcPct val="0"/>
              </a:spcBef>
            </a:pP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Các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kỹ</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thuật</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tiền</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xử</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lý</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dữ</a:t>
            </a:r>
            <a:r>
              <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rPr>
              <a:t> </a:t>
            </a:r>
            <a:r>
              <a:rPr lang="en-US" sz="3600" b="1" dirty="0" err="1">
                <a:solidFill>
                  <a:srgbClr val="1C3F60"/>
                </a:solidFill>
                <a:latin typeface="Calibri (MS) Bold" panose="020F0702030404030204"/>
                <a:ea typeface="Calibri (MS) Bold" panose="020F0702030404030204"/>
                <a:cs typeface="Calibri (MS) Bold" panose="020F0702030404030204"/>
                <a:sym typeface="Calibri (MS) Bold" panose="020F0702030404030204"/>
              </a:rPr>
              <a:t>liệu</a:t>
            </a:r>
            <a:endParaRPr lang="en-US" sz="3600" b="1" dirty="0">
              <a:solidFill>
                <a:srgbClr val="1C3F60"/>
              </a:solidFill>
              <a:latin typeface="Calibri (MS) Bold" panose="020F0702030404030204"/>
              <a:ea typeface="Calibri (MS) Bold" panose="020F0702030404030204"/>
              <a:cs typeface="Calibri (MS) Bold" panose="020F0702030404030204"/>
              <a:sym typeface="Calibri (MS) Bold" panose="020F0702030404030204"/>
            </a:endParaRPr>
          </a:p>
        </p:txBody>
      </p:sp>
      <p:grpSp>
        <p:nvGrpSpPr>
          <p:cNvPr id="7" name="Group 7"/>
          <p:cNvGrpSpPr/>
          <p:nvPr/>
        </p:nvGrpSpPr>
        <p:grpSpPr>
          <a:xfrm>
            <a:off x="1028700" y="3478221"/>
            <a:ext cx="8386477" cy="4138880"/>
            <a:chOff x="0" y="0"/>
            <a:chExt cx="1852516" cy="914250"/>
          </a:xfrm>
        </p:grpSpPr>
        <p:sp>
          <p:nvSpPr>
            <p:cNvPr id="8" name="Freeform 8"/>
            <p:cNvSpPr/>
            <p:nvPr/>
          </p:nvSpPr>
          <p:spPr>
            <a:xfrm>
              <a:off x="0" y="0"/>
              <a:ext cx="1852516" cy="914250"/>
            </a:xfrm>
            <a:custGeom>
              <a:avLst/>
              <a:gdLst/>
              <a:ahLst/>
              <a:cxnLst/>
              <a:rect l="l" t="t" r="r" b="b"/>
              <a:pathLst>
                <a:path w="1852516" h="914250">
                  <a:moveTo>
                    <a:pt x="0" y="0"/>
                  </a:moveTo>
                  <a:lnTo>
                    <a:pt x="1852516" y="0"/>
                  </a:lnTo>
                  <a:lnTo>
                    <a:pt x="1852516" y="914250"/>
                  </a:lnTo>
                  <a:lnTo>
                    <a:pt x="0" y="914250"/>
                  </a:lnTo>
                  <a:close/>
                </a:path>
              </a:pathLst>
            </a:custGeom>
            <a:blipFill>
              <a:blip r:embed="rId3"/>
              <a:stretch>
                <a:fillRect t="-8888" b="-8888"/>
              </a:stretch>
            </a:blipFill>
          </p:spPr>
          <p:txBody>
            <a:bodyPr/>
            <a:lstStyle/>
            <a:p>
              <a:endParaRPr lang="en-US"/>
            </a:p>
          </p:txBody>
        </p:sp>
      </p:grpSp>
      <p:sp>
        <p:nvSpPr>
          <p:cNvPr id="9" name="TextBox 9"/>
          <p:cNvSpPr txBox="1"/>
          <p:nvPr/>
        </p:nvSpPr>
        <p:spPr>
          <a:xfrm>
            <a:off x="9825851" y="2949234"/>
            <a:ext cx="7764090" cy="6047740"/>
          </a:xfrm>
          <a:prstGeom prst="rect">
            <a:avLst/>
          </a:prstGeom>
        </p:spPr>
        <p:txBody>
          <a:bodyPr lIns="0" tIns="0" rIns="0" bIns="0" rtlCol="0" anchor="t">
            <a:spAutoFit/>
          </a:bodyPr>
          <a:lstStyle/>
          <a:p>
            <a:pPr algn="just">
              <a:lnSpc>
                <a:spcPts val="4760"/>
              </a:lnSpc>
            </a:pPr>
            <a:r>
              <a:rPr lang="en-US" sz="3400" b="1">
                <a:solidFill>
                  <a:srgbClr val="000000"/>
                </a:solidFill>
                <a:latin typeface="Calibri (MS) Bold" panose="020F0702030404030204"/>
                <a:ea typeface="Calibri (MS) Bold" panose="020F0702030404030204"/>
                <a:cs typeface="Calibri (MS) Bold" panose="020F0702030404030204"/>
                <a:sym typeface="Calibri (MS) Bold" panose="020F0702030404030204"/>
              </a:rPr>
              <a:t>Mục tiêu:</a:t>
            </a:r>
          </a:p>
          <a:p>
            <a:pPr algn="just">
              <a:lnSpc>
                <a:spcPts val="4760"/>
              </a:lnSpc>
            </a:pPr>
            <a:r>
              <a:rPr lang="en-US" sz="3400">
                <a:solidFill>
                  <a:srgbClr val="000000"/>
                </a:solidFill>
                <a:latin typeface="Calibri (MS)" panose="020F0502020204030204"/>
                <a:ea typeface="Calibri (MS)" panose="020F0502020204030204"/>
                <a:cs typeface="Calibri (MS)" panose="020F0502020204030204"/>
                <a:sym typeface="Calibri (MS)" panose="020F0502020204030204"/>
              </a:rPr>
              <a:t>Xử lý các giá trị Missing trong data sao cho dữ liệu không còn giá trị thiếu (NaN) trước khi encode / scale.</a:t>
            </a:r>
          </a:p>
          <a:p>
            <a:pPr marL="734060" lvl="1" indent="-367030" algn="just">
              <a:lnSpc>
                <a:spcPts val="4760"/>
              </a:lnSpc>
              <a:buFont typeface="Arial" panose="020B0604020202020204"/>
              <a:buChar char="•"/>
            </a:pPr>
            <a:r>
              <a:rPr lang="en-US" sz="3400">
                <a:solidFill>
                  <a:srgbClr val="000000"/>
                </a:solidFill>
                <a:latin typeface="Calibri (MS)" panose="020F0502020204030204"/>
                <a:ea typeface="Calibri (MS)" panose="020F0502020204030204"/>
                <a:cs typeface="Calibri (MS)" panose="020F0502020204030204"/>
                <a:sym typeface="Calibri (MS)" panose="020F0502020204030204"/>
              </a:rPr>
              <a:t>Numeric features → điền bằng median (trung vị)</a:t>
            </a:r>
          </a:p>
          <a:p>
            <a:pPr marL="734060" lvl="1" indent="-367030" algn="just">
              <a:lnSpc>
                <a:spcPts val="4760"/>
              </a:lnSpc>
              <a:buFont typeface="Arial" panose="020B0604020202020204"/>
              <a:buChar char="•"/>
            </a:pPr>
            <a:r>
              <a:rPr lang="en-US" sz="3400">
                <a:solidFill>
                  <a:srgbClr val="000000"/>
                </a:solidFill>
                <a:latin typeface="Calibri (MS)" panose="020F0502020204030204"/>
                <a:ea typeface="Calibri (MS)" panose="020F0502020204030204"/>
                <a:cs typeface="Calibri (MS)" panose="020F0502020204030204"/>
                <a:sym typeface="Calibri (MS)" panose="020F0502020204030204"/>
              </a:rPr>
              <a:t>Categorical features → điền bằng "None"</a:t>
            </a:r>
          </a:p>
          <a:p>
            <a:pPr marL="734060" lvl="1" indent="-367030" algn="just">
              <a:lnSpc>
                <a:spcPts val="4760"/>
              </a:lnSpc>
              <a:buFont typeface="Arial" panose="020B0604020202020204"/>
              <a:buChar char="•"/>
            </a:pPr>
            <a:r>
              <a:rPr lang="en-US" sz="3400">
                <a:solidFill>
                  <a:srgbClr val="000000"/>
                </a:solidFill>
                <a:latin typeface="Calibri (MS)" panose="020F0502020204030204"/>
                <a:ea typeface="Calibri (MS)" panose="020F0502020204030204"/>
                <a:cs typeface="Calibri (MS)" panose="020F0502020204030204"/>
                <a:sym typeface="Calibri (MS)" panose="020F0502020204030204"/>
              </a:rPr>
              <a:t>Sử dụng SimpleImputer từ sklearn</a:t>
            </a:r>
          </a:p>
          <a:p>
            <a:pPr algn="just">
              <a:lnSpc>
                <a:spcPts val="4760"/>
              </a:lnSpc>
            </a:pPr>
            <a:endParaRPr lang="en-US" sz="3400">
              <a:solidFill>
                <a:srgbClr val="000000"/>
              </a:solidFill>
              <a:latin typeface="Calibri (MS)" panose="020F0502020204030204"/>
              <a:ea typeface="Calibri (MS)" panose="020F0502020204030204"/>
              <a:cs typeface="Calibri (MS)" panose="020F0502020204030204"/>
              <a:sym typeface="Calibri (MS)" panose="020F0502020204030204"/>
            </a:endParaRPr>
          </a:p>
        </p:txBody>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952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sp>
        <p:nvSpPr>
          <p:cNvPr id="5" name="TextBox 5"/>
          <p:cNvSpPr txBox="1"/>
          <p:nvPr/>
        </p:nvSpPr>
        <p:spPr>
          <a:xfrm>
            <a:off x="1028700" y="933450"/>
            <a:ext cx="7351664" cy="838200"/>
          </a:xfrm>
          <a:prstGeom prst="rect">
            <a:avLst/>
          </a:prstGeom>
        </p:spPr>
        <p:txBody>
          <a:bodyPr lIns="0" tIns="0" rIns="0" bIns="0" rtlCol="0" anchor="t">
            <a:spAutoFit/>
          </a:bodyPr>
          <a:lstStyle/>
          <a:p>
            <a:pPr algn="l">
              <a:lnSpc>
                <a:spcPts val="5880"/>
              </a:lnSpc>
            </a:pPr>
            <a:r>
              <a:rPr lang="en-US" sz="4900" b="1">
                <a:solidFill>
                  <a:srgbClr val="1C3F60"/>
                </a:solidFill>
                <a:latin typeface="Calibri (MS) Bold" panose="020F0702030404030204"/>
                <a:ea typeface="Calibri (MS) Bold" panose="020F0702030404030204"/>
                <a:cs typeface="Calibri (MS) Bold" panose="020F0702030404030204"/>
                <a:sym typeface="Calibri (MS) Bold" panose="020F0702030404030204"/>
              </a:rPr>
              <a:t>2. Các công việc liên quan</a:t>
            </a:r>
          </a:p>
        </p:txBody>
      </p:sp>
      <p:sp>
        <p:nvSpPr>
          <p:cNvPr id="6" name="TextBox 6"/>
          <p:cNvSpPr txBox="1"/>
          <p:nvPr/>
        </p:nvSpPr>
        <p:spPr>
          <a:xfrm>
            <a:off x="1028700" y="2128570"/>
            <a:ext cx="6454370" cy="666750"/>
          </a:xfrm>
          <a:prstGeom prst="rect">
            <a:avLst/>
          </a:prstGeom>
        </p:spPr>
        <p:txBody>
          <a:bodyPr lIns="0" tIns="0" rIns="0" bIns="0" rtlCol="0" anchor="t">
            <a:spAutoFit/>
          </a:bodyPr>
          <a:lstStyle/>
          <a:p>
            <a:pPr algn="ctr">
              <a:lnSpc>
                <a:spcPts val="4680"/>
              </a:lnSpc>
              <a:spcBef>
                <a:spcPct val="0"/>
              </a:spcBef>
            </a:pPr>
            <a:r>
              <a:rPr lang="en-US" sz="3900" b="1">
                <a:solidFill>
                  <a:srgbClr val="1C3F60"/>
                </a:solidFill>
                <a:latin typeface="Calibri (MS) Bold" panose="020F0702030404030204"/>
                <a:ea typeface="Calibri (MS) Bold" panose="020F0702030404030204"/>
                <a:cs typeface="Calibri (MS) Bold" panose="020F0702030404030204"/>
                <a:sym typeface="Calibri (MS) Bold" panose="020F0702030404030204"/>
              </a:rPr>
              <a:t>Các kỹ thuật tiền xử lý dữ liệu</a:t>
            </a:r>
          </a:p>
        </p:txBody>
      </p:sp>
      <p:grpSp>
        <p:nvGrpSpPr>
          <p:cNvPr id="7" name="Group 7"/>
          <p:cNvGrpSpPr/>
          <p:nvPr/>
        </p:nvGrpSpPr>
        <p:grpSpPr>
          <a:xfrm>
            <a:off x="8751500" y="1847796"/>
            <a:ext cx="8884511" cy="3599619"/>
            <a:chOff x="0" y="0"/>
            <a:chExt cx="5712009" cy="2314259"/>
          </a:xfrm>
        </p:grpSpPr>
        <p:sp>
          <p:nvSpPr>
            <p:cNvPr id="8" name="Freeform 8"/>
            <p:cNvSpPr/>
            <p:nvPr/>
          </p:nvSpPr>
          <p:spPr>
            <a:xfrm>
              <a:off x="0" y="0"/>
              <a:ext cx="5712009" cy="2314259"/>
            </a:xfrm>
            <a:custGeom>
              <a:avLst/>
              <a:gdLst/>
              <a:ahLst/>
              <a:cxnLst/>
              <a:rect l="l" t="t" r="r" b="b"/>
              <a:pathLst>
                <a:path w="5712009" h="2314259">
                  <a:moveTo>
                    <a:pt x="0" y="0"/>
                  </a:moveTo>
                  <a:lnTo>
                    <a:pt x="5712009" y="0"/>
                  </a:lnTo>
                  <a:lnTo>
                    <a:pt x="5712009" y="2314259"/>
                  </a:lnTo>
                  <a:lnTo>
                    <a:pt x="0" y="2314259"/>
                  </a:lnTo>
                  <a:close/>
                </a:path>
              </a:pathLst>
            </a:custGeom>
            <a:blipFill>
              <a:blip r:embed="rId3"/>
              <a:stretch>
                <a:fillRect l="-486" r="-486"/>
              </a:stretch>
            </a:blipFill>
          </p:spPr>
          <p:txBody>
            <a:bodyPr/>
            <a:lstStyle/>
            <a:p>
              <a:endParaRPr lang="en-US"/>
            </a:p>
          </p:txBody>
        </p:sp>
      </p:grpSp>
      <p:grpSp>
        <p:nvGrpSpPr>
          <p:cNvPr id="9" name="Group 9"/>
          <p:cNvGrpSpPr/>
          <p:nvPr/>
        </p:nvGrpSpPr>
        <p:grpSpPr>
          <a:xfrm>
            <a:off x="1576897" y="5714208"/>
            <a:ext cx="6616882" cy="3921231"/>
            <a:chOff x="0" y="0"/>
            <a:chExt cx="3905197" cy="2314259"/>
          </a:xfrm>
        </p:grpSpPr>
        <p:sp>
          <p:nvSpPr>
            <p:cNvPr id="10" name="Freeform 10"/>
            <p:cNvSpPr/>
            <p:nvPr/>
          </p:nvSpPr>
          <p:spPr>
            <a:xfrm>
              <a:off x="0" y="0"/>
              <a:ext cx="3905197" cy="2314259"/>
            </a:xfrm>
            <a:custGeom>
              <a:avLst/>
              <a:gdLst/>
              <a:ahLst/>
              <a:cxnLst/>
              <a:rect l="l" t="t" r="r" b="b"/>
              <a:pathLst>
                <a:path w="3905197" h="2314259">
                  <a:moveTo>
                    <a:pt x="0" y="0"/>
                  </a:moveTo>
                  <a:lnTo>
                    <a:pt x="3905197" y="0"/>
                  </a:lnTo>
                  <a:lnTo>
                    <a:pt x="3905197" y="2314259"/>
                  </a:lnTo>
                  <a:lnTo>
                    <a:pt x="0" y="2314259"/>
                  </a:lnTo>
                  <a:close/>
                </a:path>
              </a:pathLst>
            </a:custGeom>
            <a:blipFill>
              <a:blip r:embed="rId4"/>
              <a:stretch>
                <a:fillRect t="-1268" b="-1268"/>
              </a:stretch>
            </a:blipFill>
          </p:spPr>
          <p:txBody>
            <a:bodyPr/>
            <a:lstStyle/>
            <a:p>
              <a:endParaRPr lang="en-US"/>
            </a:p>
          </p:txBody>
        </p:sp>
      </p:grpSp>
      <p:sp>
        <p:nvSpPr>
          <p:cNvPr id="11" name="TextBox 11"/>
          <p:cNvSpPr txBox="1"/>
          <p:nvPr/>
        </p:nvSpPr>
        <p:spPr>
          <a:xfrm>
            <a:off x="1057275" y="3037954"/>
            <a:ext cx="7713275" cy="2486025"/>
          </a:xfrm>
          <a:prstGeom prst="rect">
            <a:avLst/>
          </a:prstGeom>
        </p:spPr>
        <p:txBody>
          <a:bodyPr lIns="0" tIns="0" rIns="0" bIns="0" rtlCol="0" anchor="t">
            <a:spAutoFit/>
          </a:bodyPr>
          <a:lstStyle/>
          <a:p>
            <a:pPr marL="690880" lvl="1" indent="-345440" algn="l">
              <a:lnSpc>
                <a:spcPts val="3840"/>
              </a:lnSpc>
              <a:spcBef>
                <a:spcPct val="0"/>
              </a:spcBef>
              <a:buFont typeface="Arial" panose="020B0604020202020204"/>
              <a:buChar char="•"/>
            </a:pPr>
            <a:r>
              <a:rPr lang="en-US" sz="3200" b="1">
                <a:solidFill>
                  <a:srgbClr val="0B1320"/>
                </a:solidFill>
                <a:latin typeface="Calibri (MS) Bold" panose="020F0702030404030204"/>
                <a:ea typeface="Calibri (MS) Bold" panose="020F0702030404030204"/>
                <a:cs typeface="Calibri (MS) Bold" panose="020F0702030404030204"/>
                <a:sym typeface="Calibri (MS) Bold" panose="020F0702030404030204"/>
              </a:rPr>
              <a:t>Chuẩn hóa dữ liệu: </a:t>
            </a:r>
            <a:r>
              <a:rPr lang="en-US" sz="3200">
                <a:solidFill>
                  <a:srgbClr val="0B1320"/>
                </a:solidFill>
                <a:latin typeface="Calibri (MS)" panose="020F0502020204030204"/>
                <a:ea typeface="Calibri (MS)" panose="020F0502020204030204"/>
                <a:cs typeface="Calibri (MS)" panose="020F0502020204030204"/>
                <a:sym typeface="Calibri (MS)" panose="020F0502020204030204"/>
              </a:rPr>
              <a:t>biến đổi các giá trị số trong cùng trường dữ liệu về cùng một thang đo, giúp mô hình ổn định hơn. Hai loại thường được sử dụng là </a:t>
            </a:r>
            <a:r>
              <a:rPr lang="en-US" sz="3200" b="1">
                <a:solidFill>
                  <a:srgbClr val="0B1320"/>
                </a:solidFill>
                <a:latin typeface="Calibri (MS) Bold" panose="020F0702030404030204"/>
                <a:ea typeface="Calibri (MS) Bold" panose="020F0702030404030204"/>
                <a:cs typeface="Calibri (MS) Bold" panose="020F0702030404030204"/>
                <a:sym typeface="Calibri (MS) Bold" panose="020F0702030404030204"/>
              </a:rPr>
              <a:t>MinMaxScaler </a:t>
            </a:r>
            <a:r>
              <a:rPr lang="en-US" sz="3200">
                <a:solidFill>
                  <a:srgbClr val="0B1320"/>
                </a:solidFill>
                <a:latin typeface="Calibri (MS)" panose="020F0502020204030204"/>
                <a:ea typeface="Calibri (MS)" panose="020F0502020204030204"/>
                <a:cs typeface="Calibri (MS)" panose="020F0502020204030204"/>
                <a:sym typeface="Calibri (MS)" panose="020F0502020204030204"/>
              </a:rPr>
              <a:t>và </a:t>
            </a:r>
            <a:r>
              <a:rPr lang="en-US" sz="3200" b="1">
                <a:solidFill>
                  <a:srgbClr val="0B1320"/>
                </a:solidFill>
                <a:latin typeface="Calibri (MS) Bold" panose="020F0702030404030204"/>
                <a:ea typeface="Calibri (MS) Bold" panose="020F0702030404030204"/>
                <a:cs typeface="Calibri (MS) Bold" panose="020F0702030404030204"/>
                <a:sym typeface="Calibri (MS) Bold" panose="020F0702030404030204"/>
              </a:rPr>
              <a:t>StandardScaler</a:t>
            </a:r>
            <a:r>
              <a:rPr lang="en-US" sz="3200">
                <a:solidFill>
                  <a:srgbClr val="0B1320"/>
                </a:solidFill>
                <a:latin typeface="Calibri (MS)" panose="020F0502020204030204"/>
                <a:ea typeface="Calibri (MS)" panose="020F0502020204030204"/>
                <a:cs typeface="Calibri (MS)" panose="020F0502020204030204"/>
                <a:sym typeface="Calibri (MS)" panose="020F0502020204030204"/>
              </a:rPr>
              <a:t>.</a:t>
            </a:r>
          </a:p>
        </p:txBody>
      </p:sp>
      <p:sp>
        <p:nvSpPr>
          <p:cNvPr id="12" name="TextBox 12"/>
          <p:cNvSpPr txBox="1"/>
          <p:nvPr/>
        </p:nvSpPr>
        <p:spPr>
          <a:xfrm>
            <a:off x="9405325" y="6772275"/>
            <a:ext cx="7485220" cy="2486025"/>
          </a:xfrm>
          <a:prstGeom prst="rect">
            <a:avLst/>
          </a:prstGeom>
        </p:spPr>
        <p:txBody>
          <a:bodyPr lIns="0" tIns="0" rIns="0" bIns="0" rtlCol="0" anchor="t">
            <a:spAutoFit/>
          </a:bodyPr>
          <a:lstStyle/>
          <a:p>
            <a:pPr algn="l">
              <a:lnSpc>
                <a:spcPts val="3840"/>
              </a:lnSpc>
              <a:spcBef>
                <a:spcPct val="0"/>
              </a:spcBef>
            </a:pPr>
            <a:r>
              <a:rPr lang="en-US" sz="3200" b="1">
                <a:solidFill>
                  <a:srgbClr val="0B1320"/>
                </a:solidFill>
                <a:latin typeface="Calibri (MS) Bold" panose="020F0702030404030204"/>
                <a:ea typeface="Calibri (MS) Bold" panose="020F0702030404030204"/>
                <a:cs typeface="Calibri (MS) Bold" panose="020F0702030404030204"/>
                <a:sym typeface="Calibri (MS) Bold" panose="020F0702030404030204"/>
              </a:rPr>
              <a:t>Mã hóa dữ liệu</a:t>
            </a:r>
            <a:r>
              <a:rPr lang="en-US" sz="3200">
                <a:solidFill>
                  <a:srgbClr val="0B1320"/>
                </a:solidFill>
                <a:latin typeface="Calibri (MS)" panose="020F0502020204030204"/>
                <a:ea typeface="Calibri (MS)" panose="020F0502020204030204"/>
                <a:cs typeface="Calibri (MS)" panose="020F0502020204030204"/>
                <a:sym typeface="Calibri (MS)" panose="020F0502020204030204"/>
              </a:rPr>
              <a:t>: Là kỹ thuật chuyển đổi dữ liệu định tính (</a:t>
            </a:r>
            <a:r>
              <a:rPr lang="en-US" sz="3200" b="1">
                <a:solidFill>
                  <a:srgbClr val="0B1320"/>
                </a:solidFill>
                <a:latin typeface="Calibri (MS) Bold" panose="020F0702030404030204"/>
                <a:ea typeface="Calibri (MS) Bold" panose="020F0702030404030204"/>
                <a:cs typeface="Calibri (MS) Bold" panose="020F0702030404030204"/>
                <a:sym typeface="Calibri (MS) Bold" panose="020F0702030404030204"/>
              </a:rPr>
              <a:t>categorical</a:t>
            </a:r>
            <a:r>
              <a:rPr lang="en-US" sz="3200">
                <a:solidFill>
                  <a:srgbClr val="0B1320"/>
                </a:solidFill>
                <a:latin typeface="Calibri (MS)" panose="020F0502020204030204"/>
                <a:ea typeface="Calibri (MS)" panose="020F0502020204030204"/>
                <a:cs typeface="Calibri (MS)" panose="020F0502020204030204"/>
                <a:sym typeface="Calibri (MS)" panose="020F0502020204030204"/>
              </a:rPr>
              <a:t>) thành dạng số, giúp mô hình học máy có thể hiểu và xử lý được. Hai phương pháp mã hóa phổ biến là </a:t>
            </a:r>
            <a:r>
              <a:rPr lang="en-US" sz="3200" b="1">
                <a:solidFill>
                  <a:srgbClr val="0B1320"/>
                </a:solidFill>
                <a:latin typeface="Calibri (MS) Bold" panose="020F0702030404030204"/>
                <a:ea typeface="Calibri (MS) Bold" panose="020F0702030404030204"/>
                <a:cs typeface="Calibri (MS) Bold" panose="020F0702030404030204"/>
                <a:sym typeface="Calibri (MS) Bold" panose="020F0702030404030204"/>
              </a:rPr>
              <a:t>Label Encoding</a:t>
            </a:r>
            <a:r>
              <a:rPr lang="en-US" sz="3200">
                <a:solidFill>
                  <a:srgbClr val="0B1320"/>
                </a:solidFill>
                <a:latin typeface="Calibri (MS)" panose="020F0502020204030204"/>
                <a:ea typeface="Calibri (MS)" panose="020F0502020204030204"/>
                <a:cs typeface="Calibri (MS)" panose="020F0502020204030204"/>
                <a:sym typeface="Calibri (MS)" panose="020F0502020204030204"/>
              </a:rPr>
              <a:t> và </a:t>
            </a:r>
            <a:r>
              <a:rPr lang="en-US" sz="3200" b="1">
                <a:solidFill>
                  <a:srgbClr val="0B1320"/>
                </a:solidFill>
                <a:latin typeface="Calibri (MS) Bold" panose="020F0702030404030204"/>
                <a:ea typeface="Calibri (MS) Bold" panose="020F0702030404030204"/>
                <a:cs typeface="Calibri (MS) Bold" panose="020F0702030404030204"/>
                <a:sym typeface="Calibri (MS) Bold" panose="020F0702030404030204"/>
              </a:rPr>
              <a:t>One-Hot Encoding.</a:t>
            </a:r>
          </a:p>
        </p:txBody>
      </p:sp>
      <p:sp>
        <p:nvSpPr>
          <p:cNvPr id="13" name="TextBox 1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sp>
        <p:nvSpPr>
          <p:cNvPr id="5" name="TextBox 5"/>
          <p:cNvSpPr txBox="1"/>
          <p:nvPr/>
        </p:nvSpPr>
        <p:spPr>
          <a:xfrm>
            <a:off x="1028700" y="914400"/>
            <a:ext cx="7351664"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2. Các công việc liên quan</a:t>
            </a:r>
          </a:p>
        </p:txBody>
      </p:sp>
      <p:sp>
        <p:nvSpPr>
          <p:cNvPr id="6" name="TextBox 6"/>
          <p:cNvSpPr txBox="1"/>
          <p:nvPr/>
        </p:nvSpPr>
        <p:spPr>
          <a:xfrm>
            <a:off x="1028700" y="2119045"/>
            <a:ext cx="6454370" cy="628650"/>
          </a:xfrm>
          <a:prstGeom prst="rect">
            <a:avLst/>
          </a:prstGeom>
        </p:spPr>
        <p:txBody>
          <a:bodyPr lIns="0" tIns="0" rIns="0" bIns="0" rtlCol="0" anchor="t">
            <a:spAutoFit/>
          </a:bodyPr>
          <a:lstStyle/>
          <a:p>
            <a:pPr algn="ctr">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Feature Engineering Approaches</a:t>
            </a:r>
          </a:p>
        </p:txBody>
      </p:sp>
      <p:grpSp>
        <p:nvGrpSpPr>
          <p:cNvPr id="7" name="Group 7"/>
          <p:cNvGrpSpPr/>
          <p:nvPr/>
        </p:nvGrpSpPr>
        <p:grpSpPr>
          <a:xfrm>
            <a:off x="511294" y="3388484"/>
            <a:ext cx="8386477" cy="4138880"/>
            <a:chOff x="0" y="0"/>
            <a:chExt cx="1852516" cy="914250"/>
          </a:xfrm>
        </p:grpSpPr>
        <p:sp>
          <p:nvSpPr>
            <p:cNvPr id="8" name="Freeform 8"/>
            <p:cNvSpPr/>
            <p:nvPr/>
          </p:nvSpPr>
          <p:spPr>
            <a:xfrm>
              <a:off x="0" y="0"/>
              <a:ext cx="1852516" cy="914250"/>
            </a:xfrm>
            <a:custGeom>
              <a:avLst/>
              <a:gdLst/>
              <a:ahLst/>
              <a:cxnLst/>
              <a:rect l="l" t="t" r="r" b="b"/>
              <a:pathLst>
                <a:path w="1852516" h="914250">
                  <a:moveTo>
                    <a:pt x="0" y="0"/>
                  </a:moveTo>
                  <a:lnTo>
                    <a:pt x="1852516" y="0"/>
                  </a:lnTo>
                  <a:lnTo>
                    <a:pt x="1852516" y="914250"/>
                  </a:lnTo>
                  <a:lnTo>
                    <a:pt x="0" y="914250"/>
                  </a:lnTo>
                  <a:close/>
                </a:path>
              </a:pathLst>
            </a:custGeom>
            <a:blipFill>
              <a:blip r:embed="rId3"/>
              <a:stretch>
                <a:fillRect t="-8888" b="-8888"/>
              </a:stretch>
            </a:blipFill>
          </p:spPr>
          <p:txBody>
            <a:bodyPr/>
            <a:lstStyle/>
            <a:p>
              <a:endParaRPr lang="en-US"/>
            </a:p>
          </p:txBody>
        </p:sp>
      </p:grpSp>
      <p:sp>
        <p:nvSpPr>
          <p:cNvPr id="9" name="TextBox 9"/>
          <p:cNvSpPr txBox="1"/>
          <p:nvPr/>
        </p:nvSpPr>
        <p:spPr>
          <a:xfrm>
            <a:off x="8897770" y="3165053"/>
            <a:ext cx="8669335" cy="5334000"/>
          </a:xfrm>
          <a:prstGeom prst="rect">
            <a:avLst/>
          </a:prstGeom>
        </p:spPr>
        <p:txBody>
          <a:bodyPr lIns="0" tIns="0" rIns="0" bIns="0" rtlCol="0" anchor="t">
            <a:spAutoFit/>
          </a:bodyPr>
          <a:lstStyle/>
          <a:p>
            <a:pPr marL="647700" lvl="1" indent="-323850" algn="just">
              <a:lnSpc>
                <a:spcPts val="4200"/>
              </a:lnSpc>
              <a:buFont typeface="Arial" panose="020B0604020202020204"/>
              <a:buChar char="•"/>
            </a:pPr>
            <a:r>
              <a:rPr lang="en-US" sz="3000">
                <a:solidFill>
                  <a:srgbClr val="000000"/>
                </a:solidFill>
                <a:latin typeface="Public Sans"/>
                <a:ea typeface="Public Sans"/>
                <a:cs typeface="Public Sans"/>
                <a:sym typeface="Public Sans"/>
              </a:rPr>
              <a:t>Tạo interaction features: kết hợp các biến numeric (energy*danceability)</a:t>
            </a:r>
          </a:p>
          <a:p>
            <a:pPr marL="647700" lvl="1" indent="-323850" algn="just">
              <a:lnSpc>
                <a:spcPts val="4200"/>
              </a:lnSpc>
              <a:buFont typeface="Arial" panose="020B0604020202020204"/>
              <a:buChar char="•"/>
            </a:pPr>
            <a:r>
              <a:rPr lang="en-US" sz="3000">
                <a:solidFill>
                  <a:srgbClr val="000000"/>
                </a:solidFill>
                <a:latin typeface="Public Sans"/>
                <a:ea typeface="Public Sans"/>
                <a:cs typeface="Public Sans"/>
                <a:sym typeface="Public Sans"/>
              </a:rPr>
              <a:t>Tạo tempo features: chia nhóm tempo,đánh dấu tempo nhanh</a:t>
            </a:r>
          </a:p>
          <a:p>
            <a:pPr marL="647700" lvl="1" indent="-323850" algn="just">
              <a:lnSpc>
                <a:spcPts val="4200"/>
              </a:lnSpc>
              <a:buFont typeface="Arial" panose="020B0604020202020204"/>
              <a:buChar char="•"/>
            </a:pPr>
            <a:r>
              <a:rPr lang="en-US" sz="3000">
                <a:solidFill>
                  <a:srgbClr val="000000"/>
                </a:solidFill>
                <a:latin typeface="Public Sans"/>
                <a:ea typeface="Public Sans"/>
                <a:cs typeface="Public Sans"/>
                <a:sym typeface="Public Sans"/>
              </a:rPr>
              <a:t>Tạo duration features</a:t>
            </a:r>
          </a:p>
          <a:p>
            <a:pPr marL="647700" lvl="1" indent="-323850" algn="just">
              <a:lnSpc>
                <a:spcPts val="4200"/>
              </a:lnSpc>
              <a:buFont typeface="Arial" panose="020B0604020202020204"/>
              <a:buChar char="•"/>
            </a:pPr>
            <a:r>
              <a:rPr lang="en-US" sz="3000">
                <a:solidFill>
                  <a:srgbClr val="000000"/>
                </a:solidFill>
                <a:latin typeface="Public Sans"/>
                <a:ea typeface="Public Sans"/>
                <a:cs typeface="Public Sans"/>
                <a:sym typeface="Public Sans"/>
              </a:rPr>
              <a:t>Tạo loudness features: đánh dấu bài hát to hay nhỏ (is_loud)</a:t>
            </a:r>
          </a:p>
          <a:p>
            <a:pPr marL="647700" lvl="1" indent="-323850" algn="just">
              <a:lnSpc>
                <a:spcPts val="4200"/>
              </a:lnSpc>
              <a:buFont typeface="Arial" panose="020B0604020202020204"/>
              <a:buChar char="•"/>
            </a:pPr>
            <a:r>
              <a:rPr lang="en-US" sz="3000">
                <a:solidFill>
                  <a:srgbClr val="000000"/>
                </a:solidFill>
                <a:latin typeface="Public Sans"/>
                <a:ea typeface="Public Sans"/>
                <a:cs typeface="Public Sans"/>
                <a:sym typeface="Public Sans"/>
              </a:rPr>
              <a:t>Tạo ratio features: tính tỉ lệ giữa các biến (ví dụ energy / danceability)</a:t>
            </a:r>
          </a:p>
          <a:p>
            <a:pPr algn="just">
              <a:lnSpc>
                <a:spcPts val="4200"/>
              </a:lnSpc>
            </a:pPr>
            <a:endParaRPr lang="en-US" sz="3000">
              <a:solidFill>
                <a:srgbClr val="000000"/>
              </a:solidFill>
              <a:latin typeface="Public Sans"/>
              <a:ea typeface="Public Sans"/>
              <a:cs typeface="Public Sans"/>
              <a:sym typeface="Public Sans"/>
            </a:endParaRPr>
          </a:p>
        </p:txBody>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sp>
        <p:nvSpPr>
          <p:cNvPr id="5" name="TextBox 5"/>
          <p:cNvSpPr txBox="1"/>
          <p:nvPr/>
        </p:nvSpPr>
        <p:spPr>
          <a:xfrm>
            <a:off x="1028700" y="914400"/>
            <a:ext cx="7351664"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2. Các công việc liên quan</a:t>
            </a:r>
          </a:p>
        </p:txBody>
      </p:sp>
      <p:grpSp>
        <p:nvGrpSpPr>
          <p:cNvPr id="6" name="Group 6"/>
          <p:cNvGrpSpPr/>
          <p:nvPr/>
        </p:nvGrpSpPr>
        <p:grpSpPr>
          <a:xfrm>
            <a:off x="1204464" y="3167954"/>
            <a:ext cx="9654667" cy="5205293"/>
            <a:chOff x="0" y="0"/>
            <a:chExt cx="1852516" cy="998780"/>
          </a:xfrm>
        </p:grpSpPr>
        <p:sp>
          <p:nvSpPr>
            <p:cNvPr id="7" name="Freeform 7"/>
            <p:cNvSpPr/>
            <p:nvPr/>
          </p:nvSpPr>
          <p:spPr>
            <a:xfrm>
              <a:off x="0" y="0"/>
              <a:ext cx="1852516" cy="998780"/>
            </a:xfrm>
            <a:custGeom>
              <a:avLst/>
              <a:gdLst/>
              <a:ahLst/>
              <a:cxnLst/>
              <a:rect l="l" t="t" r="r" b="b"/>
              <a:pathLst>
                <a:path w="1852516" h="998780">
                  <a:moveTo>
                    <a:pt x="0" y="0"/>
                  </a:moveTo>
                  <a:lnTo>
                    <a:pt x="1852516" y="0"/>
                  </a:lnTo>
                  <a:lnTo>
                    <a:pt x="1852516" y="998780"/>
                  </a:lnTo>
                  <a:lnTo>
                    <a:pt x="0" y="998780"/>
                  </a:lnTo>
                  <a:close/>
                </a:path>
              </a:pathLst>
            </a:custGeom>
            <a:blipFill>
              <a:blip r:embed="rId3"/>
              <a:stretch>
                <a:fillRect l="-270" r="-270"/>
              </a:stretch>
            </a:blipFill>
          </p:spPr>
          <p:txBody>
            <a:bodyPr/>
            <a:lstStyle/>
            <a:p>
              <a:endParaRPr lang="en-US"/>
            </a:p>
          </p:txBody>
        </p:sp>
      </p:grpSp>
      <p:sp>
        <p:nvSpPr>
          <p:cNvPr id="8" name="TextBox 8"/>
          <p:cNvSpPr txBox="1"/>
          <p:nvPr/>
        </p:nvSpPr>
        <p:spPr>
          <a:xfrm>
            <a:off x="295329" y="2305050"/>
            <a:ext cx="6454370" cy="628650"/>
          </a:xfrm>
          <a:prstGeom prst="rect">
            <a:avLst/>
          </a:prstGeom>
        </p:spPr>
        <p:txBody>
          <a:bodyPr lIns="0" tIns="0" rIns="0" bIns="0" rtlCol="0" anchor="t">
            <a:spAutoFit/>
          </a:bodyPr>
          <a:lstStyle/>
          <a:p>
            <a:pPr algn="ctr">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1. K-Fold Cross-validation</a:t>
            </a:r>
          </a:p>
        </p:txBody>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12</a:t>
            </a:r>
          </a:p>
        </p:txBody>
      </p:sp>
      <p:sp>
        <p:nvSpPr>
          <p:cNvPr id="10" name="TextBox 10"/>
          <p:cNvSpPr txBox="1"/>
          <p:nvPr/>
        </p:nvSpPr>
        <p:spPr>
          <a:xfrm>
            <a:off x="10675484" y="2847975"/>
            <a:ext cx="7052299" cy="5514975"/>
          </a:xfrm>
          <a:prstGeom prst="rect">
            <a:avLst/>
          </a:prstGeom>
        </p:spPr>
        <p:txBody>
          <a:bodyPr lIns="0" tIns="0" rIns="0" bIns="0" rtlCol="0" anchor="t">
            <a:spAutoFit/>
          </a:bodyPr>
          <a:lstStyle/>
          <a:p>
            <a:pPr marL="777240" lvl="1" indent="-388620" algn="just">
              <a:lnSpc>
                <a:spcPts val="4320"/>
              </a:lnSpc>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Chia dữ liệu thành K fold bằng nhau (ví dụ K=5)</a:t>
            </a:r>
          </a:p>
          <a:p>
            <a:pPr marL="777240" lvl="1" indent="-388620" algn="just">
              <a:lnSpc>
                <a:spcPts val="4320"/>
              </a:lnSpc>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Lặp K lần: mỗi fold lần lượt làm tập test, các fold còn lại làm tập train</a:t>
            </a:r>
          </a:p>
          <a:p>
            <a:pPr marL="777240" lvl="1" indent="-388620" algn="just">
              <a:lnSpc>
                <a:spcPts val="4320"/>
              </a:lnSpc>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Train mô hình trên tập train, đánh giá trên tập test</a:t>
            </a:r>
          </a:p>
          <a:p>
            <a:pPr marL="777240" lvl="1" indent="-388620" algn="just">
              <a:lnSpc>
                <a:spcPts val="4320"/>
              </a:lnSpc>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Tính điểm trung bình (accuracy, F1,…) trên K lần để đánh giá tổng thể</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sp>
        <p:nvSpPr>
          <p:cNvPr id="5" name="TextBox 5"/>
          <p:cNvSpPr txBox="1"/>
          <p:nvPr/>
        </p:nvSpPr>
        <p:spPr>
          <a:xfrm>
            <a:off x="1028700" y="914400"/>
            <a:ext cx="7351664"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2. Các công việc liên quan</a:t>
            </a:r>
          </a:p>
        </p:txBody>
      </p:sp>
      <p:sp>
        <p:nvSpPr>
          <p:cNvPr id="6" name="TextBox 6"/>
          <p:cNvSpPr txBox="1"/>
          <p:nvPr/>
        </p:nvSpPr>
        <p:spPr>
          <a:xfrm>
            <a:off x="893640" y="1762125"/>
            <a:ext cx="6454370" cy="628650"/>
          </a:xfrm>
          <a:prstGeom prst="rect">
            <a:avLst/>
          </a:prstGeom>
        </p:spPr>
        <p:txBody>
          <a:bodyPr lIns="0" tIns="0" rIns="0" bIns="0" rtlCol="0" anchor="t">
            <a:spAutoFit/>
          </a:bodyPr>
          <a:lstStyle/>
          <a:p>
            <a:pPr algn="ctr">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Tiêu chí đánh giá mô hình</a:t>
            </a:r>
          </a:p>
        </p:txBody>
      </p:sp>
      <p:sp>
        <p:nvSpPr>
          <p:cNvPr id="7" name="TextBox 7"/>
          <p:cNvSpPr txBox="1"/>
          <p:nvPr/>
        </p:nvSpPr>
        <p:spPr>
          <a:xfrm>
            <a:off x="10180821" y="3011175"/>
            <a:ext cx="7078479" cy="588011"/>
          </a:xfrm>
          <a:prstGeom prst="rect">
            <a:avLst/>
          </a:prstGeom>
        </p:spPr>
        <p:txBody>
          <a:bodyPr lIns="0" tIns="0" rIns="0" bIns="0" rtlCol="0" anchor="t">
            <a:spAutoFit/>
          </a:bodyPr>
          <a:lstStyle/>
          <a:p>
            <a:pPr algn="l">
              <a:lnSpc>
                <a:spcPts val="4340"/>
              </a:lnSpc>
              <a:spcBef>
                <a:spcPct val="0"/>
              </a:spcBef>
            </a:pPr>
            <a:r>
              <a:rPr lang="en-US" sz="3100" spc="154">
                <a:solidFill>
                  <a:srgbClr val="000000"/>
                </a:solidFill>
                <a:latin typeface="Calibri (MS)" panose="020F0502020204030204"/>
                <a:ea typeface="Calibri (MS)" panose="020F0502020204030204"/>
                <a:cs typeface="Calibri (MS)" panose="020F0502020204030204"/>
                <a:sym typeface="Calibri (MS)" panose="020F0502020204030204"/>
              </a:rPr>
              <a:t>Tỉ lệ dự đoán đúng trên tổng số sample</a:t>
            </a:r>
          </a:p>
        </p:txBody>
      </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13</a:t>
            </a:r>
          </a:p>
        </p:txBody>
      </p:sp>
      <p:grpSp>
        <p:nvGrpSpPr>
          <p:cNvPr id="9" name="Group 9"/>
          <p:cNvGrpSpPr/>
          <p:nvPr/>
        </p:nvGrpSpPr>
        <p:grpSpPr>
          <a:xfrm>
            <a:off x="1253151" y="2702801"/>
            <a:ext cx="7755789" cy="1328585"/>
            <a:chOff x="0" y="0"/>
            <a:chExt cx="5830508" cy="998780"/>
          </a:xfrm>
        </p:grpSpPr>
        <p:sp>
          <p:nvSpPr>
            <p:cNvPr id="10" name="Freeform 10"/>
            <p:cNvSpPr/>
            <p:nvPr/>
          </p:nvSpPr>
          <p:spPr>
            <a:xfrm>
              <a:off x="0" y="0"/>
              <a:ext cx="5830508" cy="998780"/>
            </a:xfrm>
            <a:custGeom>
              <a:avLst/>
              <a:gdLst/>
              <a:ahLst/>
              <a:cxnLst/>
              <a:rect l="l" t="t" r="r" b="b"/>
              <a:pathLst>
                <a:path w="5830508" h="998780">
                  <a:moveTo>
                    <a:pt x="0" y="0"/>
                  </a:moveTo>
                  <a:lnTo>
                    <a:pt x="5830508" y="0"/>
                  </a:lnTo>
                  <a:lnTo>
                    <a:pt x="5830508" y="998780"/>
                  </a:lnTo>
                  <a:lnTo>
                    <a:pt x="0" y="998780"/>
                  </a:lnTo>
                  <a:close/>
                </a:path>
              </a:pathLst>
            </a:custGeom>
            <a:blipFill>
              <a:blip r:embed="rId3"/>
              <a:stretch>
                <a:fillRect t="-2018" b="-1139"/>
              </a:stretch>
            </a:blipFill>
          </p:spPr>
          <p:txBody>
            <a:bodyPr/>
            <a:lstStyle/>
            <a:p>
              <a:endParaRPr lang="en-US"/>
            </a:p>
          </p:txBody>
        </p:sp>
      </p:grpSp>
      <p:grpSp>
        <p:nvGrpSpPr>
          <p:cNvPr id="11" name="Group 11"/>
          <p:cNvGrpSpPr/>
          <p:nvPr/>
        </p:nvGrpSpPr>
        <p:grpSpPr>
          <a:xfrm>
            <a:off x="265064" y="6221588"/>
            <a:ext cx="8115300" cy="1390170"/>
            <a:chOff x="0" y="0"/>
            <a:chExt cx="5830508" cy="998780"/>
          </a:xfrm>
        </p:grpSpPr>
        <p:sp>
          <p:nvSpPr>
            <p:cNvPr id="12" name="Freeform 12"/>
            <p:cNvSpPr/>
            <p:nvPr/>
          </p:nvSpPr>
          <p:spPr>
            <a:xfrm>
              <a:off x="0" y="0"/>
              <a:ext cx="5830508" cy="998780"/>
            </a:xfrm>
            <a:custGeom>
              <a:avLst/>
              <a:gdLst/>
              <a:ahLst/>
              <a:cxnLst/>
              <a:rect l="l" t="t" r="r" b="b"/>
              <a:pathLst>
                <a:path w="5830508" h="998780">
                  <a:moveTo>
                    <a:pt x="0" y="0"/>
                  </a:moveTo>
                  <a:lnTo>
                    <a:pt x="5830508" y="0"/>
                  </a:lnTo>
                  <a:lnTo>
                    <a:pt x="5830508" y="998780"/>
                  </a:lnTo>
                  <a:lnTo>
                    <a:pt x="0" y="998780"/>
                  </a:lnTo>
                  <a:close/>
                </a:path>
              </a:pathLst>
            </a:custGeom>
            <a:blipFill>
              <a:blip r:embed="rId4"/>
              <a:stretch>
                <a:fillRect l="-1046" t="-1545" b="-135255"/>
              </a:stretch>
            </a:blipFill>
          </p:spPr>
          <p:txBody>
            <a:bodyPr/>
            <a:lstStyle/>
            <a:p>
              <a:endParaRPr lang="en-US"/>
            </a:p>
          </p:txBody>
        </p:sp>
      </p:grpSp>
      <p:grpSp>
        <p:nvGrpSpPr>
          <p:cNvPr id="13" name="Group 13"/>
          <p:cNvGrpSpPr/>
          <p:nvPr/>
        </p:nvGrpSpPr>
        <p:grpSpPr>
          <a:xfrm>
            <a:off x="893640" y="7868130"/>
            <a:ext cx="7946495" cy="1105649"/>
            <a:chOff x="0" y="0"/>
            <a:chExt cx="7178409" cy="998780"/>
          </a:xfrm>
        </p:grpSpPr>
        <p:sp>
          <p:nvSpPr>
            <p:cNvPr id="14" name="Freeform 14"/>
            <p:cNvSpPr/>
            <p:nvPr/>
          </p:nvSpPr>
          <p:spPr>
            <a:xfrm>
              <a:off x="0" y="0"/>
              <a:ext cx="7178408" cy="998780"/>
            </a:xfrm>
            <a:custGeom>
              <a:avLst/>
              <a:gdLst/>
              <a:ahLst/>
              <a:cxnLst/>
              <a:rect l="l" t="t" r="r" b="b"/>
              <a:pathLst>
                <a:path w="7178408" h="998780">
                  <a:moveTo>
                    <a:pt x="0" y="0"/>
                  </a:moveTo>
                  <a:lnTo>
                    <a:pt x="7178408" y="0"/>
                  </a:lnTo>
                  <a:lnTo>
                    <a:pt x="7178408" y="998780"/>
                  </a:lnTo>
                  <a:lnTo>
                    <a:pt x="0" y="998780"/>
                  </a:lnTo>
                  <a:close/>
                </a:path>
              </a:pathLst>
            </a:custGeom>
            <a:blipFill>
              <a:blip r:embed="rId5"/>
              <a:stretch>
                <a:fillRect l="-3027" t="-1950" b="-1950"/>
              </a:stretch>
            </a:blipFill>
          </p:spPr>
          <p:txBody>
            <a:bodyPr/>
            <a:lstStyle/>
            <a:p>
              <a:endParaRPr lang="en-US"/>
            </a:p>
          </p:txBody>
        </p:sp>
      </p:grpSp>
      <p:grpSp>
        <p:nvGrpSpPr>
          <p:cNvPr id="15" name="Group 15"/>
          <p:cNvGrpSpPr/>
          <p:nvPr/>
        </p:nvGrpSpPr>
        <p:grpSpPr>
          <a:xfrm>
            <a:off x="1028700" y="4162905"/>
            <a:ext cx="8115300" cy="1390170"/>
            <a:chOff x="0" y="0"/>
            <a:chExt cx="5830508" cy="998780"/>
          </a:xfrm>
        </p:grpSpPr>
        <p:sp>
          <p:nvSpPr>
            <p:cNvPr id="16" name="Freeform 16"/>
            <p:cNvSpPr/>
            <p:nvPr/>
          </p:nvSpPr>
          <p:spPr>
            <a:xfrm>
              <a:off x="0" y="0"/>
              <a:ext cx="5830508" cy="998780"/>
            </a:xfrm>
            <a:custGeom>
              <a:avLst/>
              <a:gdLst/>
              <a:ahLst/>
              <a:cxnLst/>
              <a:rect l="l" t="t" r="r" b="b"/>
              <a:pathLst>
                <a:path w="5830508" h="998780">
                  <a:moveTo>
                    <a:pt x="0" y="0"/>
                  </a:moveTo>
                  <a:lnTo>
                    <a:pt x="5830508" y="0"/>
                  </a:lnTo>
                  <a:lnTo>
                    <a:pt x="5830508" y="998780"/>
                  </a:lnTo>
                  <a:lnTo>
                    <a:pt x="0" y="998780"/>
                  </a:lnTo>
                  <a:close/>
                </a:path>
              </a:pathLst>
            </a:custGeom>
            <a:blipFill>
              <a:blip r:embed="rId4"/>
              <a:stretch>
                <a:fillRect l="-923" t="-133374" b="-3136"/>
              </a:stretch>
            </a:blipFill>
          </p:spPr>
          <p:txBody>
            <a:bodyPr/>
            <a:lstStyle/>
            <a:p>
              <a:endParaRPr lang="en-US"/>
            </a:p>
          </p:txBody>
        </p:sp>
      </p:grpSp>
      <p:sp>
        <p:nvSpPr>
          <p:cNvPr id="17" name="TextBox 17"/>
          <p:cNvSpPr txBox="1"/>
          <p:nvPr/>
        </p:nvSpPr>
        <p:spPr>
          <a:xfrm>
            <a:off x="10022337" y="6328662"/>
            <a:ext cx="7078479" cy="588011"/>
          </a:xfrm>
          <a:prstGeom prst="rect">
            <a:avLst/>
          </a:prstGeom>
        </p:spPr>
        <p:txBody>
          <a:bodyPr lIns="0" tIns="0" rIns="0" bIns="0" rtlCol="0" anchor="t">
            <a:spAutoFit/>
          </a:bodyPr>
          <a:lstStyle/>
          <a:p>
            <a:pPr algn="l">
              <a:lnSpc>
                <a:spcPts val="4340"/>
              </a:lnSpc>
              <a:spcBef>
                <a:spcPct val="0"/>
              </a:spcBef>
            </a:pPr>
            <a:r>
              <a:rPr lang="en-US" sz="3100" spc="154">
                <a:solidFill>
                  <a:srgbClr val="000000"/>
                </a:solidFill>
                <a:latin typeface="Calibri (MS)" panose="020F0502020204030204"/>
                <a:ea typeface="Calibri (MS)" panose="020F0502020204030204"/>
                <a:cs typeface="Calibri (MS)" panose="020F0502020204030204"/>
                <a:sym typeface="Calibri (MS)" panose="020F0502020204030204"/>
              </a:rPr>
              <a:t>Cân bằng Precision &amp; Recall</a:t>
            </a:r>
          </a:p>
        </p:txBody>
      </p:sp>
      <p:sp>
        <p:nvSpPr>
          <p:cNvPr id="18" name="TextBox 18"/>
          <p:cNvSpPr txBox="1"/>
          <p:nvPr/>
        </p:nvSpPr>
        <p:spPr>
          <a:xfrm>
            <a:off x="10022337" y="4072819"/>
            <a:ext cx="8265663" cy="1130936"/>
          </a:xfrm>
          <a:prstGeom prst="rect">
            <a:avLst/>
          </a:prstGeom>
        </p:spPr>
        <p:txBody>
          <a:bodyPr lIns="0" tIns="0" rIns="0" bIns="0" rtlCol="0" anchor="t">
            <a:spAutoFit/>
          </a:bodyPr>
          <a:lstStyle/>
          <a:p>
            <a:pPr algn="l">
              <a:lnSpc>
                <a:spcPts val="4340"/>
              </a:lnSpc>
              <a:spcBef>
                <a:spcPct val="0"/>
              </a:spcBef>
            </a:pPr>
            <a:r>
              <a:rPr lang="en-US" sz="3100" spc="154">
                <a:solidFill>
                  <a:srgbClr val="000000"/>
                </a:solidFill>
                <a:latin typeface="Calibri (MS)" panose="020F0502020204030204"/>
                <a:ea typeface="Calibri (MS)" panose="020F0502020204030204"/>
                <a:cs typeface="Calibri (MS)" panose="020F0502020204030204"/>
                <a:sym typeface="Calibri (MS)" panose="020F0502020204030204"/>
              </a:rPr>
              <a:t>Precision: % dự đoán đúng trên dự đoán class</a:t>
            </a:r>
          </a:p>
          <a:p>
            <a:pPr algn="l">
              <a:lnSpc>
                <a:spcPts val="4340"/>
              </a:lnSpc>
              <a:spcBef>
                <a:spcPct val="0"/>
              </a:spcBef>
            </a:pPr>
            <a:r>
              <a:rPr lang="en-US" sz="3100" spc="154">
                <a:solidFill>
                  <a:srgbClr val="000000"/>
                </a:solidFill>
                <a:latin typeface="Calibri (MS)" panose="020F0502020204030204"/>
                <a:ea typeface="Calibri (MS)" panose="020F0502020204030204"/>
                <a:cs typeface="Calibri (MS)" panose="020F0502020204030204"/>
                <a:sym typeface="Calibri (MS)" panose="020F0502020204030204"/>
              </a:rPr>
              <a:t>Recall: % dự đoán đúng trên tổng class thực</a:t>
            </a:r>
          </a:p>
        </p:txBody>
      </p:sp>
      <p:sp>
        <p:nvSpPr>
          <p:cNvPr id="19" name="TextBox 19"/>
          <p:cNvSpPr txBox="1"/>
          <p:nvPr/>
        </p:nvSpPr>
        <p:spPr>
          <a:xfrm>
            <a:off x="10180821" y="8065037"/>
            <a:ext cx="7078479" cy="588011"/>
          </a:xfrm>
          <a:prstGeom prst="rect">
            <a:avLst/>
          </a:prstGeom>
        </p:spPr>
        <p:txBody>
          <a:bodyPr lIns="0" tIns="0" rIns="0" bIns="0" rtlCol="0" anchor="t">
            <a:spAutoFit/>
          </a:bodyPr>
          <a:lstStyle/>
          <a:p>
            <a:pPr algn="l">
              <a:lnSpc>
                <a:spcPts val="4340"/>
              </a:lnSpc>
              <a:spcBef>
                <a:spcPct val="0"/>
              </a:spcBef>
            </a:pPr>
            <a:r>
              <a:rPr lang="en-US" sz="3100" spc="154">
                <a:solidFill>
                  <a:srgbClr val="000000"/>
                </a:solidFill>
                <a:latin typeface="Calibri (MS)" panose="020F0502020204030204"/>
                <a:ea typeface="Calibri (MS)" panose="020F0502020204030204"/>
                <a:cs typeface="Calibri (MS)" panose="020F0502020204030204"/>
                <a:sym typeface="Calibri (MS)" panose="020F0502020204030204"/>
              </a:rPr>
              <a:t>Trung bình của recall trên từng class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grpSp>
        <p:nvGrpSpPr>
          <p:cNvPr id="5" name="Group 5"/>
          <p:cNvGrpSpPr/>
          <p:nvPr/>
        </p:nvGrpSpPr>
        <p:grpSpPr>
          <a:xfrm>
            <a:off x="0" y="2747695"/>
            <a:ext cx="8903849" cy="7539305"/>
            <a:chOff x="0" y="0"/>
            <a:chExt cx="1852516" cy="1568612"/>
          </a:xfrm>
        </p:grpSpPr>
        <p:sp>
          <p:nvSpPr>
            <p:cNvPr id="6" name="Freeform 6"/>
            <p:cNvSpPr/>
            <p:nvPr/>
          </p:nvSpPr>
          <p:spPr>
            <a:xfrm>
              <a:off x="0" y="0"/>
              <a:ext cx="1852516" cy="1568612"/>
            </a:xfrm>
            <a:custGeom>
              <a:avLst/>
              <a:gdLst/>
              <a:ahLst/>
              <a:cxnLst/>
              <a:rect l="l" t="t" r="r" b="b"/>
              <a:pathLst>
                <a:path w="1852516" h="1568612">
                  <a:moveTo>
                    <a:pt x="0" y="0"/>
                  </a:moveTo>
                  <a:lnTo>
                    <a:pt x="1852516" y="0"/>
                  </a:lnTo>
                  <a:lnTo>
                    <a:pt x="1852516" y="1568612"/>
                  </a:lnTo>
                  <a:lnTo>
                    <a:pt x="0" y="1568612"/>
                  </a:lnTo>
                  <a:close/>
                </a:path>
              </a:pathLst>
            </a:custGeom>
            <a:blipFill>
              <a:blip r:embed="rId3"/>
              <a:stretch>
                <a:fillRect t="-767" b="-767"/>
              </a:stretch>
            </a:blipFill>
          </p:spPr>
          <p:txBody>
            <a:bodyPr/>
            <a:lstStyle/>
            <a:p>
              <a:endParaRPr lang="en-US"/>
            </a:p>
          </p:txBody>
        </p:sp>
      </p:grpSp>
      <p:sp>
        <p:nvSpPr>
          <p:cNvPr id="7" name="TextBox 7"/>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3. Các phương pháp đề xuất</a:t>
            </a:r>
          </a:p>
        </p:txBody>
      </p:sp>
      <p:sp>
        <p:nvSpPr>
          <p:cNvPr id="8" name="TextBox 8"/>
          <p:cNvSpPr txBox="1"/>
          <p:nvPr/>
        </p:nvSpPr>
        <p:spPr>
          <a:xfrm>
            <a:off x="1028700" y="2119045"/>
            <a:ext cx="6454370" cy="628650"/>
          </a:xfrm>
          <a:prstGeom prst="rect">
            <a:avLst/>
          </a:prstGeom>
        </p:spPr>
        <p:txBody>
          <a:bodyPr lIns="0" tIns="0" rIns="0" bIns="0" rtlCol="0" anchor="t">
            <a:spAutoFit/>
          </a:bodyPr>
          <a:lstStyle/>
          <a:p>
            <a:pPr algn="ctr">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Exploratory data analysis (EDA)</a:t>
            </a:r>
          </a:p>
        </p:txBody>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C3F60"/>
                </a:solidFill>
                <a:latin typeface="Noto Sans" panose="020B0502040504020204"/>
                <a:ea typeface="Noto Sans" panose="020B0502040504020204"/>
                <a:cs typeface="Noto Sans" panose="020B0502040504020204"/>
                <a:sym typeface="Noto Sans" panose="020B0502040504020204"/>
              </a:rPr>
              <a:t>14</a:t>
            </a:r>
          </a:p>
        </p:txBody>
      </p:sp>
      <p:sp>
        <p:nvSpPr>
          <p:cNvPr id="10" name="TextBox 10"/>
          <p:cNvSpPr txBox="1"/>
          <p:nvPr/>
        </p:nvSpPr>
        <p:spPr>
          <a:xfrm>
            <a:off x="9368451" y="3142324"/>
            <a:ext cx="8265663" cy="5278756"/>
          </a:xfrm>
          <a:prstGeom prst="rect">
            <a:avLst/>
          </a:prstGeom>
        </p:spPr>
        <p:txBody>
          <a:bodyPr lIns="0" tIns="0" rIns="0" bIns="0" rtlCol="0" anchor="t">
            <a:spAutoFit/>
          </a:bodyPr>
          <a:lstStyle/>
          <a:p>
            <a:pPr marL="712470" lvl="1" indent="-356235" algn="l">
              <a:lnSpc>
                <a:spcPts val="4620"/>
              </a:lnSpc>
              <a:buFont typeface="Arial" panose="020B0604020202020204"/>
              <a:buChar char="•"/>
            </a:pPr>
            <a:r>
              <a:rPr lang="en-US" sz="3300" spc="164">
                <a:solidFill>
                  <a:srgbClr val="000000"/>
                </a:solidFill>
                <a:latin typeface="Calibri (MS)" panose="020F0502020204030204"/>
                <a:ea typeface="Calibri (MS)" panose="020F0502020204030204"/>
                <a:cs typeface="Calibri (MS)" panose="020F0502020204030204"/>
                <a:sym typeface="Calibri (MS)" panose="020F0502020204030204"/>
              </a:rPr>
              <a:t>Một số lớp (Class) có số lượng bản nhạc lớn hơn hẳn</a:t>
            </a:r>
          </a:p>
          <a:p>
            <a:pPr marL="712470" lvl="1" indent="-356235" algn="l">
              <a:lnSpc>
                <a:spcPts val="4620"/>
              </a:lnSpc>
              <a:buFont typeface="Arial" panose="020B0604020202020204"/>
              <a:buChar char="•"/>
            </a:pPr>
            <a:r>
              <a:rPr lang="en-US" sz="3300" spc="164">
                <a:solidFill>
                  <a:srgbClr val="000000"/>
                </a:solidFill>
                <a:latin typeface="Calibri (MS)" panose="020F0502020204030204"/>
                <a:ea typeface="Calibri (MS)" panose="020F0502020204030204"/>
                <a:cs typeface="Calibri (MS)" panose="020F0502020204030204"/>
                <a:sym typeface="Calibri (MS)" panose="020F0502020204030204"/>
              </a:rPr>
              <a:t>Một số lớp ít bài hơn, như Class 0, Class 3, Class 4, chỉ khoảng vài trăm bản.</a:t>
            </a:r>
          </a:p>
          <a:p>
            <a:pPr marL="712470" lvl="1" indent="-356235" algn="l">
              <a:lnSpc>
                <a:spcPts val="4620"/>
              </a:lnSpc>
              <a:buFont typeface="Arial" panose="020B0604020202020204"/>
              <a:buChar char="•"/>
            </a:pPr>
            <a:r>
              <a:rPr lang="en-US" sz="3300" spc="164">
                <a:solidFill>
                  <a:srgbClr val="000000"/>
                </a:solidFill>
                <a:latin typeface="Calibri (MS)" panose="020F0502020204030204"/>
                <a:ea typeface="Calibri (MS)" panose="020F0502020204030204"/>
                <a:cs typeface="Calibri (MS)" panose="020F0502020204030204"/>
                <a:sym typeface="Calibri (MS)" panose="020F0502020204030204"/>
              </a:rPr>
              <a:t>Dữ liệu bị không cân bằng (imbalanced).</a:t>
            </a:r>
          </a:p>
          <a:p>
            <a:pPr marL="712470" lvl="1" indent="-356235" algn="l">
              <a:lnSpc>
                <a:spcPts val="4620"/>
              </a:lnSpc>
              <a:buFont typeface="Arial" panose="020B0604020202020204"/>
              <a:buChar char="•"/>
            </a:pPr>
            <a:r>
              <a:rPr lang="en-US" sz="3300" b="1" spc="164">
                <a:solidFill>
                  <a:srgbClr val="000000"/>
                </a:solidFill>
                <a:latin typeface="Calibri (MS) Bold" panose="020F0702030404030204"/>
                <a:ea typeface="Calibri (MS) Bold" panose="020F0702030404030204"/>
                <a:cs typeface="Calibri (MS) Bold" panose="020F0702030404030204"/>
                <a:sym typeface="Calibri (MS) Bold" panose="020F0702030404030204"/>
              </a:rPr>
              <a:t>Nhận xét: Dữ liệu bị không cân bằng (imbalanced).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sp>
        <p:nvSpPr>
          <p:cNvPr id="5" name="TextBox 5"/>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3. Các phương pháp đề xuất</a:t>
            </a:r>
          </a:p>
        </p:txBody>
      </p:sp>
      <p:sp>
        <p:nvSpPr>
          <p:cNvPr id="6" name="TextBox 6"/>
          <p:cNvSpPr txBox="1"/>
          <p:nvPr/>
        </p:nvSpPr>
        <p:spPr>
          <a:xfrm>
            <a:off x="1798247" y="1943149"/>
            <a:ext cx="6454370" cy="628650"/>
          </a:xfrm>
          <a:prstGeom prst="rect">
            <a:avLst/>
          </a:prstGeom>
        </p:spPr>
        <p:txBody>
          <a:bodyPr lIns="0" tIns="0" rIns="0" bIns="0" rtlCol="0" anchor="t">
            <a:spAutoFit/>
          </a:bodyPr>
          <a:lstStyle/>
          <a:p>
            <a:pPr algn="ctr">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Exploratory data analysis (EDA)</a:t>
            </a:r>
          </a:p>
        </p:txBody>
      </p:sp>
      <p:sp>
        <p:nvSpPr>
          <p:cNvPr id="7" name="TextBox 7"/>
          <p:cNvSpPr txBox="1"/>
          <p:nvPr/>
        </p:nvSpPr>
        <p:spPr>
          <a:xfrm>
            <a:off x="9144000" y="2700089"/>
            <a:ext cx="5140058" cy="628650"/>
          </a:xfrm>
          <a:prstGeom prst="rect">
            <a:avLst/>
          </a:prstGeom>
        </p:spPr>
        <p:txBody>
          <a:bodyPr lIns="0" tIns="0" rIns="0" bIns="0" rtlCol="0" anchor="t">
            <a:spAutoFit/>
          </a:bodyPr>
          <a:lstStyle/>
          <a:p>
            <a:pPr algn="ctr">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Biến số - Numeric : 16 cột</a:t>
            </a:r>
          </a:p>
        </p:txBody>
      </p:sp>
      <p:sp>
        <p:nvSpPr>
          <p:cNvPr id="8" name="TextBox 8"/>
          <p:cNvSpPr txBox="1"/>
          <p:nvPr/>
        </p:nvSpPr>
        <p:spPr>
          <a:xfrm>
            <a:off x="9144000" y="6379045"/>
            <a:ext cx="6824407" cy="628650"/>
          </a:xfrm>
          <a:prstGeom prst="rect">
            <a:avLst/>
          </a:prstGeom>
        </p:spPr>
        <p:txBody>
          <a:bodyPr lIns="0" tIns="0" rIns="0" bIns="0" rtlCol="0" anchor="t">
            <a:spAutoFit/>
          </a:bodyPr>
          <a:lstStyle/>
          <a:p>
            <a:pPr algn="ctr">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Biến phân loại - Categorical : 2 cột</a:t>
            </a:r>
          </a:p>
        </p:txBody>
      </p:sp>
      <p:sp>
        <p:nvSpPr>
          <p:cNvPr id="9" name="TextBox 9"/>
          <p:cNvSpPr txBox="1"/>
          <p:nvPr/>
        </p:nvSpPr>
        <p:spPr>
          <a:xfrm>
            <a:off x="8868531" y="3681164"/>
            <a:ext cx="8952219" cy="2667000"/>
          </a:xfrm>
          <a:prstGeom prst="rect">
            <a:avLst/>
          </a:prstGeom>
        </p:spPr>
        <p:txBody>
          <a:bodyPr lIns="0" tIns="0" rIns="0" bIns="0" rtlCol="0" anchor="t">
            <a:spAutoFit/>
          </a:bodyPr>
          <a:lstStyle/>
          <a:p>
            <a:pPr marL="647700" lvl="1" indent="-323850" algn="just">
              <a:lnSpc>
                <a:spcPts val="4200"/>
              </a:lnSpc>
              <a:buFont typeface="Arial" panose="020B0604020202020204"/>
              <a:buChar char="•"/>
            </a:pPr>
            <a:r>
              <a:rPr lang="en-US" sz="3000" b="1">
                <a:solidFill>
                  <a:srgbClr val="000000"/>
                </a:solidFill>
                <a:latin typeface="Public Sans Bold"/>
                <a:ea typeface="Public Sans Bold"/>
                <a:cs typeface="Public Sans Bold"/>
                <a:sym typeface="Public Sans Bold"/>
              </a:rPr>
              <a:t>Liên tục:</a:t>
            </a:r>
            <a:r>
              <a:rPr lang="en-US" sz="3000">
                <a:solidFill>
                  <a:srgbClr val="000000"/>
                </a:solidFill>
                <a:latin typeface="Public Sans"/>
                <a:ea typeface="Public Sans"/>
                <a:cs typeface="Public Sans"/>
                <a:sym typeface="Public Sans"/>
              </a:rPr>
              <a:t> Đặc trưng phổ biến / cảm nhận bài hát, giá trị. Đặc trưng âm thanh / kỹ thuật. Tempo &amp; thời lượng</a:t>
            </a:r>
          </a:p>
          <a:p>
            <a:pPr marL="647700" lvl="1" indent="-323850" algn="just">
              <a:lnSpc>
                <a:spcPts val="4200"/>
              </a:lnSpc>
              <a:buFont typeface="Arial" panose="020B0604020202020204"/>
              <a:buChar char="•"/>
            </a:pPr>
            <a:r>
              <a:rPr lang="en-US" sz="3000" b="1">
                <a:solidFill>
                  <a:srgbClr val="000000"/>
                </a:solidFill>
                <a:latin typeface="Public Sans Bold"/>
                <a:ea typeface="Public Sans Bold"/>
                <a:cs typeface="Public Sans Bold"/>
                <a:sym typeface="Public Sans Bold"/>
              </a:rPr>
              <a:t>Rời rạc</a:t>
            </a:r>
            <a:r>
              <a:rPr lang="en-US" sz="3000">
                <a:solidFill>
                  <a:srgbClr val="000000"/>
                </a:solidFill>
                <a:latin typeface="Public Sans"/>
                <a:ea typeface="Public Sans"/>
                <a:cs typeface="Public Sans"/>
                <a:sym typeface="Public Sans"/>
              </a:rPr>
              <a:t>:  Id, key, mode, time_signature, Class</a:t>
            </a:r>
          </a:p>
          <a:p>
            <a:pPr algn="just">
              <a:lnSpc>
                <a:spcPts val="4200"/>
              </a:lnSpc>
            </a:pPr>
            <a:endParaRPr lang="en-US" sz="3000">
              <a:solidFill>
                <a:srgbClr val="000000"/>
              </a:solidFill>
              <a:latin typeface="Public Sans"/>
              <a:ea typeface="Public Sans"/>
              <a:cs typeface="Public Sans"/>
              <a:sym typeface="Public Sans"/>
            </a:endParaRPr>
          </a:p>
        </p:txBody>
      </p:sp>
      <p:sp>
        <p:nvSpPr>
          <p:cNvPr id="10" name="TextBox 10"/>
          <p:cNvSpPr txBox="1"/>
          <p:nvPr/>
        </p:nvSpPr>
        <p:spPr>
          <a:xfrm>
            <a:off x="8727337" y="7064840"/>
            <a:ext cx="8677220" cy="1600200"/>
          </a:xfrm>
          <a:prstGeom prst="rect">
            <a:avLst/>
          </a:prstGeom>
        </p:spPr>
        <p:txBody>
          <a:bodyPr lIns="0" tIns="0" rIns="0" bIns="0" rtlCol="0" anchor="t">
            <a:spAutoFit/>
          </a:bodyPr>
          <a:lstStyle/>
          <a:p>
            <a:pPr marL="647700" lvl="1" indent="-323850" algn="just">
              <a:lnSpc>
                <a:spcPts val="4200"/>
              </a:lnSpc>
              <a:buFont typeface="Arial" panose="020B0604020202020204"/>
              <a:buChar char="•"/>
            </a:pPr>
            <a:r>
              <a:rPr lang="en-US" sz="3000">
                <a:solidFill>
                  <a:srgbClr val="000000"/>
                </a:solidFill>
                <a:latin typeface="Public Sans"/>
                <a:ea typeface="Public Sans"/>
                <a:cs typeface="Public Sans"/>
                <a:sym typeface="Public Sans"/>
              </a:rPr>
              <a:t>Thông tin bài hát / nghệ sĩ: Artist Name, Track Name</a:t>
            </a:r>
          </a:p>
          <a:p>
            <a:pPr algn="just">
              <a:lnSpc>
                <a:spcPts val="4200"/>
              </a:lnSpc>
            </a:pPr>
            <a:endParaRPr lang="en-US" sz="3000">
              <a:solidFill>
                <a:srgbClr val="000000"/>
              </a:solidFill>
              <a:latin typeface="Public Sans"/>
              <a:ea typeface="Public Sans"/>
              <a:cs typeface="Public Sans"/>
              <a:sym typeface="Public Sans"/>
            </a:endParaRPr>
          </a:p>
        </p:txBody>
      </p:sp>
      <p:grpSp>
        <p:nvGrpSpPr>
          <p:cNvPr id="11" name="Group 11"/>
          <p:cNvGrpSpPr/>
          <p:nvPr/>
        </p:nvGrpSpPr>
        <p:grpSpPr>
          <a:xfrm>
            <a:off x="1028700" y="5216438"/>
            <a:ext cx="2382515" cy="1085279"/>
            <a:chOff x="0" y="0"/>
            <a:chExt cx="627494" cy="285835"/>
          </a:xfrm>
        </p:grpSpPr>
        <p:sp>
          <p:nvSpPr>
            <p:cNvPr id="12" name="Freeform 12"/>
            <p:cNvSpPr/>
            <p:nvPr/>
          </p:nvSpPr>
          <p:spPr>
            <a:xfrm>
              <a:off x="0" y="0"/>
              <a:ext cx="627494" cy="285835"/>
            </a:xfrm>
            <a:custGeom>
              <a:avLst/>
              <a:gdLst/>
              <a:ahLst/>
              <a:cxnLst/>
              <a:rect l="l" t="t" r="r" b="b"/>
              <a:pathLst>
                <a:path w="627494" h="285835">
                  <a:moveTo>
                    <a:pt x="0" y="0"/>
                  </a:moveTo>
                  <a:lnTo>
                    <a:pt x="627494" y="0"/>
                  </a:lnTo>
                  <a:lnTo>
                    <a:pt x="627494" y="285835"/>
                  </a:lnTo>
                  <a:lnTo>
                    <a:pt x="0" y="285835"/>
                  </a:lnTo>
                  <a:close/>
                </a:path>
              </a:pathLst>
            </a:custGeom>
            <a:solidFill>
              <a:srgbClr val="1C3F60"/>
            </a:solidFill>
          </p:spPr>
          <p:txBody>
            <a:bodyPr/>
            <a:lstStyle/>
            <a:p>
              <a:endParaRPr lang="en-US"/>
            </a:p>
          </p:txBody>
        </p:sp>
        <p:sp>
          <p:nvSpPr>
            <p:cNvPr id="13" name="TextBox 13"/>
            <p:cNvSpPr txBox="1"/>
            <p:nvPr/>
          </p:nvSpPr>
          <p:spPr>
            <a:xfrm>
              <a:off x="0" y="-152400"/>
              <a:ext cx="627494" cy="438235"/>
            </a:xfrm>
            <a:prstGeom prst="rect">
              <a:avLst/>
            </a:prstGeom>
          </p:spPr>
          <p:txBody>
            <a:bodyPr lIns="50800" tIns="50800" rIns="50800" bIns="50800" rtlCol="0" anchor="ctr"/>
            <a:lstStyle/>
            <a:p>
              <a:pPr algn="ctr">
                <a:lnSpc>
                  <a:spcPts val="3600"/>
                </a:lnSpc>
              </a:pPr>
              <a:r>
                <a:rPr lang="en-US" sz="2000">
                  <a:solidFill>
                    <a:srgbClr val="FFFFFF"/>
                  </a:solidFill>
                  <a:latin typeface="Calibri (MS)" panose="020F0502020204030204"/>
                  <a:ea typeface="Calibri (MS)" panose="020F0502020204030204"/>
                  <a:cs typeface="Calibri (MS)" panose="020F0502020204030204"/>
                  <a:sym typeface="Calibri (MS)" panose="020F0502020204030204"/>
                </a:rPr>
                <a:t>Feature</a:t>
              </a:r>
            </a:p>
          </p:txBody>
        </p:sp>
      </p:grpSp>
      <p:grpSp>
        <p:nvGrpSpPr>
          <p:cNvPr id="14" name="Group 14"/>
          <p:cNvGrpSpPr/>
          <p:nvPr/>
        </p:nvGrpSpPr>
        <p:grpSpPr>
          <a:xfrm>
            <a:off x="5332328" y="3624176"/>
            <a:ext cx="2382515" cy="1085279"/>
            <a:chOff x="0" y="0"/>
            <a:chExt cx="627494" cy="285835"/>
          </a:xfrm>
        </p:grpSpPr>
        <p:sp>
          <p:nvSpPr>
            <p:cNvPr id="15" name="Freeform 15"/>
            <p:cNvSpPr/>
            <p:nvPr/>
          </p:nvSpPr>
          <p:spPr>
            <a:xfrm>
              <a:off x="0" y="0"/>
              <a:ext cx="627494" cy="285835"/>
            </a:xfrm>
            <a:custGeom>
              <a:avLst/>
              <a:gdLst/>
              <a:ahLst/>
              <a:cxnLst/>
              <a:rect l="l" t="t" r="r" b="b"/>
              <a:pathLst>
                <a:path w="627494" h="285835">
                  <a:moveTo>
                    <a:pt x="0" y="0"/>
                  </a:moveTo>
                  <a:lnTo>
                    <a:pt x="627494" y="0"/>
                  </a:lnTo>
                  <a:lnTo>
                    <a:pt x="627494" y="285835"/>
                  </a:lnTo>
                  <a:lnTo>
                    <a:pt x="0" y="285835"/>
                  </a:lnTo>
                  <a:close/>
                </a:path>
              </a:pathLst>
            </a:custGeom>
            <a:solidFill>
              <a:srgbClr val="1C3F60"/>
            </a:solidFill>
          </p:spPr>
          <p:txBody>
            <a:bodyPr/>
            <a:lstStyle/>
            <a:p>
              <a:endParaRPr lang="en-US"/>
            </a:p>
          </p:txBody>
        </p:sp>
        <p:sp>
          <p:nvSpPr>
            <p:cNvPr id="16" name="TextBox 16"/>
            <p:cNvSpPr txBox="1"/>
            <p:nvPr/>
          </p:nvSpPr>
          <p:spPr>
            <a:xfrm>
              <a:off x="0" y="-152400"/>
              <a:ext cx="627494" cy="438235"/>
            </a:xfrm>
            <a:prstGeom prst="rect">
              <a:avLst/>
            </a:prstGeom>
          </p:spPr>
          <p:txBody>
            <a:bodyPr lIns="50800" tIns="50800" rIns="50800" bIns="50800" rtlCol="0" anchor="ctr"/>
            <a:lstStyle/>
            <a:p>
              <a:pPr algn="ctr">
                <a:lnSpc>
                  <a:spcPts val="3600"/>
                </a:lnSpc>
              </a:pPr>
              <a:r>
                <a:rPr lang="en-US" sz="2000">
                  <a:solidFill>
                    <a:srgbClr val="FFFFFF"/>
                  </a:solidFill>
                  <a:latin typeface="Calibri (MS)" panose="020F0502020204030204"/>
                  <a:ea typeface="Calibri (MS)" panose="020F0502020204030204"/>
                  <a:cs typeface="Calibri (MS)" panose="020F0502020204030204"/>
                  <a:sym typeface="Calibri (MS)" panose="020F0502020204030204"/>
                </a:rPr>
                <a:t>Numeric</a:t>
              </a:r>
            </a:p>
          </p:txBody>
        </p:sp>
      </p:grpSp>
      <p:grpSp>
        <p:nvGrpSpPr>
          <p:cNvPr id="17" name="Group 17"/>
          <p:cNvGrpSpPr/>
          <p:nvPr/>
        </p:nvGrpSpPr>
        <p:grpSpPr>
          <a:xfrm>
            <a:off x="5198575" y="7007695"/>
            <a:ext cx="2382515" cy="1085279"/>
            <a:chOff x="0" y="0"/>
            <a:chExt cx="627494" cy="285835"/>
          </a:xfrm>
        </p:grpSpPr>
        <p:sp>
          <p:nvSpPr>
            <p:cNvPr id="18" name="Freeform 18"/>
            <p:cNvSpPr/>
            <p:nvPr/>
          </p:nvSpPr>
          <p:spPr>
            <a:xfrm>
              <a:off x="0" y="0"/>
              <a:ext cx="627494" cy="285835"/>
            </a:xfrm>
            <a:custGeom>
              <a:avLst/>
              <a:gdLst/>
              <a:ahLst/>
              <a:cxnLst/>
              <a:rect l="l" t="t" r="r" b="b"/>
              <a:pathLst>
                <a:path w="627494" h="285835">
                  <a:moveTo>
                    <a:pt x="0" y="0"/>
                  </a:moveTo>
                  <a:lnTo>
                    <a:pt x="627494" y="0"/>
                  </a:lnTo>
                  <a:lnTo>
                    <a:pt x="627494" y="285835"/>
                  </a:lnTo>
                  <a:lnTo>
                    <a:pt x="0" y="285835"/>
                  </a:lnTo>
                  <a:close/>
                </a:path>
              </a:pathLst>
            </a:custGeom>
            <a:solidFill>
              <a:srgbClr val="1C3F60"/>
            </a:solidFill>
          </p:spPr>
          <p:txBody>
            <a:bodyPr/>
            <a:lstStyle/>
            <a:p>
              <a:endParaRPr lang="en-US"/>
            </a:p>
          </p:txBody>
        </p:sp>
        <p:sp>
          <p:nvSpPr>
            <p:cNvPr id="19" name="TextBox 19"/>
            <p:cNvSpPr txBox="1"/>
            <p:nvPr/>
          </p:nvSpPr>
          <p:spPr>
            <a:xfrm>
              <a:off x="0" y="-152400"/>
              <a:ext cx="627494" cy="438235"/>
            </a:xfrm>
            <a:prstGeom prst="rect">
              <a:avLst/>
            </a:prstGeom>
          </p:spPr>
          <p:txBody>
            <a:bodyPr lIns="50800" tIns="50800" rIns="50800" bIns="50800" rtlCol="0" anchor="ctr"/>
            <a:lstStyle/>
            <a:p>
              <a:pPr algn="ctr">
                <a:lnSpc>
                  <a:spcPts val="3600"/>
                </a:lnSpc>
              </a:pPr>
              <a:r>
                <a:rPr lang="en-US" sz="2000">
                  <a:solidFill>
                    <a:srgbClr val="FFFFFF"/>
                  </a:solidFill>
                  <a:latin typeface="Calibri (MS)" panose="020F0502020204030204"/>
                  <a:ea typeface="Calibri (MS)" panose="020F0502020204030204"/>
                  <a:cs typeface="Calibri (MS)" panose="020F0502020204030204"/>
                  <a:sym typeface="Calibri (MS)" panose="020F0502020204030204"/>
                </a:rPr>
                <a:t>Categorical</a:t>
              </a:r>
            </a:p>
          </p:txBody>
        </p:sp>
      </p:grpSp>
      <p:sp>
        <p:nvSpPr>
          <p:cNvPr id="20" name="AutoShape 20"/>
          <p:cNvSpPr/>
          <p:nvPr/>
        </p:nvSpPr>
        <p:spPr>
          <a:xfrm flipV="1">
            <a:off x="3411215" y="4166815"/>
            <a:ext cx="1921113" cy="1592262"/>
          </a:xfrm>
          <a:prstGeom prst="line">
            <a:avLst/>
          </a:prstGeom>
          <a:ln w="38100" cap="flat">
            <a:solidFill>
              <a:srgbClr val="AFC1D0"/>
            </a:solidFill>
            <a:prstDash val="solid"/>
            <a:headEnd type="none" w="sm" len="sm"/>
            <a:tailEnd type="none" w="sm" len="sm"/>
          </a:ln>
        </p:spPr>
        <p:txBody>
          <a:bodyPr/>
          <a:lstStyle/>
          <a:p>
            <a:endParaRPr lang="en-US"/>
          </a:p>
        </p:txBody>
      </p:sp>
      <p:sp>
        <p:nvSpPr>
          <p:cNvPr id="21" name="AutoShape 21"/>
          <p:cNvSpPr/>
          <p:nvPr/>
        </p:nvSpPr>
        <p:spPr>
          <a:xfrm>
            <a:off x="3411215" y="5759078"/>
            <a:ext cx="1787361" cy="1791257"/>
          </a:xfrm>
          <a:prstGeom prst="line">
            <a:avLst/>
          </a:prstGeom>
          <a:ln w="38100" cap="flat">
            <a:solidFill>
              <a:srgbClr val="AFC1D0"/>
            </a:solidFill>
            <a:prstDash val="solid"/>
            <a:headEnd type="none" w="sm" len="sm"/>
            <a:tailEnd type="none" w="sm" len="sm"/>
          </a:ln>
        </p:spPr>
        <p:txBody>
          <a:bodyPr/>
          <a:lstStyle/>
          <a:p>
            <a:endParaRPr lang="en-US"/>
          </a:p>
        </p:txBody>
      </p:sp>
      <p:sp>
        <p:nvSpPr>
          <p:cNvPr id="22" name="TextBox 2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grpSp>
        <p:nvGrpSpPr>
          <p:cNvPr id="5" name="Group 5"/>
          <p:cNvGrpSpPr/>
          <p:nvPr/>
        </p:nvGrpSpPr>
        <p:grpSpPr>
          <a:xfrm>
            <a:off x="9144000" y="0"/>
            <a:ext cx="8944455" cy="9559925"/>
            <a:chOff x="0" y="0"/>
            <a:chExt cx="2778069" cy="2969229"/>
          </a:xfrm>
        </p:grpSpPr>
        <p:sp>
          <p:nvSpPr>
            <p:cNvPr id="6" name="Freeform 6"/>
            <p:cNvSpPr/>
            <p:nvPr/>
          </p:nvSpPr>
          <p:spPr>
            <a:xfrm>
              <a:off x="0" y="0"/>
              <a:ext cx="2778069" cy="2969229"/>
            </a:xfrm>
            <a:custGeom>
              <a:avLst/>
              <a:gdLst/>
              <a:ahLst/>
              <a:cxnLst/>
              <a:rect l="l" t="t" r="r" b="b"/>
              <a:pathLst>
                <a:path w="2778069" h="2969229">
                  <a:moveTo>
                    <a:pt x="0" y="0"/>
                  </a:moveTo>
                  <a:lnTo>
                    <a:pt x="2778069" y="0"/>
                  </a:lnTo>
                  <a:lnTo>
                    <a:pt x="2778069" y="2969229"/>
                  </a:lnTo>
                  <a:lnTo>
                    <a:pt x="0" y="2969229"/>
                  </a:lnTo>
                  <a:close/>
                </a:path>
              </a:pathLst>
            </a:custGeom>
            <a:blipFill>
              <a:blip r:embed="rId3"/>
              <a:stretch>
                <a:fillRect t="-234" b="-234"/>
              </a:stretch>
            </a:blipFill>
          </p:spPr>
          <p:txBody>
            <a:bodyPr/>
            <a:lstStyle/>
            <a:p>
              <a:endParaRPr lang="en-US"/>
            </a:p>
          </p:txBody>
        </p:sp>
      </p:grpSp>
      <p:sp>
        <p:nvSpPr>
          <p:cNvPr id="7" name="TextBox 7"/>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3. Các phương pháp đề xuất</a:t>
            </a:r>
          </a:p>
        </p:txBody>
      </p:sp>
      <p:sp>
        <p:nvSpPr>
          <p:cNvPr id="8" name="TextBox 8"/>
          <p:cNvSpPr txBox="1"/>
          <p:nvPr/>
        </p:nvSpPr>
        <p:spPr>
          <a:xfrm>
            <a:off x="1798247" y="1943149"/>
            <a:ext cx="6454370" cy="628650"/>
          </a:xfrm>
          <a:prstGeom prst="rect">
            <a:avLst/>
          </a:prstGeom>
        </p:spPr>
        <p:txBody>
          <a:bodyPr lIns="0" tIns="0" rIns="0" bIns="0" rtlCol="0" anchor="t">
            <a:spAutoFit/>
          </a:bodyPr>
          <a:lstStyle/>
          <a:p>
            <a:pPr algn="ctr">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Exploratory data analysis (EDA)</a:t>
            </a:r>
          </a:p>
        </p:txBody>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16</a:t>
            </a:r>
          </a:p>
        </p:txBody>
      </p:sp>
      <p:sp>
        <p:nvSpPr>
          <p:cNvPr id="10" name="TextBox 10"/>
          <p:cNvSpPr txBox="1"/>
          <p:nvPr/>
        </p:nvSpPr>
        <p:spPr>
          <a:xfrm>
            <a:off x="799523" y="2765402"/>
            <a:ext cx="8451817" cy="6402705"/>
          </a:xfrm>
          <a:prstGeom prst="rect">
            <a:avLst/>
          </a:prstGeom>
        </p:spPr>
        <p:txBody>
          <a:bodyPr lIns="0" tIns="0" rIns="0" bIns="0" rtlCol="0" anchor="t">
            <a:spAutoFit/>
          </a:bodyPr>
          <a:lstStyle/>
          <a:p>
            <a:pPr marL="712470" lvl="1" indent="-356235" algn="just">
              <a:lnSpc>
                <a:spcPts val="4620"/>
              </a:lnSpc>
              <a:buFont typeface="Arial" panose="020B0604020202020204"/>
              <a:buChar char="•"/>
            </a:pPr>
            <a:r>
              <a:rPr lang="en-US" sz="3300">
                <a:solidFill>
                  <a:srgbClr val="000000"/>
                </a:solidFill>
                <a:latin typeface="Public Sans"/>
                <a:ea typeface="Public Sans"/>
                <a:cs typeface="Public Sans"/>
                <a:sym typeface="Public Sans"/>
              </a:rPr>
              <a:t>Tương quan giữa các feature và Class đều rất thấp</a:t>
            </a:r>
          </a:p>
          <a:p>
            <a:pPr marL="712470" lvl="1" indent="-356235" algn="just">
              <a:lnSpc>
                <a:spcPts val="4620"/>
              </a:lnSpc>
              <a:buFont typeface="Arial" panose="020B0604020202020204"/>
              <a:buChar char="•"/>
            </a:pPr>
            <a:r>
              <a:rPr lang="en-US" sz="3300">
                <a:solidFill>
                  <a:srgbClr val="000000"/>
                </a:solidFill>
                <a:latin typeface="Public Sans"/>
                <a:ea typeface="Public Sans"/>
                <a:cs typeface="Public Sans"/>
                <a:sym typeface="Public Sans"/>
              </a:rPr>
              <a:t>acousticness thấp nhất → những thể loại thiên về acoustic khác biệt rõ ràng nhất</a:t>
            </a:r>
          </a:p>
          <a:p>
            <a:pPr algn="just">
              <a:lnSpc>
                <a:spcPts val="4760"/>
              </a:lnSpc>
            </a:pPr>
            <a:r>
              <a:rPr lang="en-US" sz="3400" b="1">
                <a:solidFill>
                  <a:srgbClr val="000000"/>
                </a:solidFill>
                <a:latin typeface="Public Sans Bold"/>
                <a:ea typeface="Public Sans Bold"/>
                <a:cs typeface="Public Sans Bold"/>
                <a:sym typeface="Public Sans Bold"/>
              </a:rPr>
              <a:t>Nhận xét:</a:t>
            </a:r>
          </a:p>
          <a:p>
            <a:pPr marL="712470" lvl="1" indent="-356235" algn="just">
              <a:lnSpc>
                <a:spcPts val="4620"/>
              </a:lnSpc>
              <a:buFont typeface="Arial" panose="020B0604020202020204"/>
              <a:buChar char="•"/>
            </a:pPr>
            <a:r>
              <a:rPr lang="en-US" sz="3300">
                <a:solidFill>
                  <a:srgbClr val="000000"/>
                </a:solidFill>
                <a:latin typeface="Public Sans"/>
                <a:ea typeface="Public Sans"/>
                <a:cs typeface="Public Sans"/>
                <a:sym typeface="Public Sans"/>
              </a:rPr>
              <a:t>Vì tương quan thấp, mô hình sẽ phải tìm ra quan hệ phức tạp</a:t>
            </a:r>
          </a:p>
          <a:p>
            <a:pPr marL="712470" lvl="1" indent="-356235" algn="just">
              <a:lnSpc>
                <a:spcPts val="4620"/>
              </a:lnSpc>
              <a:buFont typeface="Arial" panose="020B0604020202020204"/>
              <a:buChar char="•"/>
            </a:pPr>
            <a:r>
              <a:rPr lang="en-US" sz="3300">
                <a:solidFill>
                  <a:srgbClr val="000000"/>
                </a:solidFill>
                <a:latin typeface="Public Sans"/>
                <a:ea typeface="Public Sans"/>
                <a:cs typeface="Public Sans"/>
                <a:sym typeface="Public Sans"/>
              </a:rPr>
              <a:t>Dữ liệu có tính phi tuyến cao và các thể loại nhạc có sự chồng chéo mạnh</a:t>
            </a:r>
          </a:p>
          <a:p>
            <a:pPr algn="just">
              <a:lnSpc>
                <a:spcPts val="4620"/>
              </a:lnSpc>
            </a:pPr>
            <a:endParaRPr lang="en-US" sz="3300">
              <a:solidFill>
                <a:srgbClr val="000000"/>
              </a:solidFill>
              <a:latin typeface="Public Sans"/>
              <a:ea typeface="Public Sans"/>
              <a:cs typeface="Public Sans"/>
              <a:sym typeface="Public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952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grpSp>
        <p:nvGrpSpPr>
          <p:cNvPr id="5" name="Group 5"/>
          <p:cNvGrpSpPr/>
          <p:nvPr/>
        </p:nvGrpSpPr>
        <p:grpSpPr>
          <a:xfrm>
            <a:off x="1126097" y="2962500"/>
            <a:ext cx="6457165" cy="4335210"/>
            <a:chOff x="0" y="0"/>
            <a:chExt cx="2778069" cy="1865139"/>
          </a:xfrm>
        </p:grpSpPr>
        <p:sp>
          <p:nvSpPr>
            <p:cNvPr id="6" name="Freeform 6"/>
            <p:cNvSpPr/>
            <p:nvPr/>
          </p:nvSpPr>
          <p:spPr>
            <a:xfrm>
              <a:off x="0" y="0"/>
              <a:ext cx="2778069" cy="1865139"/>
            </a:xfrm>
            <a:custGeom>
              <a:avLst/>
              <a:gdLst/>
              <a:ahLst/>
              <a:cxnLst/>
              <a:rect l="l" t="t" r="r" b="b"/>
              <a:pathLst>
                <a:path w="2778069" h="1865139">
                  <a:moveTo>
                    <a:pt x="0" y="0"/>
                  </a:moveTo>
                  <a:lnTo>
                    <a:pt x="2778069" y="0"/>
                  </a:lnTo>
                  <a:lnTo>
                    <a:pt x="2778069" y="1865139"/>
                  </a:lnTo>
                  <a:lnTo>
                    <a:pt x="0" y="1865139"/>
                  </a:lnTo>
                  <a:close/>
                </a:path>
              </a:pathLst>
            </a:custGeom>
            <a:blipFill>
              <a:blip r:embed="rId3"/>
              <a:stretch>
                <a:fillRect l="-4924" r="-4924"/>
              </a:stretch>
            </a:blipFill>
          </p:spPr>
          <p:txBody>
            <a:bodyPr/>
            <a:lstStyle/>
            <a:p>
              <a:endParaRPr lang="en-US"/>
            </a:p>
          </p:txBody>
        </p:sp>
      </p:grpSp>
      <p:grpSp>
        <p:nvGrpSpPr>
          <p:cNvPr id="7" name="Group 7"/>
          <p:cNvGrpSpPr/>
          <p:nvPr/>
        </p:nvGrpSpPr>
        <p:grpSpPr>
          <a:xfrm>
            <a:off x="9368451" y="2842787"/>
            <a:ext cx="6971294" cy="4734426"/>
            <a:chOff x="0" y="0"/>
            <a:chExt cx="2769930" cy="1881147"/>
          </a:xfrm>
        </p:grpSpPr>
        <p:sp>
          <p:nvSpPr>
            <p:cNvPr id="8" name="Freeform 8"/>
            <p:cNvSpPr/>
            <p:nvPr/>
          </p:nvSpPr>
          <p:spPr>
            <a:xfrm>
              <a:off x="0" y="0"/>
              <a:ext cx="2769930" cy="1881147"/>
            </a:xfrm>
            <a:custGeom>
              <a:avLst/>
              <a:gdLst/>
              <a:ahLst/>
              <a:cxnLst/>
              <a:rect l="l" t="t" r="r" b="b"/>
              <a:pathLst>
                <a:path w="2769930" h="1881147">
                  <a:moveTo>
                    <a:pt x="0" y="0"/>
                  </a:moveTo>
                  <a:lnTo>
                    <a:pt x="2769930" y="0"/>
                  </a:lnTo>
                  <a:lnTo>
                    <a:pt x="2769930" y="1881147"/>
                  </a:lnTo>
                  <a:lnTo>
                    <a:pt x="0" y="1881147"/>
                  </a:lnTo>
                  <a:close/>
                </a:path>
              </a:pathLst>
            </a:custGeom>
            <a:blipFill>
              <a:blip r:embed="rId4"/>
              <a:stretch>
                <a:fillRect t="-1496" b="-1496"/>
              </a:stretch>
            </a:blipFill>
          </p:spPr>
          <p:txBody>
            <a:bodyPr/>
            <a:lstStyle/>
            <a:p>
              <a:endParaRPr lang="en-US"/>
            </a:p>
          </p:txBody>
        </p:sp>
      </p:grpSp>
      <p:sp>
        <p:nvSpPr>
          <p:cNvPr id="9" name="TextBox 9"/>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3. Các phương pháp đề xuất</a:t>
            </a:r>
          </a:p>
        </p:txBody>
      </p:sp>
      <p:sp>
        <p:nvSpPr>
          <p:cNvPr id="10" name="TextBox 10"/>
          <p:cNvSpPr txBox="1"/>
          <p:nvPr/>
        </p:nvSpPr>
        <p:spPr>
          <a:xfrm>
            <a:off x="1798247" y="1943149"/>
            <a:ext cx="6454370" cy="628650"/>
          </a:xfrm>
          <a:prstGeom prst="rect">
            <a:avLst/>
          </a:prstGeom>
        </p:spPr>
        <p:txBody>
          <a:bodyPr lIns="0" tIns="0" rIns="0" bIns="0" rtlCol="0" anchor="t">
            <a:spAutoFit/>
          </a:bodyPr>
          <a:lstStyle/>
          <a:p>
            <a:pPr algn="ctr">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Exploratory data analysis (EDA)</a:t>
            </a:r>
          </a:p>
        </p:txBody>
      </p:sp>
      <p:sp>
        <p:nvSpPr>
          <p:cNvPr id="11" name="TextBox 11"/>
          <p:cNvSpPr txBox="1"/>
          <p:nvPr/>
        </p:nvSpPr>
        <p:spPr>
          <a:xfrm>
            <a:off x="3409504" y="8256587"/>
            <a:ext cx="10612349" cy="1152525"/>
          </a:xfrm>
          <a:prstGeom prst="rect">
            <a:avLst/>
          </a:prstGeom>
        </p:spPr>
        <p:txBody>
          <a:bodyPr lIns="0" tIns="0" rIns="0" bIns="0" rtlCol="0" anchor="t">
            <a:spAutoFit/>
          </a:bodyPr>
          <a:lstStyle/>
          <a:p>
            <a:pPr marL="777240" lvl="1" indent="-388620" algn="l">
              <a:lnSpc>
                <a:spcPts val="4320"/>
              </a:lnSpc>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 Phân bố khá khác nhau giữa các Class.</a:t>
            </a:r>
          </a:p>
          <a:p>
            <a:pPr marL="777240" lvl="1" indent="-388620" algn="l">
              <a:lnSpc>
                <a:spcPts val="4320"/>
              </a:lnSpc>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Một số Class có median cao. một số Class thấp hơn</a:t>
            </a:r>
          </a:p>
        </p:txBody>
      </p:sp>
      <p:sp>
        <p:nvSpPr>
          <p:cNvPr id="12" name="TextBox 1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17</a:t>
            </a:r>
          </a:p>
        </p:txBody>
      </p:sp>
      <p:sp>
        <p:nvSpPr>
          <p:cNvPr id="13" name="TextBox 13"/>
          <p:cNvSpPr txBox="1"/>
          <p:nvPr/>
        </p:nvSpPr>
        <p:spPr>
          <a:xfrm>
            <a:off x="2493794" y="7491488"/>
            <a:ext cx="1831419" cy="628650"/>
          </a:xfrm>
          <a:prstGeom prst="rect">
            <a:avLst/>
          </a:prstGeom>
        </p:spPr>
        <p:txBody>
          <a:bodyPr lIns="0" tIns="0" rIns="0" bIns="0" rtlCol="0" anchor="t">
            <a:spAutoFit/>
          </a:bodyPr>
          <a:lstStyle/>
          <a:p>
            <a:pPr algn="ctr">
              <a:lnSpc>
                <a:spcPts val="4320"/>
              </a:lnSpc>
              <a:spcBef>
                <a:spcPct val="0"/>
              </a:spcBef>
            </a:pPr>
            <a:r>
              <a:rPr lang="en-US" sz="3600" b="1">
                <a:solidFill>
                  <a:srgbClr val="000000"/>
                </a:solidFill>
                <a:latin typeface="Calibri (MS) Bold" panose="020F0702030404030204"/>
                <a:ea typeface="Calibri (MS) Bold" panose="020F0702030404030204"/>
                <a:cs typeface="Calibri (MS) Bold" panose="020F0702030404030204"/>
                <a:sym typeface="Calibri (MS) Bold" panose="020F0702030404030204"/>
              </a:rPr>
              <a:t>Nhận xét: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90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0B1320"/>
            </a:solidFill>
            <a:prstDash val="solid"/>
            <a:headEnd type="none" w="sm" len="sm"/>
            <a:tailEnd type="none" w="sm" len="sm"/>
          </a:ln>
        </p:spPr>
        <p:txBody>
          <a:bodyPr/>
          <a:lstStyle/>
          <a:p>
            <a:endParaRPr lang="en-US"/>
          </a:p>
        </p:txBody>
      </p:sp>
      <p:graphicFrame>
        <p:nvGraphicFramePr>
          <p:cNvPr id="5" name="Table 5"/>
          <p:cNvGraphicFramePr>
            <a:graphicFrameLocks noGrp="1"/>
          </p:cNvGraphicFramePr>
          <p:nvPr/>
        </p:nvGraphicFramePr>
        <p:xfrm>
          <a:off x="673002" y="1472160"/>
          <a:ext cx="16586298" cy="8495055"/>
        </p:xfrm>
        <a:graphic>
          <a:graphicData uri="http://schemas.openxmlformats.org/drawingml/2006/table">
            <a:tbl>
              <a:tblPr/>
              <a:tblGrid>
                <a:gridCol w="3494181">
                  <a:extLst>
                    <a:ext uri="{9D8B030D-6E8A-4147-A177-3AD203B41FA5}">
                      <a16:colId xmlns:a16="http://schemas.microsoft.com/office/drawing/2014/main" val="20000"/>
                    </a:ext>
                  </a:extLst>
                </a:gridCol>
                <a:gridCol w="13092117">
                  <a:extLst>
                    <a:ext uri="{9D8B030D-6E8A-4147-A177-3AD203B41FA5}">
                      <a16:colId xmlns:a16="http://schemas.microsoft.com/office/drawing/2014/main" val="20001"/>
                    </a:ext>
                  </a:extLst>
                </a:gridCol>
              </a:tblGrid>
              <a:tr h="1043983">
                <a:tc>
                  <a:txBody>
                    <a:bodyPr/>
                    <a:lstStyle/>
                    <a:p>
                      <a:pPr algn="ctr">
                        <a:lnSpc>
                          <a:spcPts val="3920"/>
                        </a:lnSpc>
                        <a:defRPr/>
                      </a:pPr>
                      <a:r>
                        <a:rPr lang="en-US" sz="2800" b="1">
                          <a:solidFill>
                            <a:srgbClr val="F3F6FA"/>
                          </a:solidFill>
                          <a:latin typeface="Calibri (MS) Bold" panose="020F0702030404030204"/>
                          <a:ea typeface="Calibri (MS) Bold" panose="020F0702030404030204"/>
                          <a:cs typeface="Calibri (MS) Bold" panose="020F0702030404030204"/>
                          <a:sym typeface="Calibri (MS) Bold" panose="020F0702030404030204"/>
                        </a:rPr>
                        <a:t>Cột mới</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1C3F60"/>
                    </a:solidFill>
                  </a:tcPr>
                </a:tc>
                <a:tc>
                  <a:txBody>
                    <a:bodyPr/>
                    <a:lstStyle/>
                    <a:p>
                      <a:pPr algn="ctr">
                        <a:lnSpc>
                          <a:spcPts val="3920"/>
                        </a:lnSpc>
                        <a:defRPr/>
                      </a:pPr>
                      <a:r>
                        <a:rPr lang="en-US" sz="2800" b="1">
                          <a:solidFill>
                            <a:srgbClr val="F3F6FA"/>
                          </a:solidFill>
                          <a:latin typeface="Calibri (MS) Bold" panose="020F0702030404030204"/>
                          <a:ea typeface="Calibri (MS) Bold" panose="020F0702030404030204"/>
                          <a:cs typeface="Calibri (MS) Bold" panose="020F0702030404030204"/>
                          <a:sym typeface="Calibri (MS) Bold" panose="020F0702030404030204"/>
                        </a:rPr>
                        <a:t>Ý nghĩa</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1C3F60"/>
                    </a:solidFill>
                  </a:tcPr>
                </a:tc>
                <a:extLst>
                  <a:ext uri="{0D108BD9-81ED-4DB2-BD59-A6C34878D82A}">
                    <a16:rowId xmlns:a16="http://schemas.microsoft.com/office/drawing/2014/main" val="10000"/>
                  </a:ext>
                </a:extLst>
              </a:tr>
              <a:tr h="931384">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energy_dance</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Nhận biết các bài nhạc có độ “sôi động” cao. (Năng lương * danceability)</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31384">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energy_valence</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Phân biệt nhạc vui và nhạc trầm (năng lượng + cảm xúc tích cực)</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31384">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acous_tic_instr</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Nhận diện các thể loại như classical, ambient, instrumental (acoustic * instrumental)</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31384">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tempo_bin</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Chia tempo thành các nhóm 20 BPM để giảm nhiễu và phân loại nhạc chậm/nhanh rõ ràng hơn.</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31384">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is_loud</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Phân biệt nhạc hiện đại (âm lượng cao) với classical hoặc acoustic</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931384">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duration_minutes</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 Chuyển thời lượng sang phút</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931384">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energy_dance_ratio</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tc>
                  <a:txBody>
                    <a:bodyPr/>
                    <a:lstStyle/>
                    <a:p>
                      <a:pPr algn="l">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Phân biệt rock/metal (năng lượng cao,dance thấp) với funk/disco (Tl năng lượng so với danceability)</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931384">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is_fast</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tc>
                  <a:txBody>
                    <a:bodyPr/>
                    <a:lstStyle/>
                    <a:p>
                      <a:pPr algn="ctr">
                        <a:lnSpc>
                          <a:spcPts val="3360"/>
                        </a:lnSpc>
                        <a:defRPr/>
                      </a:pPr>
                      <a:r>
                        <a:rPr lang="en-US" sz="2400">
                          <a:solidFill>
                            <a:srgbClr val="000000"/>
                          </a:solidFill>
                          <a:latin typeface="Calibri (MS)" panose="020F0502020204030204"/>
                          <a:ea typeface="Calibri (MS)" panose="020F0502020204030204"/>
                          <a:cs typeface="Calibri (MS)" panose="020F0502020204030204"/>
                          <a:sym typeface="Calibri (MS)" panose="020F0502020204030204"/>
                        </a:rPr>
                        <a:t>Nhịp nhanh (&gt;120 BPM), phù hợp phân biệt EDM, pop dance với các thể loại chậm.</a:t>
                      </a:r>
                      <a:endParaRPr lang="en-US" sz="1100"/>
                    </a:p>
                  </a:txBody>
                  <a:tcPr marL="190500" marR="190500" marT="190500" marB="190500">
                    <a:lnL w="38100" cap="flat" cmpd="sng" algn="ctr">
                      <a:solidFill>
                        <a:srgbClr val="AFC1D0"/>
                      </a:solidFill>
                      <a:prstDash val="solid"/>
                      <a:round/>
                      <a:headEnd type="none" w="med" len="med"/>
                      <a:tailEnd type="none" w="med" len="med"/>
                    </a:lnL>
                    <a:lnR w="38100" cap="flat" cmpd="sng" algn="ctr">
                      <a:solidFill>
                        <a:srgbClr val="AFC1D0"/>
                      </a:solidFill>
                      <a:prstDash val="solid"/>
                      <a:round/>
                      <a:headEnd type="none" w="med" len="med"/>
                      <a:tailEnd type="none" w="med" len="med"/>
                    </a:lnR>
                    <a:lnT w="38100" cap="flat" cmpd="sng" algn="ctr">
                      <a:solidFill>
                        <a:srgbClr val="AFC1D0"/>
                      </a:solidFill>
                      <a:prstDash val="solid"/>
                      <a:round/>
                      <a:headEnd type="none" w="med" len="med"/>
                      <a:tailEnd type="none" w="med" len="med"/>
                    </a:lnT>
                    <a:lnB w="38100" cap="flat" cmpd="sng" algn="ctr">
                      <a:solidFill>
                        <a:srgbClr val="AFC1D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TextBox 6"/>
          <p:cNvSpPr txBox="1"/>
          <p:nvPr/>
        </p:nvSpPr>
        <p:spPr>
          <a:xfrm>
            <a:off x="1587806" y="364439"/>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3. Các phương pháp đề xuất</a:t>
            </a:r>
          </a:p>
        </p:txBody>
      </p:sp>
      <p:sp>
        <p:nvSpPr>
          <p:cNvPr id="7" name="TextBox 7"/>
          <p:cNvSpPr txBox="1"/>
          <p:nvPr/>
        </p:nvSpPr>
        <p:spPr>
          <a:xfrm>
            <a:off x="12562922" y="531126"/>
            <a:ext cx="4519891" cy="628650"/>
          </a:xfrm>
          <a:prstGeom prst="rect">
            <a:avLst/>
          </a:prstGeom>
        </p:spPr>
        <p:txBody>
          <a:bodyPr lIns="0" tIns="0" rIns="0" bIns="0" rtlCol="0" anchor="t">
            <a:spAutoFit/>
          </a:bodyPr>
          <a:lstStyle/>
          <a:p>
            <a:pPr algn="ctr">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Feature Engineering</a:t>
            </a:r>
          </a:p>
        </p:txBody>
      </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C3F60"/>
                </a:solidFill>
                <a:latin typeface="Noto Sans" panose="020B0502040504020204"/>
                <a:ea typeface="Noto Sans" panose="020B0502040504020204"/>
                <a:cs typeface="Noto Sans" panose="020B0502040504020204"/>
                <a:sym typeface="Noto Sans" panose="020B0502040504020204"/>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sp>
        <p:nvSpPr>
          <p:cNvPr id="5" name="TextBox 5"/>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3. Các phương pháp đề xuất</a:t>
            </a:r>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19</a:t>
            </a:r>
          </a:p>
        </p:txBody>
      </p:sp>
      <p:sp>
        <p:nvSpPr>
          <p:cNvPr id="7" name="TextBox 7"/>
          <p:cNvSpPr txBox="1"/>
          <p:nvPr/>
        </p:nvSpPr>
        <p:spPr>
          <a:xfrm>
            <a:off x="1467841" y="3485734"/>
            <a:ext cx="9941957" cy="1714500"/>
          </a:xfrm>
          <a:prstGeom prst="rect">
            <a:avLst/>
          </a:prstGeom>
        </p:spPr>
        <p:txBody>
          <a:bodyPr lIns="0" tIns="0" rIns="0" bIns="0" rtlCol="0" anchor="t">
            <a:spAutoFit/>
          </a:bodyPr>
          <a:lstStyle/>
          <a:p>
            <a:pPr marL="777240" lvl="1" indent="-388620" algn="l">
              <a:lnSpc>
                <a:spcPts val="4320"/>
              </a:lnSpc>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energy * danceability → energy_dance</a:t>
            </a:r>
          </a:p>
          <a:p>
            <a:pPr marL="777240" lvl="1" indent="-388620" algn="l">
              <a:lnSpc>
                <a:spcPts val="4320"/>
              </a:lnSpc>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energy * valence → energy_valence</a:t>
            </a:r>
          </a:p>
          <a:p>
            <a:pPr marL="777240" lvl="1" indent="-388620" algn="l">
              <a:lnSpc>
                <a:spcPts val="4320"/>
              </a:lnSpc>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acousticness * instrumentalness → acoustic_instr</a:t>
            </a:r>
          </a:p>
        </p:txBody>
      </p:sp>
      <p:sp>
        <p:nvSpPr>
          <p:cNvPr id="8" name="TextBox 8"/>
          <p:cNvSpPr txBox="1"/>
          <p:nvPr/>
        </p:nvSpPr>
        <p:spPr>
          <a:xfrm>
            <a:off x="1197052" y="1936583"/>
            <a:ext cx="4519891" cy="628650"/>
          </a:xfrm>
          <a:prstGeom prst="rect">
            <a:avLst/>
          </a:prstGeom>
        </p:spPr>
        <p:txBody>
          <a:bodyPr lIns="0" tIns="0" rIns="0" bIns="0" rtlCol="0" anchor="t">
            <a:spAutoFit/>
          </a:bodyPr>
          <a:lstStyle/>
          <a:p>
            <a:pPr algn="ctr">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Feature Engineering</a:t>
            </a:r>
          </a:p>
        </p:txBody>
      </p:sp>
      <p:sp>
        <p:nvSpPr>
          <p:cNvPr id="9" name="TextBox 9"/>
          <p:cNvSpPr txBox="1"/>
          <p:nvPr/>
        </p:nvSpPr>
        <p:spPr>
          <a:xfrm>
            <a:off x="1467841" y="2939238"/>
            <a:ext cx="4249103" cy="1114425"/>
          </a:xfrm>
          <a:prstGeom prst="rect">
            <a:avLst/>
          </a:prstGeom>
        </p:spPr>
        <p:txBody>
          <a:bodyPr lIns="0" tIns="0" rIns="0" bIns="0" rtlCol="0" anchor="t">
            <a:spAutoFit/>
          </a:bodyPr>
          <a:lstStyle/>
          <a:p>
            <a:pPr algn="ctr">
              <a:lnSpc>
                <a:spcPts val="4200"/>
              </a:lnSpc>
            </a:pPr>
            <a:r>
              <a:rPr lang="en-US" sz="3500" b="1">
                <a:solidFill>
                  <a:srgbClr val="000000"/>
                </a:solidFill>
                <a:latin typeface="Calibri (MS) Bold" panose="020F0702030404030204"/>
                <a:ea typeface="Calibri (MS) Bold" panose="020F0702030404030204"/>
                <a:cs typeface="Calibri (MS) Bold" panose="020F0702030404030204"/>
                <a:sym typeface="Calibri (MS) Bold" panose="020F0702030404030204"/>
              </a:rPr>
              <a:t>🔹Interaction features</a:t>
            </a:r>
          </a:p>
          <a:p>
            <a:pPr algn="ctr">
              <a:lnSpc>
                <a:spcPts val="4200"/>
              </a:lnSpc>
              <a:spcBef>
                <a:spcPct val="0"/>
              </a:spcBef>
            </a:pPr>
            <a:endParaRPr lang="en-US" sz="3500"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sp>
        <p:nvSpPr>
          <p:cNvPr id="10" name="TextBox 10"/>
          <p:cNvSpPr txBox="1"/>
          <p:nvPr/>
        </p:nvSpPr>
        <p:spPr>
          <a:xfrm>
            <a:off x="1467841" y="5597913"/>
            <a:ext cx="4249103" cy="1114425"/>
          </a:xfrm>
          <a:prstGeom prst="rect">
            <a:avLst/>
          </a:prstGeom>
        </p:spPr>
        <p:txBody>
          <a:bodyPr lIns="0" tIns="0" rIns="0" bIns="0" rtlCol="0" anchor="t">
            <a:spAutoFit/>
          </a:bodyPr>
          <a:lstStyle/>
          <a:p>
            <a:pPr algn="ctr">
              <a:lnSpc>
                <a:spcPts val="4200"/>
              </a:lnSpc>
            </a:pPr>
            <a:r>
              <a:rPr lang="en-US" sz="3500" b="1">
                <a:solidFill>
                  <a:srgbClr val="000000"/>
                </a:solidFill>
                <a:latin typeface="Calibri (MS) Bold" panose="020F0702030404030204"/>
                <a:ea typeface="Calibri (MS) Bold" panose="020F0702030404030204"/>
                <a:cs typeface="Calibri (MS) Bold" panose="020F0702030404030204"/>
                <a:sym typeface="Calibri (MS) Bold" panose="020F0702030404030204"/>
              </a:rPr>
              <a:t>🔹Interaction features</a:t>
            </a:r>
          </a:p>
          <a:p>
            <a:pPr algn="ctr">
              <a:lnSpc>
                <a:spcPts val="4200"/>
              </a:lnSpc>
              <a:spcBef>
                <a:spcPct val="0"/>
              </a:spcBef>
            </a:pPr>
            <a:endParaRPr lang="en-US" sz="3500"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sp>
        <p:nvSpPr>
          <p:cNvPr id="11" name="TextBox 11"/>
          <p:cNvSpPr txBox="1"/>
          <p:nvPr/>
        </p:nvSpPr>
        <p:spPr>
          <a:xfrm>
            <a:off x="1468120" y="6120765"/>
            <a:ext cx="11561445" cy="1107440"/>
          </a:xfrm>
          <a:prstGeom prst="rect">
            <a:avLst/>
          </a:prstGeom>
        </p:spPr>
        <p:txBody>
          <a:bodyPr wrap="square" lIns="0" tIns="0" rIns="0" bIns="0" rtlCol="0" anchor="t">
            <a:spAutoFit/>
          </a:bodyPr>
          <a:lstStyle/>
          <a:p>
            <a:pPr marL="777240" lvl="1" indent="-388620" algn="l">
              <a:lnSpc>
                <a:spcPts val="4320"/>
              </a:lnSpc>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Chia tempo thành nhóm (tempo_bin = tempo // 20)</a:t>
            </a:r>
          </a:p>
          <a:p>
            <a:pPr marL="777240" lvl="1" indent="-388620" algn="l">
              <a:lnSpc>
                <a:spcPts val="4320"/>
              </a:lnSpc>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Đánh dấu bài hát nhanh (is_fast = tempo &gt; 120)</a:t>
            </a:r>
          </a:p>
        </p:txBody>
      </p:sp>
      <p:sp>
        <p:nvSpPr>
          <p:cNvPr id="12" name="TextBox 12"/>
          <p:cNvSpPr txBox="1"/>
          <p:nvPr/>
        </p:nvSpPr>
        <p:spPr>
          <a:xfrm>
            <a:off x="1467841" y="7616160"/>
            <a:ext cx="4249103" cy="1114425"/>
          </a:xfrm>
          <a:prstGeom prst="rect">
            <a:avLst/>
          </a:prstGeom>
        </p:spPr>
        <p:txBody>
          <a:bodyPr lIns="0" tIns="0" rIns="0" bIns="0" rtlCol="0" anchor="t">
            <a:spAutoFit/>
          </a:bodyPr>
          <a:lstStyle/>
          <a:p>
            <a:pPr algn="ctr">
              <a:lnSpc>
                <a:spcPts val="4200"/>
              </a:lnSpc>
            </a:pPr>
            <a:r>
              <a:rPr lang="en-US" sz="3500" b="1">
                <a:solidFill>
                  <a:srgbClr val="000000"/>
                </a:solidFill>
                <a:latin typeface="Calibri (MS) Bold" panose="020F0702030404030204"/>
                <a:ea typeface="Calibri (MS) Bold" panose="020F0702030404030204"/>
                <a:cs typeface="Calibri (MS) Bold" panose="020F0702030404030204"/>
                <a:sym typeface="Calibri (MS) Bold" panose="020F0702030404030204"/>
              </a:rPr>
              <a:t>🔹Interaction features</a:t>
            </a:r>
          </a:p>
          <a:p>
            <a:pPr algn="ctr">
              <a:lnSpc>
                <a:spcPts val="4200"/>
              </a:lnSpc>
              <a:spcBef>
                <a:spcPct val="0"/>
              </a:spcBef>
            </a:pPr>
            <a:endParaRPr lang="en-US" sz="3500"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p:txBody>
      </p:sp>
      <p:sp>
        <p:nvSpPr>
          <p:cNvPr id="13" name="TextBox 13"/>
          <p:cNvSpPr txBox="1"/>
          <p:nvPr/>
        </p:nvSpPr>
        <p:spPr>
          <a:xfrm>
            <a:off x="1447165" y="8237220"/>
            <a:ext cx="13058775" cy="553720"/>
          </a:xfrm>
          <a:prstGeom prst="rect">
            <a:avLst/>
          </a:prstGeom>
        </p:spPr>
        <p:txBody>
          <a:bodyPr wrap="square" lIns="0" tIns="0" rIns="0" bIns="0" rtlCol="0" anchor="t">
            <a:spAutoFit/>
          </a:bodyPr>
          <a:lstStyle/>
          <a:p>
            <a:pPr marL="777240" lvl="1" indent="-388620" algn="l">
              <a:lnSpc>
                <a:spcPts val="4320"/>
              </a:lnSpc>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Tạo biến nhị phân: bài hát to hay nhỏ (is_loud = loudness &gt; -5)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90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1028700" y="2453103"/>
            <a:ext cx="10443566" cy="7106822"/>
            <a:chOff x="0" y="0"/>
            <a:chExt cx="4770517" cy="3246326"/>
          </a:xfrm>
        </p:grpSpPr>
        <p:sp>
          <p:nvSpPr>
            <p:cNvPr id="5" name="Freeform 5"/>
            <p:cNvSpPr/>
            <p:nvPr/>
          </p:nvSpPr>
          <p:spPr>
            <a:xfrm>
              <a:off x="0" y="0"/>
              <a:ext cx="4770517" cy="3246325"/>
            </a:xfrm>
            <a:custGeom>
              <a:avLst/>
              <a:gdLst/>
              <a:ahLst/>
              <a:cxnLst/>
              <a:rect l="l" t="t" r="r" b="b"/>
              <a:pathLst>
                <a:path w="4770517" h="3246325">
                  <a:moveTo>
                    <a:pt x="0" y="0"/>
                  </a:moveTo>
                  <a:lnTo>
                    <a:pt x="4770517" y="0"/>
                  </a:lnTo>
                  <a:lnTo>
                    <a:pt x="4770517" y="3246325"/>
                  </a:lnTo>
                  <a:lnTo>
                    <a:pt x="0" y="3246325"/>
                  </a:lnTo>
                  <a:close/>
                </a:path>
              </a:pathLst>
            </a:custGeom>
            <a:blipFill>
              <a:blip r:embed="rId3"/>
              <a:stretch>
                <a:fillRect t="-790" b="-790"/>
              </a:stretch>
            </a:blipFill>
          </p:spPr>
          <p:txBody>
            <a:bodyPr/>
            <a:lstStyle/>
            <a:p>
              <a:endParaRPr lang="en-US"/>
            </a:p>
          </p:txBody>
        </p:sp>
      </p:grpSp>
      <p:grpSp>
        <p:nvGrpSpPr>
          <p:cNvPr id="6" name="Group 6"/>
          <p:cNvGrpSpPr/>
          <p:nvPr/>
        </p:nvGrpSpPr>
        <p:grpSpPr>
          <a:xfrm>
            <a:off x="13386791" y="2962821"/>
            <a:ext cx="3872509" cy="1024433"/>
            <a:chOff x="0" y="0"/>
            <a:chExt cx="1019920" cy="269809"/>
          </a:xfrm>
        </p:grpSpPr>
        <p:sp>
          <p:nvSpPr>
            <p:cNvPr id="7" name="Freeform 7"/>
            <p:cNvSpPr/>
            <p:nvPr/>
          </p:nvSpPr>
          <p:spPr>
            <a:xfrm>
              <a:off x="0" y="0"/>
              <a:ext cx="1019920" cy="269809"/>
            </a:xfrm>
            <a:custGeom>
              <a:avLst/>
              <a:gdLst/>
              <a:ahLst/>
              <a:cxnLst/>
              <a:rect l="l" t="t" r="r" b="b"/>
              <a:pathLst>
                <a:path w="1019920" h="269809">
                  <a:moveTo>
                    <a:pt x="0" y="0"/>
                  </a:moveTo>
                  <a:lnTo>
                    <a:pt x="1019920" y="0"/>
                  </a:lnTo>
                  <a:lnTo>
                    <a:pt x="1019920" y="269809"/>
                  </a:lnTo>
                  <a:lnTo>
                    <a:pt x="0" y="269809"/>
                  </a:lnTo>
                  <a:close/>
                </a:path>
              </a:pathLst>
            </a:custGeom>
            <a:solidFill>
              <a:srgbClr val="FCEDD1"/>
            </a:solidFill>
          </p:spPr>
          <p:txBody>
            <a:bodyPr/>
            <a:lstStyle/>
            <a:p>
              <a:endParaRPr lang="en-US"/>
            </a:p>
          </p:txBody>
        </p:sp>
        <p:sp>
          <p:nvSpPr>
            <p:cNvPr id="8" name="TextBox 8"/>
            <p:cNvSpPr txBox="1"/>
            <p:nvPr/>
          </p:nvSpPr>
          <p:spPr>
            <a:xfrm>
              <a:off x="0" y="-47625"/>
              <a:ext cx="1019920" cy="317434"/>
            </a:xfrm>
            <a:prstGeom prst="rect">
              <a:avLst/>
            </a:prstGeom>
          </p:spPr>
          <p:txBody>
            <a:bodyPr lIns="50800" tIns="50800" rIns="50800" bIns="50800" rtlCol="0" anchor="ctr"/>
            <a:lstStyle/>
            <a:p>
              <a:pPr algn="ctr">
                <a:lnSpc>
                  <a:spcPts val="3500"/>
                </a:lnSpc>
                <a:spcBef>
                  <a:spcPct val="0"/>
                </a:spcBef>
              </a:pPr>
              <a:r>
                <a:rPr lang="en-US" sz="2500" b="1">
                  <a:solidFill>
                    <a:srgbClr val="000000"/>
                  </a:solidFill>
                  <a:latin typeface="Noto Sans Bold" panose="020B0802040504020204"/>
                  <a:ea typeface="Noto Sans Bold" panose="020B0802040504020204"/>
                  <a:cs typeface="Noto Sans Bold" panose="020B0802040504020204"/>
                  <a:sym typeface="Noto Sans Bold" panose="020B0802040504020204"/>
                </a:rPr>
                <a:t>Dữ liệu gốc</a:t>
              </a:r>
            </a:p>
          </p:txBody>
        </p:sp>
      </p:grpSp>
      <p:grpSp>
        <p:nvGrpSpPr>
          <p:cNvPr id="9" name="Group 9"/>
          <p:cNvGrpSpPr/>
          <p:nvPr/>
        </p:nvGrpSpPr>
        <p:grpSpPr>
          <a:xfrm>
            <a:off x="13386791" y="4811945"/>
            <a:ext cx="3872509" cy="960670"/>
            <a:chOff x="0" y="0"/>
            <a:chExt cx="1019920" cy="253016"/>
          </a:xfrm>
        </p:grpSpPr>
        <p:sp>
          <p:nvSpPr>
            <p:cNvPr id="10" name="Freeform 10"/>
            <p:cNvSpPr/>
            <p:nvPr/>
          </p:nvSpPr>
          <p:spPr>
            <a:xfrm>
              <a:off x="0" y="0"/>
              <a:ext cx="1019920" cy="253016"/>
            </a:xfrm>
            <a:custGeom>
              <a:avLst/>
              <a:gdLst/>
              <a:ahLst/>
              <a:cxnLst/>
              <a:rect l="l" t="t" r="r" b="b"/>
              <a:pathLst>
                <a:path w="1019920" h="253016">
                  <a:moveTo>
                    <a:pt x="0" y="0"/>
                  </a:moveTo>
                  <a:lnTo>
                    <a:pt x="1019920" y="0"/>
                  </a:lnTo>
                  <a:lnTo>
                    <a:pt x="1019920" y="253016"/>
                  </a:lnTo>
                  <a:lnTo>
                    <a:pt x="0" y="253016"/>
                  </a:lnTo>
                  <a:close/>
                </a:path>
              </a:pathLst>
            </a:custGeom>
            <a:solidFill>
              <a:srgbClr val="FCEDD1"/>
            </a:solidFill>
          </p:spPr>
          <p:txBody>
            <a:bodyPr/>
            <a:lstStyle/>
            <a:p>
              <a:endParaRPr lang="en-US"/>
            </a:p>
          </p:txBody>
        </p:sp>
        <p:sp>
          <p:nvSpPr>
            <p:cNvPr id="11" name="TextBox 11"/>
            <p:cNvSpPr txBox="1"/>
            <p:nvPr/>
          </p:nvSpPr>
          <p:spPr>
            <a:xfrm>
              <a:off x="0" y="-57150"/>
              <a:ext cx="1019920" cy="310166"/>
            </a:xfrm>
            <a:prstGeom prst="rect">
              <a:avLst/>
            </a:prstGeom>
          </p:spPr>
          <p:txBody>
            <a:bodyPr lIns="50800" tIns="50800" rIns="50800" bIns="50800" rtlCol="0" anchor="ctr"/>
            <a:lstStyle/>
            <a:p>
              <a:pPr algn="ctr">
                <a:lnSpc>
                  <a:spcPts val="3640"/>
                </a:lnSpc>
              </a:pPr>
              <a:r>
                <a:rPr lang="en-US" sz="2600" b="1">
                  <a:solidFill>
                    <a:srgbClr val="000000"/>
                  </a:solidFill>
                  <a:latin typeface="Noto Sans Bold" panose="020B0802040504020204"/>
                  <a:ea typeface="Noto Sans Bold" panose="020B0802040504020204"/>
                  <a:cs typeface="Noto Sans Bold" panose="020B0802040504020204"/>
                  <a:sym typeface="Noto Sans Bold" panose="020B0802040504020204"/>
                </a:rPr>
                <a:t>Xử lý NA</a:t>
              </a:r>
            </a:p>
          </p:txBody>
        </p:sp>
      </p:grpSp>
      <p:grpSp>
        <p:nvGrpSpPr>
          <p:cNvPr id="12" name="Group 12"/>
          <p:cNvGrpSpPr/>
          <p:nvPr/>
        </p:nvGrpSpPr>
        <p:grpSpPr>
          <a:xfrm>
            <a:off x="13386791" y="6422160"/>
            <a:ext cx="3872509" cy="1051458"/>
            <a:chOff x="0" y="0"/>
            <a:chExt cx="1019920" cy="276927"/>
          </a:xfrm>
        </p:grpSpPr>
        <p:sp>
          <p:nvSpPr>
            <p:cNvPr id="13" name="Freeform 13"/>
            <p:cNvSpPr/>
            <p:nvPr/>
          </p:nvSpPr>
          <p:spPr>
            <a:xfrm>
              <a:off x="0" y="0"/>
              <a:ext cx="1019920" cy="276927"/>
            </a:xfrm>
            <a:custGeom>
              <a:avLst/>
              <a:gdLst/>
              <a:ahLst/>
              <a:cxnLst/>
              <a:rect l="l" t="t" r="r" b="b"/>
              <a:pathLst>
                <a:path w="1019920" h="276927">
                  <a:moveTo>
                    <a:pt x="0" y="0"/>
                  </a:moveTo>
                  <a:lnTo>
                    <a:pt x="1019920" y="0"/>
                  </a:lnTo>
                  <a:lnTo>
                    <a:pt x="1019920" y="276927"/>
                  </a:lnTo>
                  <a:lnTo>
                    <a:pt x="0" y="276927"/>
                  </a:lnTo>
                  <a:close/>
                </a:path>
              </a:pathLst>
            </a:custGeom>
            <a:solidFill>
              <a:srgbClr val="FCEDD1"/>
            </a:solidFill>
          </p:spPr>
          <p:txBody>
            <a:bodyPr/>
            <a:lstStyle/>
            <a:p>
              <a:endParaRPr lang="en-US"/>
            </a:p>
          </p:txBody>
        </p:sp>
        <p:sp>
          <p:nvSpPr>
            <p:cNvPr id="14" name="TextBox 14"/>
            <p:cNvSpPr txBox="1"/>
            <p:nvPr/>
          </p:nvSpPr>
          <p:spPr>
            <a:xfrm>
              <a:off x="0" y="-47625"/>
              <a:ext cx="1019920" cy="324552"/>
            </a:xfrm>
            <a:prstGeom prst="rect">
              <a:avLst/>
            </a:prstGeom>
          </p:spPr>
          <p:txBody>
            <a:bodyPr lIns="50800" tIns="50800" rIns="50800" bIns="50800" rtlCol="0" anchor="ctr"/>
            <a:lstStyle/>
            <a:p>
              <a:pPr algn="ctr">
                <a:lnSpc>
                  <a:spcPts val="3500"/>
                </a:lnSpc>
              </a:pPr>
              <a:r>
                <a:rPr lang="en-US" sz="2500" b="1">
                  <a:solidFill>
                    <a:srgbClr val="000000"/>
                  </a:solidFill>
                  <a:latin typeface="Noto Sans Bold" panose="020B0802040504020204"/>
                  <a:ea typeface="Noto Sans Bold" panose="020B0802040504020204"/>
                  <a:cs typeface="Noto Sans Bold" panose="020B0802040504020204"/>
                  <a:sym typeface="Noto Sans Bold" panose="020B0802040504020204"/>
                </a:rPr>
                <a:t>Mã hóa biến phân loại</a:t>
              </a:r>
            </a:p>
          </p:txBody>
        </p:sp>
      </p:grpSp>
      <p:grpSp>
        <p:nvGrpSpPr>
          <p:cNvPr id="15" name="Group 15"/>
          <p:cNvGrpSpPr/>
          <p:nvPr/>
        </p:nvGrpSpPr>
        <p:grpSpPr>
          <a:xfrm>
            <a:off x="13386791" y="8116116"/>
            <a:ext cx="3872509" cy="1013309"/>
            <a:chOff x="0" y="0"/>
            <a:chExt cx="1019920" cy="266880"/>
          </a:xfrm>
        </p:grpSpPr>
        <p:sp>
          <p:nvSpPr>
            <p:cNvPr id="16" name="Freeform 16"/>
            <p:cNvSpPr/>
            <p:nvPr/>
          </p:nvSpPr>
          <p:spPr>
            <a:xfrm>
              <a:off x="0" y="0"/>
              <a:ext cx="1019920" cy="266880"/>
            </a:xfrm>
            <a:custGeom>
              <a:avLst/>
              <a:gdLst/>
              <a:ahLst/>
              <a:cxnLst/>
              <a:rect l="l" t="t" r="r" b="b"/>
              <a:pathLst>
                <a:path w="1019920" h="266880">
                  <a:moveTo>
                    <a:pt x="0" y="0"/>
                  </a:moveTo>
                  <a:lnTo>
                    <a:pt x="1019920" y="0"/>
                  </a:lnTo>
                  <a:lnTo>
                    <a:pt x="1019920" y="266880"/>
                  </a:lnTo>
                  <a:lnTo>
                    <a:pt x="0" y="266880"/>
                  </a:lnTo>
                  <a:close/>
                </a:path>
              </a:pathLst>
            </a:custGeom>
            <a:solidFill>
              <a:srgbClr val="FCEDD1"/>
            </a:solidFill>
          </p:spPr>
          <p:txBody>
            <a:bodyPr/>
            <a:lstStyle/>
            <a:p>
              <a:endParaRPr lang="en-US"/>
            </a:p>
          </p:txBody>
        </p:sp>
        <p:sp>
          <p:nvSpPr>
            <p:cNvPr id="17" name="TextBox 17"/>
            <p:cNvSpPr txBox="1"/>
            <p:nvPr/>
          </p:nvSpPr>
          <p:spPr>
            <a:xfrm>
              <a:off x="0" y="-47625"/>
              <a:ext cx="1019920" cy="314505"/>
            </a:xfrm>
            <a:prstGeom prst="rect">
              <a:avLst/>
            </a:prstGeom>
          </p:spPr>
          <p:txBody>
            <a:bodyPr lIns="50800" tIns="50800" rIns="50800" bIns="50800" rtlCol="0" anchor="ctr"/>
            <a:lstStyle/>
            <a:p>
              <a:pPr algn="ctr">
                <a:lnSpc>
                  <a:spcPts val="3500"/>
                </a:lnSpc>
              </a:pPr>
              <a:r>
                <a:rPr lang="en-US" sz="2500" b="1">
                  <a:solidFill>
                    <a:srgbClr val="000000"/>
                  </a:solidFill>
                  <a:latin typeface="Noto Sans Bold" panose="020B0802040504020204"/>
                  <a:ea typeface="Noto Sans Bold" panose="020B0802040504020204"/>
                  <a:cs typeface="Noto Sans Bold" panose="020B0802040504020204"/>
                  <a:sym typeface="Noto Sans Bold" panose="020B0802040504020204"/>
                </a:rPr>
                <a:t>Chuẩn hóa biến số</a:t>
              </a:r>
            </a:p>
          </p:txBody>
        </p:sp>
      </p:grpSp>
      <p:sp>
        <p:nvSpPr>
          <p:cNvPr id="18" name="AutoShape 18"/>
          <p:cNvSpPr/>
          <p:nvPr/>
        </p:nvSpPr>
        <p:spPr>
          <a:xfrm>
            <a:off x="15323045" y="3987253"/>
            <a:ext cx="0" cy="824692"/>
          </a:xfrm>
          <a:prstGeom prst="line">
            <a:avLst/>
          </a:prstGeom>
          <a:ln w="38100" cap="flat">
            <a:solidFill>
              <a:srgbClr val="000000"/>
            </a:solidFill>
            <a:prstDash val="solid"/>
            <a:headEnd type="none" w="sm" len="sm"/>
            <a:tailEnd type="arrow" w="med" len="sm"/>
          </a:ln>
        </p:spPr>
        <p:txBody>
          <a:bodyPr/>
          <a:lstStyle/>
          <a:p>
            <a:endParaRPr lang="en-US"/>
          </a:p>
        </p:txBody>
      </p:sp>
      <p:sp>
        <p:nvSpPr>
          <p:cNvPr id="19" name="AutoShape 19"/>
          <p:cNvSpPr/>
          <p:nvPr/>
        </p:nvSpPr>
        <p:spPr>
          <a:xfrm>
            <a:off x="15323045" y="5772615"/>
            <a:ext cx="0" cy="649545"/>
          </a:xfrm>
          <a:prstGeom prst="line">
            <a:avLst/>
          </a:prstGeom>
          <a:ln w="38100" cap="flat">
            <a:solidFill>
              <a:srgbClr val="000000"/>
            </a:solidFill>
            <a:prstDash val="solid"/>
            <a:headEnd type="none" w="sm" len="sm"/>
            <a:tailEnd type="arrow" w="med" len="sm"/>
          </a:ln>
        </p:spPr>
        <p:txBody>
          <a:bodyPr/>
          <a:lstStyle/>
          <a:p>
            <a:endParaRPr lang="en-US"/>
          </a:p>
        </p:txBody>
      </p:sp>
      <p:sp>
        <p:nvSpPr>
          <p:cNvPr id="20" name="AutoShape 20"/>
          <p:cNvSpPr/>
          <p:nvPr/>
        </p:nvSpPr>
        <p:spPr>
          <a:xfrm>
            <a:off x="15323045" y="7473617"/>
            <a:ext cx="0" cy="642499"/>
          </a:xfrm>
          <a:prstGeom prst="line">
            <a:avLst/>
          </a:prstGeom>
          <a:ln w="38100" cap="flat">
            <a:solidFill>
              <a:srgbClr val="000000"/>
            </a:solidFill>
            <a:prstDash val="solid"/>
            <a:headEnd type="none" w="sm" len="sm"/>
            <a:tailEnd type="arrow" w="med" len="sm"/>
          </a:ln>
        </p:spPr>
        <p:txBody>
          <a:bodyPr/>
          <a:lstStyle/>
          <a:p>
            <a:endParaRPr lang="en-US"/>
          </a:p>
        </p:txBody>
      </p:sp>
      <p:sp>
        <p:nvSpPr>
          <p:cNvPr id="21" name="TextBox 21"/>
          <p:cNvSpPr txBox="1"/>
          <p:nvPr/>
        </p:nvSpPr>
        <p:spPr>
          <a:xfrm>
            <a:off x="623519"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3. Các phương pháp đề xuất</a:t>
            </a:r>
          </a:p>
        </p:txBody>
      </p:sp>
      <p:sp>
        <p:nvSpPr>
          <p:cNvPr id="22" name="TextBox 22"/>
          <p:cNvSpPr txBox="1"/>
          <p:nvPr/>
        </p:nvSpPr>
        <p:spPr>
          <a:xfrm>
            <a:off x="1249442" y="1762125"/>
            <a:ext cx="4433411" cy="628650"/>
          </a:xfrm>
          <a:prstGeom prst="rect">
            <a:avLst/>
          </a:prstGeom>
        </p:spPr>
        <p:txBody>
          <a:bodyPr lIns="0" tIns="0" rIns="0" bIns="0" rtlCol="0" anchor="t">
            <a:spAutoFit/>
          </a:bodyPr>
          <a:lstStyle/>
          <a:p>
            <a:pPr algn="l">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Tiền xử lí dữ liệu</a:t>
            </a:r>
          </a:p>
        </p:txBody>
      </p:sp>
      <p:sp>
        <p:nvSpPr>
          <p:cNvPr id="23" name="TextBox 2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C3F60"/>
                </a:solidFill>
                <a:latin typeface="Noto Sans" panose="020B0502040504020204"/>
                <a:ea typeface="Noto Sans" panose="020B0502040504020204"/>
                <a:cs typeface="Noto Sans" panose="020B0502040504020204"/>
                <a:sym typeface="Noto Sans" panose="020B0502040504020204"/>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857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3. Các phương pháp đề xuất</a:t>
            </a:r>
          </a:p>
        </p:txBody>
      </p:sp>
      <p:sp>
        <p:nvSpPr>
          <p:cNvPr id="5" name="TextBox 5"/>
          <p:cNvSpPr txBox="1"/>
          <p:nvPr/>
        </p:nvSpPr>
        <p:spPr>
          <a:xfrm>
            <a:off x="1401265" y="1946600"/>
            <a:ext cx="15751016" cy="647700"/>
          </a:xfrm>
          <a:prstGeom prst="rect">
            <a:avLst/>
          </a:prstGeom>
        </p:spPr>
        <p:txBody>
          <a:bodyPr lIns="0" tIns="0" rIns="0" bIns="0" rtlCol="0" anchor="t">
            <a:spAutoFit/>
          </a:bodyPr>
          <a:lstStyle/>
          <a:p>
            <a:pPr algn="l">
              <a:lnSpc>
                <a:spcPts val="4560"/>
              </a:lnSpc>
              <a:spcBef>
                <a:spcPct val="0"/>
              </a:spcBef>
            </a:pPr>
            <a:r>
              <a:rPr lang="en-US" sz="3800" b="1">
                <a:solidFill>
                  <a:srgbClr val="1C3F60"/>
                </a:solidFill>
                <a:latin typeface="Calibri (MS) Bold" panose="020F0702030404030204"/>
                <a:ea typeface="Calibri (MS) Bold" panose="020F0702030404030204"/>
                <a:cs typeface="Calibri (MS) Bold" panose="020F0702030404030204"/>
                <a:sym typeface="Calibri (MS) Bold" panose="020F0702030404030204"/>
              </a:rPr>
              <a:t>Tiền xử lí dữ liệu</a:t>
            </a:r>
          </a:p>
        </p:txBody>
      </p:sp>
      <p:sp>
        <p:nvSpPr>
          <p:cNvPr id="6" name="TextBox 6"/>
          <p:cNvSpPr txBox="1"/>
          <p:nvPr/>
        </p:nvSpPr>
        <p:spPr>
          <a:xfrm>
            <a:off x="1401265" y="2901644"/>
            <a:ext cx="15751016" cy="628650"/>
          </a:xfrm>
          <a:prstGeom prst="rect">
            <a:avLst/>
          </a:prstGeom>
        </p:spPr>
        <p:txBody>
          <a:bodyPr lIns="0" tIns="0" rIns="0" bIns="0" rtlCol="0" anchor="t">
            <a:spAutoFit/>
          </a:bodyPr>
          <a:lstStyle/>
          <a:p>
            <a:pPr algn="l">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Xử lí các giá trị bị thiếu- Missing Value Imputation</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C3F60"/>
                </a:solidFill>
                <a:latin typeface="Noto Sans" panose="020B0502040504020204"/>
                <a:ea typeface="Noto Sans" panose="020B0502040504020204"/>
                <a:cs typeface="Noto Sans" panose="020B0502040504020204"/>
                <a:sym typeface="Noto Sans" panose="020B0502040504020204"/>
              </a:rPr>
              <a:t>21</a:t>
            </a:r>
          </a:p>
        </p:txBody>
      </p:sp>
      <p:sp>
        <p:nvSpPr>
          <p:cNvPr id="8" name="TextBox 8"/>
          <p:cNvSpPr txBox="1"/>
          <p:nvPr/>
        </p:nvSpPr>
        <p:spPr>
          <a:xfrm>
            <a:off x="1401265" y="3173106"/>
            <a:ext cx="10053849" cy="1714500"/>
          </a:xfrm>
          <a:prstGeom prst="rect">
            <a:avLst/>
          </a:prstGeom>
        </p:spPr>
        <p:txBody>
          <a:bodyPr lIns="0" tIns="0" rIns="0" bIns="0" rtlCol="0" anchor="t">
            <a:spAutoFit/>
          </a:bodyPr>
          <a:lstStyle/>
          <a:p>
            <a:pPr algn="l">
              <a:lnSpc>
                <a:spcPts val="4320"/>
              </a:lnSpc>
            </a:pPr>
            <a:endParaRPr/>
          </a:p>
          <a:p>
            <a:pPr algn="l">
              <a:lnSpc>
                <a:spcPts val="4320"/>
              </a:lnSpc>
              <a:spcBef>
                <a:spcPct val="0"/>
              </a:spcBef>
            </a:pPr>
            <a:r>
              <a:rPr lang="en-US" sz="3600" spc="179">
                <a:solidFill>
                  <a:srgbClr val="000000"/>
                </a:solidFill>
                <a:latin typeface="Calibri (MS)" panose="020F0502020204030204"/>
                <a:ea typeface="Calibri (MS)" panose="020F0502020204030204"/>
                <a:cs typeface="Calibri (MS)" panose="020F0502020204030204"/>
                <a:sym typeface="Calibri (MS)" panose="020F0502020204030204"/>
              </a:rPr>
              <a:t>Cột phân loại(Categorical columns :Điền “None”</a:t>
            </a:r>
          </a:p>
          <a:p>
            <a:pPr algn="l">
              <a:lnSpc>
                <a:spcPts val="4320"/>
              </a:lnSpc>
              <a:spcBef>
                <a:spcPct val="0"/>
              </a:spcBef>
            </a:pPr>
            <a:endParaRPr lang="en-US" sz="3600" spc="179">
              <a:solidFill>
                <a:srgbClr val="000000"/>
              </a:solidFill>
              <a:latin typeface="Calibri (MS)" panose="020F0502020204030204"/>
              <a:ea typeface="Calibri (MS)" panose="020F0502020204030204"/>
              <a:cs typeface="Calibri (MS)" panose="020F0502020204030204"/>
              <a:sym typeface="Calibri (MS)" panose="020F0502020204030204"/>
            </a:endParaRPr>
          </a:p>
        </p:txBody>
      </p:sp>
      <p:sp>
        <p:nvSpPr>
          <p:cNvPr id="9" name="TextBox 9"/>
          <p:cNvSpPr txBox="1"/>
          <p:nvPr/>
        </p:nvSpPr>
        <p:spPr>
          <a:xfrm>
            <a:off x="1401265" y="4514850"/>
            <a:ext cx="10053849" cy="628650"/>
          </a:xfrm>
          <a:prstGeom prst="rect">
            <a:avLst/>
          </a:prstGeom>
        </p:spPr>
        <p:txBody>
          <a:bodyPr lIns="0" tIns="0" rIns="0" bIns="0" rtlCol="0" anchor="t">
            <a:spAutoFit/>
          </a:bodyPr>
          <a:lstStyle/>
          <a:p>
            <a:pPr algn="l">
              <a:lnSpc>
                <a:spcPts val="4320"/>
              </a:lnSpc>
              <a:spcBef>
                <a:spcPct val="0"/>
              </a:spcBef>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Cột số (Numerical columns): Điền bằng median</a:t>
            </a:r>
          </a:p>
        </p:txBody>
      </p:sp>
      <p:sp>
        <p:nvSpPr>
          <p:cNvPr id="10" name="TextBox 10"/>
          <p:cNvSpPr txBox="1"/>
          <p:nvPr/>
        </p:nvSpPr>
        <p:spPr>
          <a:xfrm>
            <a:off x="1401265" y="5797244"/>
            <a:ext cx="15751016" cy="628650"/>
          </a:xfrm>
          <a:prstGeom prst="rect">
            <a:avLst/>
          </a:prstGeom>
        </p:spPr>
        <p:txBody>
          <a:bodyPr lIns="0" tIns="0" rIns="0" bIns="0" rtlCol="0" anchor="t">
            <a:spAutoFit/>
          </a:bodyPr>
          <a:lstStyle/>
          <a:p>
            <a:pPr algn="l">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Mã hóa biến phân loại (Encoding Categorical)</a:t>
            </a:r>
          </a:p>
        </p:txBody>
      </p:sp>
      <p:sp>
        <p:nvSpPr>
          <p:cNvPr id="11" name="TextBox 11"/>
          <p:cNvSpPr txBox="1"/>
          <p:nvPr/>
        </p:nvSpPr>
        <p:spPr>
          <a:xfrm>
            <a:off x="1028700" y="6565857"/>
            <a:ext cx="10053849" cy="1714500"/>
          </a:xfrm>
          <a:prstGeom prst="rect">
            <a:avLst/>
          </a:prstGeom>
        </p:spPr>
        <p:txBody>
          <a:bodyPr lIns="0" tIns="0" rIns="0" bIns="0" rtlCol="0" anchor="t">
            <a:spAutoFit/>
          </a:bodyPr>
          <a:lstStyle/>
          <a:p>
            <a:pPr marL="777240" lvl="1" indent="-388620" algn="l">
              <a:lnSpc>
                <a:spcPts val="4320"/>
              </a:lnSpc>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One-hot encoding: các biến có ≤10 category</a:t>
            </a:r>
          </a:p>
          <a:p>
            <a:pPr marL="777240" lvl="1" indent="-388620" algn="l">
              <a:lnSpc>
                <a:spcPts val="4320"/>
              </a:lnSpc>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Label encoding: các biến có &gt;10 category, fit trên train + test để tránh unseen labels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90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AutoShape 4"/>
          <p:cNvSpPr/>
          <p:nvPr/>
        </p:nvSpPr>
        <p:spPr>
          <a:xfrm>
            <a:off x="9368451" y="6004855"/>
            <a:ext cx="457400" cy="25400"/>
          </a:xfrm>
          <a:prstGeom prst="line">
            <a:avLst/>
          </a:prstGeom>
          <a:ln w="9525" cap="rnd">
            <a:solidFill>
              <a:srgbClr val="AFC1D0"/>
            </a:solidFill>
            <a:prstDash val="solid"/>
            <a:headEnd type="none" w="sm" len="sm"/>
            <a:tailEnd type="none" w="sm" len="sm"/>
          </a:ln>
        </p:spPr>
        <p:txBody>
          <a:bodyPr/>
          <a:lstStyle/>
          <a:p>
            <a:endParaRPr lang="en-US"/>
          </a:p>
        </p:txBody>
      </p:sp>
      <p:sp>
        <p:nvSpPr>
          <p:cNvPr id="5" name="TextBox 5"/>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3. Các phương pháp đề xuất</a:t>
            </a:r>
          </a:p>
        </p:txBody>
      </p:sp>
      <p:sp>
        <p:nvSpPr>
          <p:cNvPr id="6" name="TextBox 6"/>
          <p:cNvSpPr txBox="1"/>
          <p:nvPr/>
        </p:nvSpPr>
        <p:spPr>
          <a:xfrm>
            <a:off x="-752580" y="1983029"/>
            <a:ext cx="6719977" cy="631942"/>
          </a:xfrm>
          <a:prstGeom prst="rect">
            <a:avLst/>
          </a:prstGeom>
        </p:spPr>
        <p:txBody>
          <a:bodyPr lIns="0" tIns="0" rIns="0" bIns="0" rtlCol="0" anchor="t">
            <a:spAutoFit/>
          </a:bodyPr>
          <a:lstStyle/>
          <a:p>
            <a:pPr algn="ctr">
              <a:lnSpc>
                <a:spcPts val="4495"/>
              </a:lnSpc>
              <a:spcBef>
                <a:spcPct val="0"/>
              </a:spcBef>
            </a:pPr>
            <a:r>
              <a:rPr lang="en-US" sz="3750" b="1">
                <a:solidFill>
                  <a:srgbClr val="1C3F60"/>
                </a:solidFill>
                <a:latin typeface="Calibri (MS) Bold" panose="020F0702030404030204"/>
                <a:ea typeface="Calibri (MS) Bold" panose="020F0702030404030204"/>
                <a:cs typeface="Calibri (MS) Bold" panose="020F0702030404030204"/>
                <a:sym typeface="Calibri (MS) Bold" panose="020F0702030404030204"/>
              </a:rPr>
              <a:t>Model training</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1C3F60"/>
                </a:solidFill>
                <a:latin typeface="Noto Sans" panose="020B0502040504020204"/>
                <a:ea typeface="Noto Sans" panose="020B0502040504020204"/>
                <a:cs typeface="Noto Sans" panose="020B0502040504020204"/>
                <a:sym typeface="Noto Sans" panose="020B0502040504020204"/>
              </a:rPr>
              <a:t>22</a:t>
            </a:r>
          </a:p>
        </p:txBody>
      </p:sp>
      <p:grpSp>
        <p:nvGrpSpPr>
          <p:cNvPr id="8" name="Group 8"/>
          <p:cNvGrpSpPr/>
          <p:nvPr/>
        </p:nvGrpSpPr>
        <p:grpSpPr>
          <a:xfrm>
            <a:off x="0" y="3752506"/>
            <a:ext cx="5455452" cy="3934188"/>
            <a:chOff x="0" y="0"/>
            <a:chExt cx="1525499" cy="1100111"/>
          </a:xfrm>
        </p:grpSpPr>
        <p:sp>
          <p:nvSpPr>
            <p:cNvPr id="9" name="Freeform 9"/>
            <p:cNvSpPr/>
            <p:nvPr/>
          </p:nvSpPr>
          <p:spPr>
            <a:xfrm>
              <a:off x="0" y="0"/>
              <a:ext cx="1525499" cy="1100111"/>
            </a:xfrm>
            <a:custGeom>
              <a:avLst/>
              <a:gdLst/>
              <a:ahLst/>
              <a:cxnLst/>
              <a:rect l="l" t="t" r="r" b="b"/>
              <a:pathLst>
                <a:path w="1525499" h="1100111">
                  <a:moveTo>
                    <a:pt x="0" y="0"/>
                  </a:moveTo>
                  <a:lnTo>
                    <a:pt x="1525499" y="0"/>
                  </a:lnTo>
                  <a:lnTo>
                    <a:pt x="1525499" y="1100111"/>
                  </a:lnTo>
                  <a:lnTo>
                    <a:pt x="0" y="1100111"/>
                  </a:lnTo>
                  <a:close/>
                </a:path>
              </a:pathLst>
            </a:custGeom>
            <a:blipFill>
              <a:blip r:embed="rId3"/>
              <a:stretch>
                <a:fillRect l="-22114" r="-22114"/>
              </a:stretch>
            </a:blipFill>
          </p:spPr>
          <p:txBody>
            <a:bodyPr/>
            <a:lstStyle/>
            <a:p>
              <a:endParaRPr lang="en-US"/>
            </a:p>
          </p:txBody>
        </p:sp>
      </p:grpSp>
      <p:grpSp>
        <p:nvGrpSpPr>
          <p:cNvPr id="10" name="Group 10"/>
          <p:cNvGrpSpPr/>
          <p:nvPr/>
        </p:nvGrpSpPr>
        <p:grpSpPr>
          <a:xfrm>
            <a:off x="5815020" y="3752506"/>
            <a:ext cx="5965617" cy="3777920"/>
            <a:chOff x="0" y="0"/>
            <a:chExt cx="1737157" cy="1100111"/>
          </a:xfrm>
        </p:grpSpPr>
        <p:sp>
          <p:nvSpPr>
            <p:cNvPr id="11" name="Freeform 11"/>
            <p:cNvSpPr/>
            <p:nvPr/>
          </p:nvSpPr>
          <p:spPr>
            <a:xfrm>
              <a:off x="0" y="0"/>
              <a:ext cx="1737157" cy="1100111"/>
            </a:xfrm>
            <a:custGeom>
              <a:avLst/>
              <a:gdLst/>
              <a:ahLst/>
              <a:cxnLst/>
              <a:rect l="l" t="t" r="r" b="b"/>
              <a:pathLst>
                <a:path w="1737157" h="1100111">
                  <a:moveTo>
                    <a:pt x="0" y="0"/>
                  </a:moveTo>
                  <a:lnTo>
                    <a:pt x="1737157" y="0"/>
                  </a:lnTo>
                  <a:lnTo>
                    <a:pt x="1737157" y="1100111"/>
                  </a:lnTo>
                  <a:lnTo>
                    <a:pt x="0" y="1100111"/>
                  </a:lnTo>
                  <a:close/>
                </a:path>
              </a:pathLst>
            </a:custGeom>
            <a:blipFill>
              <a:blip r:embed="rId4"/>
              <a:stretch>
                <a:fillRect t="-470" b="-470"/>
              </a:stretch>
            </a:blipFill>
          </p:spPr>
          <p:txBody>
            <a:bodyPr/>
            <a:lstStyle/>
            <a:p>
              <a:endParaRPr lang="en-US"/>
            </a:p>
          </p:txBody>
        </p:sp>
      </p:grpSp>
      <p:sp>
        <p:nvSpPr>
          <p:cNvPr id="14" name="TextBox 13"/>
          <p:cNvSpPr txBox="1"/>
          <p:nvPr/>
        </p:nvSpPr>
        <p:spPr>
          <a:xfrm>
            <a:off x="111125" y="7886700"/>
            <a:ext cx="5344160" cy="610235"/>
          </a:xfrm>
          <a:prstGeom prst="rect">
            <a:avLst/>
          </a:prstGeom>
        </p:spPr>
        <p:txBody>
          <a:bodyPr wrap="square" lIns="0" tIns="0" rIns="0" bIns="0" rtlCol="0" anchor="t">
            <a:spAutoFit/>
          </a:bodyPr>
          <a:lstStyle/>
          <a:p>
            <a:pPr algn="ctr">
              <a:lnSpc>
                <a:spcPts val="4760"/>
              </a:lnSpc>
            </a:pPr>
            <a:r>
              <a:rPr lang="en-US" sz="3400">
                <a:solidFill>
                  <a:srgbClr val="000000"/>
                </a:solidFill>
                <a:latin typeface="Calibri (MS)" panose="020F0502020204030204"/>
                <a:ea typeface="Calibri (MS)" panose="020F0502020204030204"/>
                <a:cs typeface="Calibri (MS)" panose="020F0502020204030204"/>
                <a:sym typeface="Calibri (MS)" panose="020F0502020204030204"/>
              </a:rPr>
              <a:t>CatBoost</a:t>
            </a:r>
          </a:p>
        </p:txBody>
      </p:sp>
      <p:sp>
        <p:nvSpPr>
          <p:cNvPr id="15" name="TextBox 13"/>
          <p:cNvSpPr txBox="1"/>
          <p:nvPr/>
        </p:nvSpPr>
        <p:spPr>
          <a:xfrm>
            <a:off x="6172200" y="7886700"/>
            <a:ext cx="5344160" cy="610235"/>
          </a:xfrm>
          <a:prstGeom prst="rect">
            <a:avLst/>
          </a:prstGeom>
        </p:spPr>
        <p:txBody>
          <a:bodyPr wrap="square" lIns="0" tIns="0" rIns="0" bIns="0" rtlCol="0" anchor="t">
            <a:spAutoFit/>
          </a:bodyPr>
          <a:lstStyle/>
          <a:p>
            <a:pPr algn="ctr">
              <a:lnSpc>
                <a:spcPts val="4760"/>
              </a:lnSpc>
            </a:pPr>
            <a:r>
              <a:rPr lang="en-US" sz="3400">
                <a:solidFill>
                  <a:srgbClr val="000000"/>
                </a:solidFill>
                <a:latin typeface="Calibri (MS)" panose="020F0502020204030204"/>
                <a:ea typeface="Calibri (MS)" panose="020F0502020204030204"/>
                <a:cs typeface="Calibri (MS)" panose="020F0502020204030204"/>
                <a:sym typeface="Calibri (MS)" panose="020F0502020204030204"/>
              </a:rPr>
              <a:t>XGBoost</a:t>
            </a:r>
          </a:p>
        </p:txBody>
      </p:sp>
      <p:sp>
        <p:nvSpPr>
          <p:cNvPr id="16" name="TextBox 13"/>
          <p:cNvSpPr txBox="1"/>
          <p:nvPr/>
        </p:nvSpPr>
        <p:spPr>
          <a:xfrm>
            <a:off x="12420600" y="7810500"/>
            <a:ext cx="5344160" cy="610235"/>
          </a:xfrm>
          <a:prstGeom prst="rect">
            <a:avLst/>
          </a:prstGeom>
        </p:spPr>
        <p:txBody>
          <a:bodyPr wrap="square" lIns="0" tIns="0" rIns="0" bIns="0" rtlCol="0" anchor="t">
            <a:spAutoFit/>
          </a:bodyPr>
          <a:lstStyle/>
          <a:p>
            <a:pPr algn="ctr">
              <a:lnSpc>
                <a:spcPts val="4760"/>
              </a:lnSpc>
            </a:pPr>
            <a:r>
              <a:rPr lang="en-US" sz="3400">
                <a:solidFill>
                  <a:srgbClr val="000000"/>
                </a:solidFill>
                <a:latin typeface="Calibri (MS)" panose="020F0502020204030204"/>
                <a:ea typeface="Calibri (MS)" panose="020F0502020204030204"/>
                <a:cs typeface="Calibri (MS)" panose="020F0502020204030204"/>
                <a:sym typeface="Calibri (MS)" panose="020F0502020204030204"/>
              </a:rPr>
              <a:t>Light GBM</a:t>
            </a:r>
          </a:p>
        </p:txBody>
      </p:sp>
      <p:pic>
        <p:nvPicPr>
          <p:cNvPr id="17" name="Picture 16"/>
          <p:cNvPicPr/>
          <p:nvPr/>
        </p:nvPicPr>
        <p:blipFill>
          <a:blip r:embed="rId5"/>
          <a:stretch>
            <a:fillRect/>
          </a:stretch>
        </p:blipFill>
        <p:spPr>
          <a:xfrm>
            <a:off x="12084050" y="4229100"/>
            <a:ext cx="6032500" cy="31038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857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3. Các phương pháp đề xuất</a:t>
            </a:r>
          </a:p>
        </p:txBody>
      </p:sp>
      <p:sp>
        <p:nvSpPr>
          <p:cNvPr id="5" name="TextBox 5"/>
          <p:cNvSpPr txBox="1"/>
          <p:nvPr/>
        </p:nvSpPr>
        <p:spPr>
          <a:xfrm>
            <a:off x="1239917" y="1945050"/>
            <a:ext cx="15751016" cy="628650"/>
          </a:xfrm>
          <a:prstGeom prst="rect">
            <a:avLst/>
          </a:prstGeom>
        </p:spPr>
        <p:txBody>
          <a:bodyPr lIns="0" tIns="0" rIns="0" bIns="0" rtlCol="0" anchor="t">
            <a:spAutoFit/>
          </a:bodyPr>
          <a:lstStyle/>
          <a:p>
            <a:pPr algn="l">
              <a:lnSpc>
                <a:spcPts val="4320"/>
              </a:lnSpc>
              <a:spcBef>
                <a:spcPct val="0"/>
              </a:spcBef>
            </a:pPr>
            <a:r>
              <a:rPr lang="en-US" sz="3600" b="1">
                <a:solidFill>
                  <a:srgbClr val="1C3F60"/>
                </a:solidFill>
                <a:latin typeface="Calibri (MS) Bold" panose="020F0702030404030204"/>
                <a:ea typeface="Calibri (MS) Bold" panose="020F0702030404030204"/>
                <a:cs typeface="Calibri (MS) Bold" panose="020F0702030404030204"/>
                <a:sym typeface="Calibri (MS) Bold" panose="020F0702030404030204"/>
              </a:rPr>
              <a:t>Model evaluation:</a:t>
            </a:r>
          </a:p>
        </p:txBody>
      </p:sp>
      <p:sp>
        <p:nvSpPr>
          <p:cNvPr id="6" name="TextBox 6"/>
          <p:cNvSpPr txBox="1"/>
          <p:nvPr/>
        </p:nvSpPr>
        <p:spPr>
          <a:xfrm>
            <a:off x="1239917" y="2694087"/>
            <a:ext cx="15751016" cy="628650"/>
          </a:xfrm>
          <a:prstGeom prst="rect">
            <a:avLst/>
          </a:prstGeom>
        </p:spPr>
        <p:txBody>
          <a:bodyPr lIns="0" tIns="0" rIns="0" bIns="0" rtlCol="0" anchor="t">
            <a:spAutoFit/>
          </a:bodyPr>
          <a:lstStyle/>
          <a:p>
            <a:pPr algn="l">
              <a:lnSpc>
                <a:spcPts val="4320"/>
              </a:lnSpc>
              <a:spcBef>
                <a:spcPct val="0"/>
              </a:spcBef>
            </a:pPr>
            <a:r>
              <a:rPr lang="en-US" sz="3600" b="1">
                <a:solidFill>
                  <a:srgbClr val="0B1320"/>
                </a:solidFill>
                <a:latin typeface="Calibri (MS) Bold" panose="020F0702030404030204"/>
                <a:ea typeface="Calibri (MS) Bold" panose="020F0702030404030204"/>
                <a:cs typeface="Calibri (MS) Bold" panose="020F0702030404030204"/>
                <a:sym typeface="Calibri (MS) Bold" panose="020F0702030404030204"/>
              </a:rPr>
              <a:t>Đánh giá bằng K-Fold</a:t>
            </a:r>
          </a:p>
        </p:txBody>
      </p:sp>
      <p:sp>
        <p:nvSpPr>
          <p:cNvPr id="7" name="TextBox 7"/>
          <p:cNvSpPr txBox="1"/>
          <p:nvPr/>
        </p:nvSpPr>
        <p:spPr>
          <a:xfrm>
            <a:off x="1239917" y="3237012"/>
            <a:ext cx="15751016" cy="2257425"/>
          </a:xfrm>
          <a:prstGeom prst="rect">
            <a:avLst/>
          </a:prstGeom>
        </p:spPr>
        <p:txBody>
          <a:bodyPr lIns="0" tIns="0" rIns="0" bIns="0" rtlCol="0" anchor="t">
            <a:spAutoFit/>
          </a:bodyPr>
          <a:lstStyle/>
          <a:p>
            <a:pPr marL="777240" lvl="1" indent="-388620" algn="l">
              <a:lnSpc>
                <a:spcPts val="4320"/>
              </a:lnSpc>
              <a:buFont typeface="Arial" panose="020B0604020202020204"/>
              <a:buChar char="•"/>
            </a:pPr>
            <a:r>
              <a:rPr lang="en-US" sz="3600">
                <a:solidFill>
                  <a:srgbClr val="0B1320"/>
                </a:solidFill>
                <a:latin typeface="Calibri (MS)" panose="020F0502020204030204"/>
                <a:ea typeface="Calibri (MS)" panose="020F0502020204030204"/>
                <a:cs typeface="Calibri (MS)" panose="020F0502020204030204"/>
                <a:sym typeface="Calibri (MS)" panose="020F0502020204030204"/>
              </a:rPr>
              <a:t>Chia tập huấn luyện thành 5 phần bằng nhau </a:t>
            </a:r>
          </a:p>
          <a:p>
            <a:pPr marL="777240" lvl="1" indent="-388620" algn="l">
              <a:lnSpc>
                <a:spcPts val="4320"/>
              </a:lnSpc>
              <a:buFont typeface="Arial" panose="020B0604020202020204"/>
              <a:buChar char="•"/>
            </a:pPr>
            <a:r>
              <a:rPr lang="en-US" sz="3600">
                <a:solidFill>
                  <a:srgbClr val="0B1320"/>
                </a:solidFill>
                <a:latin typeface="Calibri (MS)" panose="020F0502020204030204"/>
                <a:ea typeface="Calibri (MS)" panose="020F0502020204030204"/>
                <a:cs typeface="Calibri (MS)" panose="020F0502020204030204"/>
                <a:sym typeface="Calibri (MS)" panose="020F0502020204030204"/>
              </a:rPr>
              <a:t>Lặp lại huấn luyện và kiểm tra 5 lần với các fold khác nhau</a:t>
            </a:r>
          </a:p>
          <a:p>
            <a:pPr marL="777240" lvl="1" indent="-388620" algn="l">
              <a:lnSpc>
                <a:spcPts val="4320"/>
              </a:lnSpc>
              <a:buFont typeface="Arial" panose="020B0604020202020204"/>
              <a:buChar char="•"/>
            </a:pPr>
            <a:r>
              <a:rPr lang="en-US" sz="3600">
                <a:solidFill>
                  <a:srgbClr val="0B1320"/>
                </a:solidFill>
                <a:latin typeface="Calibri (MS)" panose="020F0502020204030204"/>
                <a:ea typeface="Calibri (MS)" panose="020F0502020204030204"/>
                <a:cs typeface="Calibri (MS)" panose="020F0502020204030204"/>
                <a:sym typeface="Calibri (MS)" panose="020F0502020204030204"/>
              </a:rPr>
              <a:t>Tính sai số trung bình:</a:t>
            </a:r>
          </a:p>
          <a:p>
            <a:pPr algn="l">
              <a:lnSpc>
                <a:spcPts val="4320"/>
              </a:lnSpc>
              <a:spcBef>
                <a:spcPct val="0"/>
              </a:spcBef>
            </a:pPr>
            <a:endParaRPr lang="en-US" sz="3600">
              <a:solidFill>
                <a:srgbClr val="0B1320"/>
              </a:solidFill>
              <a:latin typeface="Calibri (MS)" panose="020F0502020204030204"/>
              <a:ea typeface="Calibri (MS)" panose="020F0502020204030204"/>
              <a:cs typeface="Calibri (MS)" panose="020F0502020204030204"/>
              <a:sym typeface="Calibri (MS)" panose="020F0502020204030204"/>
            </a:endParaRPr>
          </a:p>
        </p:txBody>
      </p:sp>
      <p:grpSp>
        <p:nvGrpSpPr>
          <p:cNvPr id="8" name="Group 8"/>
          <p:cNvGrpSpPr/>
          <p:nvPr/>
        </p:nvGrpSpPr>
        <p:grpSpPr>
          <a:xfrm>
            <a:off x="5142256" y="5143500"/>
            <a:ext cx="8452390" cy="4475953"/>
            <a:chOff x="0" y="0"/>
            <a:chExt cx="3373569" cy="1786469"/>
          </a:xfrm>
        </p:grpSpPr>
        <p:sp>
          <p:nvSpPr>
            <p:cNvPr id="9" name="Freeform 9">
              <a:hlinkClick r:id="rId3" tooltip="https://www.kaggle.com/competitions/house-prices-advanced-regression-techniques"/>
            </p:cNvPr>
            <p:cNvSpPr/>
            <p:nvPr/>
          </p:nvSpPr>
          <p:spPr>
            <a:xfrm>
              <a:off x="0" y="0"/>
              <a:ext cx="3373569" cy="1786469"/>
            </a:xfrm>
            <a:custGeom>
              <a:avLst/>
              <a:gdLst/>
              <a:ahLst/>
              <a:cxnLst/>
              <a:rect l="l" t="t" r="r" b="b"/>
              <a:pathLst>
                <a:path w="3373569" h="1786469">
                  <a:moveTo>
                    <a:pt x="0" y="0"/>
                  </a:moveTo>
                  <a:lnTo>
                    <a:pt x="3373569" y="0"/>
                  </a:lnTo>
                  <a:lnTo>
                    <a:pt x="3373569" y="1786469"/>
                  </a:lnTo>
                  <a:lnTo>
                    <a:pt x="0" y="1786469"/>
                  </a:lnTo>
                  <a:close/>
                </a:path>
              </a:pathLst>
            </a:custGeom>
            <a:blipFill>
              <a:blip r:embed="rId4"/>
              <a:stretch>
                <a:fillRect t="-632" b="-632"/>
              </a:stretch>
            </a:blipFill>
          </p:spPr>
          <p:txBody>
            <a:bodyPr/>
            <a:lstStyle/>
            <a:p>
              <a:endParaRPr lang="en-US"/>
            </a:p>
          </p:txBody>
        </p:sp>
      </p:gr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857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3. Các phương pháp đề xuất</a:t>
            </a:r>
          </a:p>
        </p:txBody>
      </p:sp>
      <p:sp>
        <p:nvSpPr>
          <p:cNvPr id="5" name="TextBox 5"/>
          <p:cNvSpPr txBox="1"/>
          <p:nvPr/>
        </p:nvSpPr>
        <p:spPr>
          <a:xfrm>
            <a:off x="1239917" y="1954575"/>
            <a:ext cx="15751016" cy="638175"/>
          </a:xfrm>
          <a:prstGeom prst="rect">
            <a:avLst/>
          </a:prstGeom>
        </p:spPr>
        <p:txBody>
          <a:bodyPr lIns="0" tIns="0" rIns="0" bIns="0" rtlCol="0" anchor="t">
            <a:spAutoFit/>
          </a:bodyPr>
          <a:lstStyle/>
          <a:p>
            <a:pPr algn="l">
              <a:lnSpc>
                <a:spcPts val="4440"/>
              </a:lnSpc>
              <a:spcBef>
                <a:spcPct val="0"/>
              </a:spcBef>
            </a:pPr>
            <a:r>
              <a:rPr lang="en-US" sz="3700" b="1">
                <a:solidFill>
                  <a:srgbClr val="1C3F60"/>
                </a:solidFill>
                <a:latin typeface="Calibri (MS) Bold" panose="020F0702030404030204"/>
                <a:ea typeface="Calibri (MS) Bold" panose="020F0702030404030204"/>
                <a:cs typeface="Calibri (MS) Bold" panose="020F0702030404030204"/>
                <a:sym typeface="Calibri (MS) Bold" panose="020F0702030404030204"/>
              </a:rPr>
              <a:t>Ensemble learning</a:t>
            </a:r>
          </a:p>
        </p:txBody>
      </p:sp>
      <p:grpSp>
        <p:nvGrpSpPr>
          <p:cNvPr id="6" name="Group 6"/>
          <p:cNvGrpSpPr/>
          <p:nvPr/>
        </p:nvGrpSpPr>
        <p:grpSpPr>
          <a:xfrm>
            <a:off x="682755" y="3668766"/>
            <a:ext cx="8432670" cy="3940386"/>
            <a:chOff x="0" y="0"/>
            <a:chExt cx="10994756" cy="5137588"/>
          </a:xfrm>
        </p:grpSpPr>
        <p:sp>
          <p:nvSpPr>
            <p:cNvPr id="7" name="Freeform 7"/>
            <p:cNvSpPr/>
            <p:nvPr/>
          </p:nvSpPr>
          <p:spPr>
            <a:xfrm>
              <a:off x="0" y="0"/>
              <a:ext cx="10994756" cy="5137588"/>
            </a:xfrm>
            <a:custGeom>
              <a:avLst/>
              <a:gdLst/>
              <a:ahLst/>
              <a:cxnLst/>
              <a:rect l="l" t="t" r="r" b="b"/>
              <a:pathLst>
                <a:path w="10994756" h="5137588">
                  <a:moveTo>
                    <a:pt x="0" y="0"/>
                  </a:moveTo>
                  <a:lnTo>
                    <a:pt x="10994756" y="0"/>
                  </a:lnTo>
                  <a:lnTo>
                    <a:pt x="10994756" y="5137588"/>
                  </a:lnTo>
                  <a:lnTo>
                    <a:pt x="0" y="5137588"/>
                  </a:lnTo>
                  <a:close/>
                </a:path>
              </a:pathLst>
            </a:custGeom>
            <a:blipFill>
              <a:blip r:embed="rId3"/>
              <a:stretch>
                <a:fillRect l="-431" r="-431"/>
              </a:stretch>
            </a:blipFill>
          </p:spPr>
          <p:txBody>
            <a:bodyPr/>
            <a:lstStyle/>
            <a:p>
              <a:endParaRPr lang="en-US"/>
            </a:p>
          </p:txBody>
        </p:sp>
      </p:grpSp>
      <p:sp>
        <p:nvSpPr>
          <p:cNvPr id="8" name="TextBox 8"/>
          <p:cNvSpPr txBox="1"/>
          <p:nvPr/>
        </p:nvSpPr>
        <p:spPr>
          <a:xfrm>
            <a:off x="9933148" y="4275585"/>
            <a:ext cx="7616665" cy="2257425"/>
          </a:xfrm>
          <a:prstGeom prst="rect">
            <a:avLst/>
          </a:prstGeom>
        </p:spPr>
        <p:txBody>
          <a:bodyPr lIns="0" tIns="0" rIns="0" bIns="0" rtlCol="0" anchor="t">
            <a:spAutoFit/>
          </a:bodyPr>
          <a:lstStyle/>
          <a:p>
            <a:pPr algn="l">
              <a:lnSpc>
                <a:spcPts val="4320"/>
              </a:lnSpc>
              <a:spcBef>
                <a:spcPct val="0"/>
              </a:spcBef>
            </a:pPr>
            <a:r>
              <a:rPr lang="en-US" sz="3600" b="1">
                <a:solidFill>
                  <a:srgbClr val="0B1320"/>
                </a:solidFill>
                <a:latin typeface="Calibri (MS) Bold" panose="020F0702030404030204"/>
                <a:ea typeface="Calibri (MS) Bold" panose="020F0702030404030204"/>
                <a:cs typeface="Calibri (MS) Bold" panose="020F0702030404030204"/>
                <a:sym typeface="Calibri (MS) Bold" panose="020F0702030404030204"/>
              </a:rPr>
              <a:t>Weighted Average Ensemble: </a:t>
            </a:r>
            <a:r>
              <a:rPr lang="en-US" sz="3600">
                <a:solidFill>
                  <a:srgbClr val="0B1320"/>
                </a:solidFill>
                <a:latin typeface="Calibri (MS)" panose="020F0502020204030204"/>
                <a:ea typeface="Calibri (MS)" panose="020F0502020204030204"/>
                <a:cs typeface="Calibri (MS)" panose="020F0502020204030204"/>
                <a:sym typeface="Calibri (MS)" panose="020F0502020204030204"/>
              </a:rPr>
              <a:t>kết hợp dự đoán của nhiều mô hình bằng cách gán trọng số khác nhau cho từng mô hình tùy theo độ chính xác của chúng</a:t>
            </a:r>
            <a:r>
              <a:rPr lang="en-US" sz="3600" b="1">
                <a:solidFill>
                  <a:srgbClr val="0B1320"/>
                </a:solidFill>
                <a:latin typeface="Calibri (MS) Bold" panose="020F0702030404030204"/>
                <a:ea typeface="Calibri (MS) Bold" panose="020F0702030404030204"/>
                <a:cs typeface="Calibri (MS) Bold" panose="020F0702030404030204"/>
                <a:sym typeface="Calibri (MS) Bold" panose="020F0702030404030204"/>
              </a:rPr>
              <a:t>.</a:t>
            </a:r>
          </a:p>
        </p:txBody>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857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4. Thực nghiệm và trao đổi</a:t>
            </a:r>
          </a:p>
        </p:txBody>
      </p:sp>
      <p:sp>
        <p:nvSpPr>
          <p:cNvPr id="5" name="TextBox 5"/>
          <p:cNvSpPr txBox="1"/>
          <p:nvPr/>
        </p:nvSpPr>
        <p:spPr>
          <a:xfrm>
            <a:off x="1561563" y="1928791"/>
            <a:ext cx="6719977" cy="628650"/>
          </a:xfrm>
          <a:prstGeom prst="rect">
            <a:avLst/>
          </a:prstGeom>
        </p:spPr>
        <p:txBody>
          <a:bodyPr lIns="0" tIns="0" rIns="0" bIns="0" rtlCol="0" anchor="t">
            <a:spAutoFit/>
          </a:bodyPr>
          <a:lstStyle/>
          <a:p>
            <a:pPr algn="l">
              <a:lnSpc>
                <a:spcPts val="4495"/>
              </a:lnSpc>
              <a:spcBef>
                <a:spcPct val="0"/>
              </a:spcBef>
            </a:pPr>
            <a:r>
              <a:rPr lang="en-US" sz="3750" b="1">
                <a:solidFill>
                  <a:srgbClr val="1C3F60"/>
                </a:solidFill>
                <a:latin typeface="Calibri (MS) Bold" panose="020F0702030404030204"/>
                <a:ea typeface="Calibri (MS) Bold" panose="020F0702030404030204"/>
                <a:cs typeface="Calibri (MS) Bold" panose="020F0702030404030204"/>
                <a:sym typeface="Calibri (MS) Bold" panose="020F0702030404030204"/>
              </a:rPr>
              <a:t>Lần 1. Baseline</a:t>
            </a:r>
          </a:p>
        </p:txBody>
      </p:sp>
      <p:sp>
        <p:nvSpPr>
          <p:cNvPr id="6" name="TextBox 6"/>
          <p:cNvSpPr txBox="1"/>
          <p:nvPr/>
        </p:nvSpPr>
        <p:spPr>
          <a:xfrm>
            <a:off x="1348256" y="2807916"/>
            <a:ext cx="3573295" cy="758192"/>
          </a:xfrm>
          <a:prstGeom prst="rect">
            <a:avLst/>
          </a:prstGeom>
        </p:spPr>
        <p:txBody>
          <a:bodyPr lIns="0" tIns="0" rIns="0" bIns="0" rtlCol="0" anchor="t">
            <a:spAutoFit/>
          </a:bodyPr>
          <a:lstStyle/>
          <a:p>
            <a:pPr algn="l">
              <a:lnSpc>
                <a:spcPts val="5940"/>
              </a:lnSpc>
              <a:spcBef>
                <a:spcPct val="0"/>
              </a:spcBef>
            </a:pPr>
            <a:r>
              <a:rPr lang="en-US" sz="3300" b="1">
                <a:solidFill>
                  <a:srgbClr val="0B1320"/>
                </a:solidFill>
                <a:latin typeface="Calibri (MS) Bold" panose="020F0702030404030204"/>
                <a:ea typeface="Calibri (MS) Bold" panose="020F0702030404030204"/>
                <a:cs typeface="Calibri (MS) Bold" panose="020F0702030404030204"/>
                <a:sym typeface="Calibri (MS) Bold" panose="020F0702030404030204"/>
              </a:rPr>
              <a:t>XGBoost</a:t>
            </a:r>
          </a:p>
        </p:txBody>
      </p:sp>
      <p:sp>
        <p:nvSpPr>
          <p:cNvPr id="7" name="TextBox 7"/>
          <p:cNvSpPr txBox="1"/>
          <p:nvPr/>
        </p:nvSpPr>
        <p:spPr>
          <a:xfrm>
            <a:off x="1907782" y="3508958"/>
            <a:ext cx="5395883" cy="2486025"/>
          </a:xfrm>
          <a:prstGeom prst="rect">
            <a:avLst/>
          </a:prstGeom>
        </p:spPr>
        <p:txBody>
          <a:bodyPr lIns="0" tIns="0" rIns="0" bIns="0" rtlCol="0" anchor="t">
            <a:spAutoFit/>
          </a:bodyPr>
          <a:lstStyle/>
          <a:p>
            <a:pPr marL="690880" lvl="1" indent="-345440" algn="l">
              <a:lnSpc>
                <a:spcPts val="3840"/>
              </a:lnSpc>
              <a:buFont typeface="Arial" panose="020B0604020202020204"/>
              <a:buChar char="•"/>
            </a:pPr>
            <a:r>
              <a:rPr lang="en-US" sz="3200">
                <a:solidFill>
                  <a:srgbClr val="0B1320"/>
                </a:solidFill>
                <a:latin typeface="Calibri (MS)" panose="020F0502020204030204"/>
                <a:ea typeface="Calibri (MS)" panose="020F0502020204030204"/>
                <a:cs typeface="Calibri (MS)" panose="020F0502020204030204"/>
                <a:sym typeface="Calibri (MS)" panose="020F0502020204030204"/>
              </a:rPr>
              <a:t>n_estimators=300, learning_rate=0.05, max_depth=6, subsample=0.8, colsample_bytree=0.7</a:t>
            </a:r>
          </a:p>
        </p:txBody>
      </p:sp>
      <p:sp>
        <p:nvSpPr>
          <p:cNvPr id="10" name="TextBox 10"/>
          <p:cNvSpPr txBox="1"/>
          <p:nvPr/>
        </p:nvSpPr>
        <p:spPr>
          <a:xfrm>
            <a:off x="1411965" y="6066502"/>
            <a:ext cx="3509586" cy="758192"/>
          </a:xfrm>
          <a:prstGeom prst="rect">
            <a:avLst/>
          </a:prstGeom>
        </p:spPr>
        <p:txBody>
          <a:bodyPr lIns="0" tIns="0" rIns="0" bIns="0" rtlCol="0" anchor="t">
            <a:spAutoFit/>
          </a:bodyPr>
          <a:lstStyle/>
          <a:p>
            <a:pPr algn="l">
              <a:lnSpc>
                <a:spcPts val="5940"/>
              </a:lnSpc>
              <a:spcBef>
                <a:spcPct val="0"/>
              </a:spcBef>
            </a:pPr>
            <a:r>
              <a:rPr lang="en-US" sz="3300" b="1">
                <a:solidFill>
                  <a:srgbClr val="0B1320"/>
                </a:solidFill>
                <a:latin typeface="Calibri (MS) Bold" panose="020F0702030404030204"/>
                <a:ea typeface="Calibri (MS) Bold" panose="020F0702030404030204"/>
                <a:cs typeface="Calibri (MS) Bold" panose="020F0702030404030204"/>
                <a:sym typeface="Calibri (MS) Bold" panose="020F0702030404030204"/>
              </a:rPr>
              <a:t>LightGBM</a:t>
            </a:r>
          </a:p>
        </p:txBody>
      </p:sp>
      <p:sp>
        <p:nvSpPr>
          <p:cNvPr id="11" name="TextBox 11"/>
          <p:cNvSpPr txBox="1"/>
          <p:nvPr/>
        </p:nvSpPr>
        <p:spPr>
          <a:xfrm>
            <a:off x="1768223" y="6767544"/>
            <a:ext cx="5395883" cy="2486025"/>
          </a:xfrm>
          <a:prstGeom prst="rect">
            <a:avLst/>
          </a:prstGeom>
        </p:spPr>
        <p:txBody>
          <a:bodyPr lIns="0" tIns="0" rIns="0" bIns="0" rtlCol="0" anchor="t">
            <a:spAutoFit/>
          </a:bodyPr>
          <a:lstStyle/>
          <a:p>
            <a:pPr marL="690880" lvl="1" indent="-345440" algn="l">
              <a:lnSpc>
                <a:spcPts val="3840"/>
              </a:lnSpc>
              <a:buFont typeface="Arial" panose="020B0604020202020204"/>
              <a:buChar char="•"/>
            </a:pPr>
            <a:r>
              <a:rPr lang="en-US" sz="3200">
                <a:solidFill>
                  <a:srgbClr val="0B1320"/>
                </a:solidFill>
                <a:latin typeface="Calibri (MS)" panose="020F0502020204030204"/>
                <a:ea typeface="Calibri (MS)" panose="020F0502020204030204"/>
                <a:cs typeface="Calibri (MS)" panose="020F0502020204030204"/>
                <a:sym typeface="Calibri (MS)" panose="020F0502020204030204"/>
              </a:rPr>
              <a:t>n_estimators=1000, learning_rate=0.05, num_leaves=64, subsample=0.8, colsample_bytree=0.7</a:t>
            </a:r>
          </a:p>
        </p:txBody>
      </p:sp>
      <p:sp>
        <p:nvSpPr>
          <p:cNvPr id="12" name="TextBox 1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25</a:t>
            </a:r>
          </a:p>
        </p:txBody>
      </p:sp>
      <p:grpSp>
        <p:nvGrpSpPr>
          <p:cNvPr id="13" name="Group 13"/>
          <p:cNvGrpSpPr/>
          <p:nvPr/>
        </p:nvGrpSpPr>
        <p:grpSpPr>
          <a:xfrm>
            <a:off x="9555979" y="2276454"/>
            <a:ext cx="5760202" cy="3647834"/>
            <a:chOff x="0" y="0"/>
            <a:chExt cx="1737157" cy="1100111"/>
          </a:xfrm>
        </p:grpSpPr>
        <p:sp>
          <p:nvSpPr>
            <p:cNvPr id="14" name="Freeform 14"/>
            <p:cNvSpPr/>
            <p:nvPr/>
          </p:nvSpPr>
          <p:spPr>
            <a:xfrm>
              <a:off x="0" y="0"/>
              <a:ext cx="1737157" cy="1100111"/>
            </a:xfrm>
            <a:custGeom>
              <a:avLst/>
              <a:gdLst/>
              <a:ahLst/>
              <a:cxnLst/>
              <a:rect l="l" t="t" r="r" b="b"/>
              <a:pathLst>
                <a:path w="1737157" h="1100111">
                  <a:moveTo>
                    <a:pt x="0" y="0"/>
                  </a:moveTo>
                  <a:lnTo>
                    <a:pt x="1737157" y="0"/>
                  </a:lnTo>
                  <a:lnTo>
                    <a:pt x="1737157" y="1100111"/>
                  </a:lnTo>
                  <a:lnTo>
                    <a:pt x="0" y="1100111"/>
                  </a:lnTo>
                  <a:close/>
                </a:path>
              </a:pathLst>
            </a:custGeom>
            <a:blipFill>
              <a:blip r:embed="rId3"/>
              <a:stretch>
                <a:fillRect t="-470" b="-470"/>
              </a:stretch>
            </a:blipFill>
          </p:spPr>
          <p:txBody>
            <a:bodyPr/>
            <a:lstStyle/>
            <a:p>
              <a:endParaRPr lang="en-US"/>
            </a:p>
          </p:txBody>
        </p:sp>
      </p:grpSp>
      <p:pic>
        <p:nvPicPr>
          <p:cNvPr id="16" name="Picture 15"/>
          <p:cNvPicPr/>
          <p:nvPr/>
        </p:nvPicPr>
        <p:blipFill>
          <a:blip r:embed="rId4"/>
          <a:stretch>
            <a:fillRect/>
          </a:stretch>
        </p:blipFill>
        <p:spPr>
          <a:xfrm>
            <a:off x="9372600" y="6306820"/>
            <a:ext cx="6032500" cy="310388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4. Thực nghiệm và trao đổi</a:t>
            </a:r>
          </a:p>
        </p:txBody>
      </p:sp>
      <p:sp>
        <p:nvSpPr>
          <p:cNvPr id="5" name="TextBox 5"/>
          <p:cNvSpPr txBox="1"/>
          <p:nvPr/>
        </p:nvSpPr>
        <p:spPr>
          <a:xfrm>
            <a:off x="1561563" y="1928791"/>
            <a:ext cx="6719977" cy="628650"/>
          </a:xfrm>
          <a:prstGeom prst="rect">
            <a:avLst/>
          </a:prstGeom>
        </p:spPr>
        <p:txBody>
          <a:bodyPr lIns="0" tIns="0" rIns="0" bIns="0" rtlCol="0" anchor="t">
            <a:spAutoFit/>
          </a:bodyPr>
          <a:lstStyle/>
          <a:p>
            <a:pPr algn="l">
              <a:lnSpc>
                <a:spcPts val="4495"/>
              </a:lnSpc>
              <a:spcBef>
                <a:spcPct val="0"/>
              </a:spcBef>
            </a:pPr>
            <a:r>
              <a:rPr lang="en-US" sz="3750" b="1">
                <a:solidFill>
                  <a:srgbClr val="1C3F60"/>
                </a:solidFill>
                <a:latin typeface="Calibri (MS) Bold" panose="020F0702030404030204"/>
                <a:ea typeface="Calibri (MS) Bold" panose="020F0702030404030204"/>
                <a:cs typeface="Calibri (MS) Bold" panose="020F0702030404030204"/>
                <a:sym typeface="Calibri (MS) Bold" panose="020F0702030404030204"/>
              </a:rPr>
              <a:t>Baseline</a:t>
            </a:r>
          </a:p>
        </p:txBody>
      </p:sp>
      <p:grpSp>
        <p:nvGrpSpPr>
          <p:cNvPr id="6" name="Group 6"/>
          <p:cNvGrpSpPr/>
          <p:nvPr/>
        </p:nvGrpSpPr>
        <p:grpSpPr>
          <a:xfrm>
            <a:off x="9714619" y="2700370"/>
            <a:ext cx="7276370" cy="3841431"/>
            <a:chOff x="0" y="0"/>
            <a:chExt cx="2083810" cy="1100111"/>
          </a:xfrm>
        </p:grpSpPr>
        <p:sp>
          <p:nvSpPr>
            <p:cNvPr id="7" name="Freeform 7"/>
            <p:cNvSpPr/>
            <p:nvPr/>
          </p:nvSpPr>
          <p:spPr>
            <a:xfrm>
              <a:off x="0" y="0"/>
              <a:ext cx="2083810" cy="1100111"/>
            </a:xfrm>
            <a:custGeom>
              <a:avLst/>
              <a:gdLst/>
              <a:ahLst/>
              <a:cxnLst/>
              <a:rect l="l" t="t" r="r" b="b"/>
              <a:pathLst>
                <a:path w="2083810" h="1100111">
                  <a:moveTo>
                    <a:pt x="0" y="0"/>
                  </a:moveTo>
                  <a:lnTo>
                    <a:pt x="2083810" y="0"/>
                  </a:lnTo>
                  <a:lnTo>
                    <a:pt x="2083810" y="1100111"/>
                  </a:lnTo>
                  <a:lnTo>
                    <a:pt x="0" y="1100111"/>
                  </a:lnTo>
                  <a:close/>
                </a:path>
              </a:pathLst>
            </a:custGeom>
            <a:blipFill>
              <a:blip r:embed="rId3"/>
              <a:stretch>
                <a:fillRect l="-2793" r="-2793"/>
              </a:stretch>
            </a:blipFill>
          </p:spPr>
          <p:txBody>
            <a:bodyPr/>
            <a:lstStyle/>
            <a:p>
              <a:endParaRPr lang="en-US"/>
            </a:p>
          </p:txBody>
        </p:sp>
      </p:grpSp>
      <p:sp>
        <p:nvSpPr>
          <p:cNvPr id="8" name="TextBox 8"/>
          <p:cNvSpPr txBox="1"/>
          <p:nvPr/>
        </p:nvSpPr>
        <p:spPr>
          <a:xfrm>
            <a:off x="1294592" y="2443195"/>
            <a:ext cx="4426377" cy="758192"/>
          </a:xfrm>
          <a:prstGeom prst="rect">
            <a:avLst/>
          </a:prstGeom>
        </p:spPr>
        <p:txBody>
          <a:bodyPr lIns="0" tIns="0" rIns="0" bIns="0" rtlCol="0" anchor="t">
            <a:spAutoFit/>
          </a:bodyPr>
          <a:lstStyle/>
          <a:p>
            <a:pPr algn="l">
              <a:lnSpc>
                <a:spcPts val="5940"/>
              </a:lnSpc>
              <a:spcBef>
                <a:spcPct val="0"/>
              </a:spcBef>
            </a:pPr>
            <a:r>
              <a:rPr lang="en-US" sz="3300" b="1">
                <a:solidFill>
                  <a:srgbClr val="0B1320"/>
                </a:solidFill>
                <a:latin typeface="Calibri (MS) Bold" panose="020F0702030404030204"/>
                <a:ea typeface="Calibri (MS) Bold" panose="020F0702030404030204"/>
                <a:cs typeface="Calibri (MS) Bold" panose="020F0702030404030204"/>
                <a:sym typeface="Calibri (MS) Bold" panose="020F0702030404030204"/>
              </a:rPr>
              <a:t>CatBoost setup:</a:t>
            </a:r>
          </a:p>
        </p:txBody>
      </p:sp>
      <p:sp>
        <p:nvSpPr>
          <p:cNvPr id="9" name="TextBox 9"/>
          <p:cNvSpPr txBox="1"/>
          <p:nvPr/>
        </p:nvSpPr>
        <p:spPr>
          <a:xfrm>
            <a:off x="1812019" y="3506811"/>
            <a:ext cx="5395883" cy="1514475"/>
          </a:xfrm>
          <a:prstGeom prst="rect">
            <a:avLst/>
          </a:prstGeom>
        </p:spPr>
        <p:txBody>
          <a:bodyPr lIns="0" tIns="0" rIns="0" bIns="0" rtlCol="0" anchor="t">
            <a:spAutoFit/>
          </a:bodyPr>
          <a:lstStyle/>
          <a:p>
            <a:pPr marL="690880" lvl="1" indent="-345440" algn="l">
              <a:lnSpc>
                <a:spcPts val="3840"/>
              </a:lnSpc>
              <a:buFont typeface="Arial" panose="020B0604020202020204"/>
              <a:buChar char="•"/>
            </a:pPr>
            <a:r>
              <a:rPr lang="en-US" sz="3200">
                <a:solidFill>
                  <a:srgbClr val="0B1320"/>
                </a:solidFill>
                <a:latin typeface="Calibri (MS)" panose="020F0502020204030204"/>
                <a:ea typeface="Calibri (MS)" panose="020F0502020204030204"/>
                <a:cs typeface="Calibri (MS)" panose="020F0502020204030204"/>
                <a:sym typeface="Calibri (MS)" panose="020F0502020204030204"/>
              </a:rPr>
              <a:t>iterations=1000, learning_rate=0.05, depth=6</a:t>
            </a:r>
          </a:p>
        </p:txBody>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26</a:t>
            </a:r>
          </a:p>
        </p:txBody>
      </p:sp>
      <p:sp>
        <p:nvSpPr>
          <p:cNvPr id="11" name="TextBox 11"/>
          <p:cNvSpPr txBox="1"/>
          <p:nvPr/>
        </p:nvSpPr>
        <p:spPr>
          <a:xfrm>
            <a:off x="1968054" y="7165128"/>
            <a:ext cx="11119555" cy="1514475"/>
          </a:xfrm>
          <a:prstGeom prst="rect">
            <a:avLst/>
          </a:prstGeom>
        </p:spPr>
        <p:txBody>
          <a:bodyPr lIns="0" tIns="0" rIns="0" bIns="0" rtlCol="0" anchor="t">
            <a:spAutoFit/>
          </a:bodyPr>
          <a:lstStyle/>
          <a:p>
            <a:pPr marL="690880" lvl="1" indent="-345440" algn="l">
              <a:lnSpc>
                <a:spcPts val="3840"/>
              </a:lnSpc>
              <a:buFont typeface="Arial" panose="020B0604020202020204"/>
              <a:buChar char="•"/>
            </a:pPr>
            <a:r>
              <a:rPr lang="en-US" sz="3200">
                <a:solidFill>
                  <a:srgbClr val="0B1320"/>
                </a:solidFill>
                <a:latin typeface="Calibri (MS)" panose="020F0502020204030204"/>
                <a:ea typeface="Calibri (MS)" panose="020F0502020204030204"/>
                <a:cs typeface="Calibri (MS)" panose="020F0502020204030204"/>
                <a:sym typeface="Calibri (MS)" panose="020F0502020204030204"/>
              </a:rPr>
              <a:t>Đặt baseline performance trước khi tuning</a:t>
            </a:r>
          </a:p>
          <a:p>
            <a:pPr marL="690880" lvl="1" indent="-345440" algn="l">
              <a:lnSpc>
                <a:spcPts val="3840"/>
              </a:lnSpc>
              <a:buFont typeface="Arial" panose="020B0604020202020204"/>
              <a:buChar char="•"/>
            </a:pPr>
            <a:r>
              <a:rPr lang="en-US" sz="3200">
                <a:solidFill>
                  <a:srgbClr val="0B1320"/>
                </a:solidFill>
                <a:latin typeface="Calibri (MS)" panose="020F0502020204030204"/>
                <a:ea typeface="Calibri (MS)" panose="020F0502020204030204"/>
                <a:cs typeface="Calibri (MS)" panose="020F0502020204030204"/>
                <a:sym typeface="Calibri (MS)" panose="020F0502020204030204"/>
              </a:rPr>
              <a:t>So sánh các mô hình Gradient Boosting phổ biến cho dataset</a:t>
            </a:r>
          </a:p>
          <a:p>
            <a:pPr algn="l">
              <a:lnSpc>
                <a:spcPts val="3840"/>
              </a:lnSpc>
            </a:pPr>
            <a:endParaRPr lang="en-US" sz="3200">
              <a:solidFill>
                <a:srgbClr val="0B1320"/>
              </a:solidFill>
              <a:latin typeface="Calibri (MS)" panose="020F0502020204030204"/>
              <a:ea typeface="Calibri (MS)" panose="020F0502020204030204"/>
              <a:cs typeface="Calibri (MS)" panose="020F0502020204030204"/>
              <a:sym typeface="Calibri (MS)" panose="020F0502020204030204"/>
            </a:endParaRPr>
          </a:p>
        </p:txBody>
      </p:sp>
      <p:sp>
        <p:nvSpPr>
          <p:cNvPr id="12" name="TextBox 12"/>
          <p:cNvSpPr txBox="1"/>
          <p:nvPr/>
        </p:nvSpPr>
        <p:spPr>
          <a:xfrm>
            <a:off x="1294592" y="5950242"/>
            <a:ext cx="4426377" cy="758192"/>
          </a:xfrm>
          <a:prstGeom prst="rect">
            <a:avLst/>
          </a:prstGeom>
        </p:spPr>
        <p:txBody>
          <a:bodyPr lIns="0" tIns="0" rIns="0" bIns="0" rtlCol="0" anchor="t">
            <a:spAutoFit/>
          </a:bodyPr>
          <a:lstStyle/>
          <a:p>
            <a:pPr algn="l">
              <a:lnSpc>
                <a:spcPts val="5940"/>
              </a:lnSpc>
              <a:spcBef>
                <a:spcPct val="0"/>
              </a:spcBef>
            </a:pPr>
            <a:r>
              <a:rPr lang="en-US" sz="3300" b="1">
                <a:solidFill>
                  <a:srgbClr val="0B1320"/>
                </a:solidFill>
                <a:latin typeface="Calibri (MS) Bold" panose="020F0702030404030204"/>
                <a:ea typeface="Calibri (MS) Bold" panose="020F0702030404030204"/>
                <a:cs typeface="Calibri (MS) Bold" panose="020F0702030404030204"/>
                <a:sym typeface="Calibri (MS) Bold" panose="020F0702030404030204"/>
              </a:rPr>
              <a:t>Mục tiêu</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857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4. Thực nghiệm và trao đổi</a:t>
            </a:r>
          </a:p>
        </p:txBody>
      </p:sp>
      <p:sp>
        <p:nvSpPr>
          <p:cNvPr id="5" name="TextBox 5"/>
          <p:cNvSpPr txBox="1"/>
          <p:nvPr/>
        </p:nvSpPr>
        <p:spPr>
          <a:xfrm>
            <a:off x="1561563" y="1928791"/>
            <a:ext cx="6719977" cy="628650"/>
          </a:xfrm>
          <a:prstGeom prst="rect">
            <a:avLst/>
          </a:prstGeom>
        </p:spPr>
        <p:txBody>
          <a:bodyPr lIns="0" tIns="0" rIns="0" bIns="0" rtlCol="0" anchor="t">
            <a:spAutoFit/>
          </a:bodyPr>
          <a:lstStyle/>
          <a:p>
            <a:pPr algn="l">
              <a:lnSpc>
                <a:spcPts val="4495"/>
              </a:lnSpc>
              <a:spcBef>
                <a:spcPct val="0"/>
              </a:spcBef>
            </a:pPr>
            <a:r>
              <a:rPr lang="en-US" sz="3750" b="1">
                <a:solidFill>
                  <a:srgbClr val="1C3F60"/>
                </a:solidFill>
                <a:latin typeface="Calibri (MS) Bold" panose="020F0702030404030204"/>
                <a:ea typeface="Calibri (MS) Bold" panose="020F0702030404030204"/>
                <a:cs typeface="Calibri (MS) Bold" panose="020F0702030404030204"/>
                <a:sym typeface="Calibri (MS) Bold" panose="020F0702030404030204"/>
              </a:rPr>
              <a:t>Kết quả của baseline</a:t>
            </a:r>
          </a:p>
        </p:txBody>
      </p:sp>
      <p:sp>
        <p:nvSpPr>
          <p:cNvPr id="6" name="TextBox 6"/>
          <p:cNvSpPr txBox="1"/>
          <p:nvPr/>
        </p:nvSpPr>
        <p:spPr>
          <a:xfrm>
            <a:off x="1311653" y="6773055"/>
            <a:ext cx="15194787" cy="2257425"/>
          </a:xfrm>
          <a:prstGeom prst="rect">
            <a:avLst/>
          </a:prstGeom>
        </p:spPr>
        <p:txBody>
          <a:bodyPr lIns="0" tIns="0" rIns="0" bIns="0" rtlCol="0" anchor="t">
            <a:spAutoFit/>
          </a:bodyPr>
          <a:lstStyle/>
          <a:p>
            <a:pPr algn="l">
              <a:lnSpc>
                <a:spcPts val="4320"/>
              </a:lnSpc>
              <a:spcBef>
                <a:spcPct val="0"/>
              </a:spcBef>
            </a:pPr>
            <a:r>
              <a:rPr lang="en-US" sz="3600" b="1">
                <a:solidFill>
                  <a:srgbClr val="0B1320"/>
                </a:solidFill>
                <a:latin typeface="Calibri (MS) Bold" panose="020F0702030404030204"/>
                <a:ea typeface="Calibri (MS) Bold" panose="020F0702030404030204"/>
                <a:cs typeface="Calibri (MS) Bold" panose="020F0702030404030204"/>
                <a:sym typeface="Calibri (MS) Bold" panose="020F0702030404030204"/>
              </a:rPr>
              <a:t>Nhận xét:</a:t>
            </a:r>
          </a:p>
          <a:p>
            <a:pPr marL="777240" lvl="1" indent="-388620" algn="l">
              <a:lnSpc>
                <a:spcPts val="4320"/>
              </a:lnSpc>
              <a:spcBef>
                <a:spcPct val="0"/>
              </a:spcBef>
              <a:buFont typeface="Arial" panose="020B0604020202020204"/>
              <a:buChar char="•"/>
            </a:pPr>
            <a:r>
              <a:rPr lang="en-US" sz="3600" b="1">
                <a:solidFill>
                  <a:srgbClr val="0B1320"/>
                </a:solidFill>
                <a:latin typeface="Calibri (MS) Bold" panose="020F0702030404030204"/>
                <a:ea typeface="Calibri (MS) Bold" panose="020F0702030404030204"/>
                <a:cs typeface="Calibri (MS) Bold" panose="020F0702030404030204"/>
                <a:sym typeface="Calibri (MS) Bold" panose="020F0702030404030204"/>
              </a:rPr>
              <a:t> </a:t>
            </a:r>
            <a:r>
              <a:rPr lang="en-US" sz="3600">
                <a:solidFill>
                  <a:srgbClr val="0B1320"/>
                </a:solidFill>
                <a:latin typeface="Calibri (MS)" panose="020F0502020204030204"/>
                <a:ea typeface="Calibri (MS)" panose="020F0502020204030204"/>
                <a:cs typeface="Calibri (MS)" panose="020F0502020204030204"/>
                <a:sym typeface="Calibri (MS)" panose="020F0502020204030204"/>
              </a:rPr>
              <a:t>XGBoost, LightGBM dẫn đầu với accuracy và điểm Kaggle cao nhất </a:t>
            </a:r>
          </a:p>
          <a:p>
            <a:pPr marL="777240" lvl="1" indent="-388620" algn="l">
              <a:lnSpc>
                <a:spcPts val="4320"/>
              </a:lnSpc>
              <a:spcBef>
                <a:spcPct val="0"/>
              </a:spcBef>
              <a:buFont typeface="Arial" panose="020B0604020202020204"/>
              <a:buChar char="•"/>
            </a:pPr>
            <a:r>
              <a:rPr lang="en-US" sz="3600">
                <a:solidFill>
                  <a:srgbClr val="0B1320"/>
                </a:solidFill>
                <a:latin typeface="Calibri (MS)" panose="020F0502020204030204"/>
                <a:ea typeface="Calibri (MS)" panose="020F0502020204030204"/>
                <a:cs typeface="Calibri (MS)" panose="020F0502020204030204"/>
                <a:sym typeface="Calibri (MS)" panose="020F0502020204030204"/>
              </a:rPr>
              <a:t>CatBoost điểm accuracy và Kaggle thấp hơn rõ rệt</a:t>
            </a:r>
          </a:p>
          <a:p>
            <a:pPr algn="l">
              <a:lnSpc>
                <a:spcPts val="4320"/>
              </a:lnSpc>
              <a:spcBef>
                <a:spcPct val="0"/>
              </a:spcBef>
            </a:pPr>
            <a:r>
              <a:rPr lang="en-US" sz="3600">
                <a:solidFill>
                  <a:srgbClr val="0B1320"/>
                </a:solidFill>
                <a:latin typeface="Calibri (MS)" panose="020F0502020204030204"/>
                <a:ea typeface="Calibri (MS)" panose="020F0502020204030204"/>
                <a:cs typeface="Calibri (MS)" panose="020F0502020204030204"/>
                <a:sym typeface="Calibri (MS)" panose="020F0502020204030204"/>
              </a:rPr>
              <a:t>→ </a:t>
            </a:r>
            <a:r>
              <a:rPr lang="en-US" sz="3600" b="1">
                <a:solidFill>
                  <a:srgbClr val="0B1320"/>
                </a:solidFill>
                <a:latin typeface="Calibri (MS) Bold" panose="020F0702030404030204"/>
                <a:ea typeface="Calibri (MS) Bold" panose="020F0702030404030204"/>
                <a:cs typeface="Calibri (MS) Bold" panose="020F0702030404030204"/>
                <a:sym typeface="Calibri (MS) Bold" panose="020F0702030404030204"/>
              </a:rPr>
              <a:t>Kết luận: XGBoost và LightGBM thích hợp để tinh chỉnh thêm</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27</a:t>
            </a:r>
          </a:p>
        </p:txBody>
      </p:sp>
      <p:graphicFrame>
        <p:nvGraphicFramePr>
          <p:cNvPr id="8" name="Table 8"/>
          <p:cNvGraphicFramePr>
            <a:graphicFrameLocks noGrp="1"/>
          </p:cNvGraphicFramePr>
          <p:nvPr/>
        </p:nvGraphicFramePr>
        <p:xfrm>
          <a:off x="2102376" y="2847954"/>
          <a:ext cx="14083247" cy="3720312"/>
        </p:xfrm>
        <a:graphic>
          <a:graphicData uri="http://schemas.openxmlformats.org/drawingml/2006/table">
            <a:tbl>
              <a:tblPr/>
              <a:tblGrid>
                <a:gridCol w="2116749">
                  <a:extLst>
                    <a:ext uri="{9D8B030D-6E8A-4147-A177-3AD203B41FA5}">
                      <a16:colId xmlns:a16="http://schemas.microsoft.com/office/drawing/2014/main" val="20000"/>
                    </a:ext>
                  </a:extLst>
                </a:gridCol>
                <a:gridCol w="2607832">
                  <a:extLst>
                    <a:ext uri="{9D8B030D-6E8A-4147-A177-3AD203B41FA5}">
                      <a16:colId xmlns:a16="http://schemas.microsoft.com/office/drawing/2014/main" val="20001"/>
                    </a:ext>
                  </a:extLst>
                </a:gridCol>
                <a:gridCol w="2823184">
                  <a:extLst>
                    <a:ext uri="{9D8B030D-6E8A-4147-A177-3AD203B41FA5}">
                      <a16:colId xmlns:a16="http://schemas.microsoft.com/office/drawing/2014/main" val="20002"/>
                    </a:ext>
                  </a:extLst>
                </a:gridCol>
                <a:gridCol w="3203397">
                  <a:extLst>
                    <a:ext uri="{9D8B030D-6E8A-4147-A177-3AD203B41FA5}">
                      <a16:colId xmlns:a16="http://schemas.microsoft.com/office/drawing/2014/main" val="20003"/>
                    </a:ext>
                  </a:extLst>
                </a:gridCol>
                <a:gridCol w="3332085">
                  <a:extLst>
                    <a:ext uri="{9D8B030D-6E8A-4147-A177-3AD203B41FA5}">
                      <a16:colId xmlns:a16="http://schemas.microsoft.com/office/drawing/2014/main" val="20004"/>
                    </a:ext>
                  </a:extLst>
                </a:gridCol>
              </a:tblGrid>
              <a:tr h="955987">
                <a:tc>
                  <a:txBody>
                    <a:bodyPr/>
                    <a:lstStyle/>
                    <a:p>
                      <a:pPr algn="ctr">
                        <a:lnSpc>
                          <a:spcPts val="3640"/>
                        </a:lnSpc>
                        <a:defRPr/>
                      </a:pPr>
                      <a:r>
                        <a:rPr lang="en-US" sz="2600" b="1">
                          <a:solidFill>
                            <a:srgbClr val="000000"/>
                          </a:solidFill>
                          <a:latin typeface="Noto Sans Bold" panose="020B0802040504020204"/>
                          <a:ea typeface="Noto Sans Bold" panose="020B0802040504020204"/>
                          <a:cs typeface="Noto Sans Bold" panose="020B0802040504020204"/>
                          <a:sym typeface="Noto Sans Bold" panose="020B0802040504020204"/>
                        </a:rPr>
                        <a:t>Model</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tc>
                  <a:txBody>
                    <a:bodyPr/>
                    <a:lstStyle/>
                    <a:p>
                      <a:pPr algn="ctr">
                        <a:lnSpc>
                          <a:spcPts val="3640"/>
                        </a:lnSpc>
                        <a:defRPr/>
                      </a:pPr>
                      <a:r>
                        <a:rPr lang="en-US" sz="2600" b="1">
                          <a:solidFill>
                            <a:srgbClr val="000000"/>
                          </a:solidFill>
                          <a:latin typeface="Noto Sans Bold" panose="020B0802040504020204"/>
                          <a:ea typeface="Noto Sans Bold" panose="020B0802040504020204"/>
                          <a:cs typeface="Noto Sans Bold" panose="020B0802040504020204"/>
                          <a:sym typeface="Noto Sans Bold" panose="020B0802040504020204"/>
                        </a:rPr>
                        <a:t>Accuracy</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tc>
                  <a:txBody>
                    <a:bodyPr/>
                    <a:lstStyle/>
                    <a:p>
                      <a:pPr algn="ctr">
                        <a:lnSpc>
                          <a:spcPts val="3640"/>
                        </a:lnSpc>
                        <a:defRPr/>
                      </a:pPr>
                      <a:r>
                        <a:rPr lang="en-US" sz="2600" b="1">
                          <a:solidFill>
                            <a:srgbClr val="000000"/>
                          </a:solidFill>
                          <a:latin typeface="Noto Sans Bold" panose="020B0802040504020204"/>
                          <a:ea typeface="Noto Sans Bold" panose="020B0802040504020204"/>
                          <a:cs typeface="Noto Sans Bold" panose="020B0802040504020204"/>
                          <a:sym typeface="Noto Sans Bold" panose="020B0802040504020204"/>
                        </a:rPr>
                        <a:t>F1 score</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tc>
                  <a:txBody>
                    <a:bodyPr/>
                    <a:lstStyle/>
                    <a:p>
                      <a:pPr algn="ctr">
                        <a:lnSpc>
                          <a:spcPts val="3640"/>
                        </a:lnSpc>
                        <a:defRPr/>
                      </a:pPr>
                      <a:r>
                        <a:rPr lang="en-US" sz="2600" b="1">
                          <a:solidFill>
                            <a:srgbClr val="000000"/>
                          </a:solidFill>
                          <a:latin typeface="Noto Sans Bold" panose="020B0802040504020204"/>
                          <a:ea typeface="Noto Sans Bold" panose="020B0802040504020204"/>
                          <a:cs typeface="Noto Sans Bold" panose="020B0802040504020204"/>
                          <a:sym typeface="Noto Sans Bold" panose="020B0802040504020204"/>
                        </a:rPr>
                        <a:t>Accuracy private</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tc>
                  <a:txBody>
                    <a:bodyPr/>
                    <a:lstStyle/>
                    <a:p>
                      <a:pPr algn="ctr">
                        <a:lnSpc>
                          <a:spcPts val="3640"/>
                        </a:lnSpc>
                        <a:defRPr/>
                      </a:pPr>
                      <a:r>
                        <a:rPr lang="en-US" sz="2600" b="1">
                          <a:solidFill>
                            <a:srgbClr val="000000"/>
                          </a:solidFill>
                          <a:latin typeface="Noto Sans Bold" panose="020B0802040504020204"/>
                          <a:ea typeface="Noto Sans Bold" panose="020B0802040504020204"/>
                          <a:cs typeface="Noto Sans Bold" panose="020B0802040504020204"/>
                          <a:sym typeface="Noto Sans Bold" panose="020B0802040504020204"/>
                        </a:rPr>
                        <a:t>Accuracy public </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extLst>
                  <a:ext uri="{0D108BD9-81ED-4DB2-BD59-A6C34878D82A}">
                    <a16:rowId xmlns:a16="http://schemas.microsoft.com/office/drawing/2014/main" val="10000"/>
                  </a:ext>
                </a:extLst>
              </a:tr>
              <a:tr h="1090365">
                <a:tc>
                  <a:txBody>
                    <a:bodyPr/>
                    <a:lstStyle/>
                    <a:p>
                      <a:pPr algn="ctr">
                        <a:lnSpc>
                          <a:spcPts val="3640"/>
                        </a:lnSpc>
                        <a:defRPr/>
                      </a:pPr>
                      <a:r>
                        <a:rPr lang="en-US" sz="2600" b="1">
                          <a:solidFill>
                            <a:srgbClr val="202124"/>
                          </a:solidFill>
                          <a:latin typeface="Noto Sans Bold" panose="020B0802040504020204"/>
                          <a:ea typeface="Noto Sans Bold" panose="020B0802040504020204"/>
                          <a:cs typeface="Noto Sans Bold" panose="020B0802040504020204"/>
                          <a:sym typeface="Noto Sans Bold" panose="020B0802040504020204"/>
                        </a:rPr>
                        <a:t>XGBoost</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tc>
                  <a:txBody>
                    <a:bodyPr/>
                    <a:lstStyle/>
                    <a:p>
                      <a:pPr algn="ctr">
                        <a:lnSpc>
                          <a:spcPts val="3640"/>
                        </a:lnSpc>
                        <a:defRPr/>
                      </a:pPr>
                      <a:r>
                        <a:rPr lang="en-US" sz="2600" b="1">
                          <a:solidFill>
                            <a:srgbClr val="202124"/>
                          </a:solidFill>
                          <a:latin typeface="Noto Sans Bold" panose="020B0802040504020204"/>
                          <a:ea typeface="Noto Sans Bold" panose="020B0802040504020204"/>
                          <a:cs typeface="Noto Sans Bold" panose="020B0802040504020204"/>
                          <a:sym typeface="Noto Sans Bold" panose="020B0802040504020204"/>
                        </a:rPr>
                        <a:t>0,559322</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tc>
                  <a:txBody>
                    <a:bodyPr/>
                    <a:lstStyle/>
                    <a:p>
                      <a:pPr algn="ctr">
                        <a:lnSpc>
                          <a:spcPts val="3640"/>
                        </a:lnSpc>
                        <a:defRPr/>
                      </a:pPr>
                      <a:r>
                        <a:rPr lang="en-US" sz="2600" b="1">
                          <a:solidFill>
                            <a:srgbClr val="202124"/>
                          </a:solidFill>
                          <a:latin typeface="Noto Sans Bold" panose="020B0802040504020204"/>
                          <a:ea typeface="Noto Sans Bold" panose="020B0802040504020204"/>
                          <a:cs typeface="Noto Sans Bold" panose="020B0802040504020204"/>
                          <a:sym typeface="Noto Sans Bold" panose="020B0802040504020204"/>
                        </a:rPr>
                        <a:t>0,600757</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tcPr>
                </a:tc>
                <a:tc>
                  <a:txBody>
                    <a:bodyPr/>
                    <a:lstStyle/>
                    <a:p>
                      <a:pPr algn="ctr">
                        <a:lnSpc>
                          <a:spcPts val="3640"/>
                        </a:lnSpc>
                        <a:defRPr/>
                      </a:pPr>
                      <a:r>
                        <a:rPr lang="en-US" sz="2600" b="1">
                          <a:solidFill>
                            <a:srgbClr val="202124"/>
                          </a:solidFill>
                          <a:latin typeface="Noto Sans Bold" panose="020B0802040504020204"/>
                          <a:ea typeface="Noto Sans Bold" panose="020B0802040504020204"/>
                          <a:cs typeface="Noto Sans Bold" panose="020B0802040504020204"/>
                          <a:sym typeface="Noto Sans Bold" panose="020B0802040504020204"/>
                        </a:rPr>
                        <a:t>0,56111</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tcPr>
                </a:tc>
                <a:tc>
                  <a:txBody>
                    <a:bodyPr/>
                    <a:lstStyle/>
                    <a:p>
                      <a:pPr algn="ctr">
                        <a:lnSpc>
                          <a:spcPts val="3640"/>
                        </a:lnSpc>
                        <a:defRPr/>
                      </a:pPr>
                      <a:r>
                        <a:rPr lang="en-US" sz="2600" b="1">
                          <a:solidFill>
                            <a:srgbClr val="202124"/>
                          </a:solidFill>
                          <a:latin typeface="Noto Sans Bold" panose="020B0802040504020204"/>
                          <a:ea typeface="Noto Sans Bold" panose="020B0802040504020204"/>
                          <a:cs typeface="Noto Sans Bold" panose="020B0802040504020204"/>
                          <a:sym typeface="Noto Sans Bold" panose="020B0802040504020204"/>
                        </a:rPr>
                        <a:t>0,56825</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36980">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CatBoost</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0,531259</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0,596084</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0,52222</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0,5369</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36980">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LightGBM</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0,560503</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0,58612</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0,55648</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0,55634</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857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4. Thực nghiệm và trao đổi</a:t>
            </a:r>
          </a:p>
        </p:txBody>
      </p:sp>
      <p:sp>
        <p:nvSpPr>
          <p:cNvPr id="5" name="TextBox 5"/>
          <p:cNvSpPr txBox="1"/>
          <p:nvPr/>
        </p:nvSpPr>
        <p:spPr>
          <a:xfrm>
            <a:off x="1561563" y="1928791"/>
            <a:ext cx="9395704" cy="628650"/>
          </a:xfrm>
          <a:prstGeom prst="rect">
            <a:avLst/>
          </a:prstGeom>
        </p:spPr>
        <p:txBody>
          <a:bodyPr lIns="0" tIns="0" rIns="0" bIns="0" rtlCol="0" anchor="t">
            <a:spAutoFit/>
          </a:bodyPr>
          <a:lstStyle/>
          <a:p>
            <a:pPr algn="l">
              <a:lnSpc>
                <a:spcPts val="4495"/>
              </a:lnSpc>
              <a:spcBef>
                <a:spcPct val="0"/>
              </a:spcBef>
            </a:pPr>
            <a:r>
              <a:rPr lang="en-US" sz="3750" b="1">
                <a:solidFill>
                  <a:srgbClr val="1C3F60"/>
                </a:solidFill>
                <a:latin typeface="Calibri (MS) Bold" panose="020F0702030404030204"/>
                <a:ea typeface="Calibri (MS) Bold" panose="020F0702030404030204"/>
                <a:cs typeface="Calibri (MS) Bold" panose="020F0702030404030204"/>
                <a:sym typeface="Calibri (MS) Bold" panose="020F0702030404030204"/>
              </a:rPr>
              <a:t>Kết quả của dữ liệu sau khi feature engineering</a:t>
            </a:r>
          </a:p>
        </p:txBody>
      </p:sp>
      <p:sp>
        <p:nvSpPr>
          <p:cNvPr id="6" name="TextBox 6"/>
          <p:cNvSpPr txBox="1"/>
          <p:nvPr/>
        </p:nvSpPr>
        <p:spPr>
          <a:xfrm>
            <a:off x="1206147" y="6558136"/>
            <a:ext cx="15818556" cy="2257425"/>
          </a:xfrm>
          <a:prstGeom prst="rect">
            <a:avLst/>
          </a:prstGeom>
        </p:spPr>
        <p:txBody>
          <a:bodyPr lIns="0" tIns="0" rIns="0" bIns="0" rtlCol="0" anchor="t">
            <a:spAutoFit/>
          </a:bodyPr>
          <a:lstStyle/>
          <a:p>
            <a:pPr algn="l">
              <a:lnSpc>
                <a:spcPts val="4320"/>
              </a:lnSpc>
              <a:spcBef>
                <a:spcPct val="0"/>
              </a:spcBef>
            </a:pPr>
            <a:r>
              <a:rPr lang="en-US" sz="3600" b="1">
                <a:solidFill>
                  <a:srgbClr val="0B1320"/>
                </a:solidFill>
                <a:latin typeface="Calibri (MS) Bold" panose="020F0702030404030204"/>
                <a:ea typeface="Calibri (MS) Bold" panose="020F0702030404030204"/>
                <a:cs typeface="Calibri (MS) Bold" panose="020F0702030404030204"/>
                <a:sym typeface="Calibri (MS) Bold" panose="020F0702030404030204"/>
              </a:rPr>
              <a:t>Nhận xét:</a:t>
            </a:r>
          </a:p>
          <a:p>
            <a:pPr marL="777240" lvl="1" indent="-388620" algn="l">
              <a:lnSpc>
                <a:spcPts val="4320"/>
              </a:lnSpc>
              <a:spcBef>
                <a:spcPct val="0"/>
              </a:spcBef>
              <a:buFont typeface="Arial" panose="020B0604020202020204"/>
              <a:buChar char="•"/>
            </a:pPr>
            <a:r>
              <a:rPr lang="en-US" sz="3600">
                <a:solidFill>
                  <a:srgbClr val="0B1320"/>
                </a:solidFill>
                <a:latin typeface="Calibri (MS)" panose="020F0502020204030204"/>
                <a:ea typeface="Calibri (MS)" panose="020F0502020204030204"/>
                <a:cs typeface="Calibri (MS)" panose="020F0502020204030204"/>
                <a:sym typeface="Calibri (MS)" panose="020F0502020204030204"/>
              </a:rPr>
              <a:t>CatBoost cải thiện rõ rệt, cao hơn LightGBM</a:t>
            </a:r>
          </a:p>
          <a:p>
            <a:pPr marL="777240" lvl="1" indent="-388620" algn="l">
              <a:lnSpc>
                <a:spcPts val="4320"/>
              </a:lnSpc>
              <a:spcBef>
                <a:spcPct val="0"/>
              </a:spcBef>
              <a:buFont typeface="Arial" panose="020B0604020202020204"/>
              <a:buChar char="•"/>
            </a:pPr>
            <a:r>
              <a:rPr lang="en-US" sz="3600">
                <a:solidFill>
                  <a:srgbClr val="0B1320"/>
                </a:solidFill>
                <a:latin typeface="Calibri (MS)" panose="020F0502020204030204"/>
                <a:ea typeface="Calibri (MS)" panose="020F0502020204030204"/>
                <a:cs typeface="Calibri (MS)" panose="020F0502020204030204"/>
                <a:sym typeface="Calibri (MS)" panose="020F0502020204030204"/>
              </a:rPr>
              <a:t>Mô hình XGBoost vẫn dẫn đầu với điểm Kaggle cao nhất → có độ ổn định tốt</a:t>
            </a:r>
          </a:p>
          <a:p>
            <a:pPr algn="l">
              <a:lnSpc>
                <a:spcPts val="4320"/>
              </a:lnSpc>
              <a:spcBef>
                <a:spcPct val="0"/>
              </a:spcBef>
            </a:pPr>
            <a:endParaRPr lang="en-US" sz="3600">
              <a:solidFill>
                <a:srgbClr val="0B1320"/>
              </a:solidFill>
              <a:latin typeface="Calibri (MS)" panose="020F0502020204030204"/>
              <a:ea typeface="Calibri (MS)" panose="020F0502020204030204"/>
              <a:cs typeface="Calibri (MS)" panose="020F0502020204030204"/>
              <a:sym typeface="Calibri (MS)" panose="020F0502020204030204"/>
            </a:endParaRP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28</a:t>
            </a:r>
          </a:p>
        </p:txBody>
      </p:sp>
      <p:graphicFrame>
        <p:nvGraphicFramePr>
          <p:cNvPr id="8" name="Table 8"/>
          <p:cNvGraphicFramePr>
            <a:graphicFrameLocks noGrp="1"/>
          </p:cNvGraphicFramePr>
          <p:nvPr/>
        </p:nvGraphicFramePr>
        <p:xfrm>
          <a:off x="1472329" y="2700316"/>
          <a:ext cx="15580950" cy="3245724"/>
        </p:xfrm>
        <a:graphic>
          <a:graphicData uri="http://schemas.openxmlformats.org/drawingml/2006/table">
            <a:tbl>
              <a:tblPr/>
              <a:tblGrid>
                <a:gridCol w="2498784">
                  <a:extLst>
                    <a:ext uri="{9D8B030D-6E8A-4147-A177-3AD203B41FA5}">
                      <a16:colId xmlns:a16="http://schemas.microsoft.com/office/drawing/2014/main" val="20000"/>
                    </a:ext>
                  </a:extLst>
                </a:gridCol>
                <a:gridCol w="2663588">
                  <a:extLst>
                    <a:ext uri="{9D8B030D-6E8A-4147-A177-3AD203B41FA5}">
                      <a16:colId xmlns:a16="http://schemas.microsoft.com/office/drawing/2014/main" val="20001"/>
                    </a:ext>
                  </a:extLst>
                </a:gridCol>
                <a:gridCol w="3039992">
                  <a:extLst>
                    <a:ext uri="{9D8B030D-6E8A-4147-A177-3AD203B41FA5}">
                      <a16:colId xmlns:a16="http://schemas.microsoft.com/office/drawing/2014/main" val="20002"/>
                    </a:ext>
                  </a:extLst>
                </a:gridCol>
                <a:gridCol w="3808065">
                  <a:extLst>
                    <a:ext uri="{9D8B030D-6E8A-4147-A177-3AD203B41FA5}">
                      <a16:colId xmlns:a16="http://schemas.microsoft.com/office/drawing/2014/main" val="20003"/>
                    </a:ext>
                  </a:extLst>
                </a:gridCol>
                <a:gridCol w="3570521">
                  <a:extLst>
                    <a:ext uri="{9D8B030D-6E8A-4147-A177-3AD203B41FA5}">
                      <a16:colId xmlns:a16="http://schemas.microsoft.com/office/drawing/2014/main" val="20004"/>
                    </a:ext>
                  </a:extLst>
                </a:gridCol>
              </a:tblGrid>
              <a:tr h="1247424">
                <a:tc>
                  <a:txBody>
                    <a:bodyPr/>
                    <a:lstStyle/>
                    <a:p>
                      <a:pPr algn="ctr">
                        <a:lnSpc>
                          <a:spcPts val="3640"/>
                        </a:lnSpc>
                        <a:defRPr/>
                      </a:pPr>
                      <a:r>
                        <a:rPr lang="en-US" sz="2600" b="1">
                          <a:solidFill>
                            <a:srgbClr val="000000"/>
                          </a:solidFill>
                          <a:latin typeface="Noto Sans Bold" panose="020B0802040504020204"/>
                          <a:ea typeface="Noto Sans Bold" panose="020B0802040504020204"/>
                          <a:cs typeface="Noto Sans Bold" panose="020B0802040504020204"/>
                          <a:sym typeface="Noto Sans Bold" panose="020B0802040504020204"/>
                        </a:rPr>
                        <a:t>Model</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tc>
                  <a:txBody>
                    <a:bodyPr/>
                    <a:lstStyle/>
                    <a:p>
                      <a:pPr algn="ctr">
                        <a:lnSpc>
                          <a:spcPts val="3640"/>
                        </a:lnSpc>
                        <a:defRPr/>
                      </a:pPr>
                      <a:r>
                        <a:rPr lang="en-US" sz="2600" b="1">
                          <a:solidFill>
                            <a:srgbClr val="000000"/>
                          </a:solidFill>
                          <a:latin typeface="Noto Sans Bold" panose="020B0802040504020204"/>
                          <a:ea typeface="Noto Sans Bold" panose="020B0802040504020204"/>
                          <a:cs typeface="Noto Sans Bold" panose="020B0802040504020204"/>
                          <a:sym typeface="Noto Sans Bold" panose="020B0802040504020204"/>
                        </a:rPr>
                        <a:t>Accuracy</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tc>
                  <a:txBody>
                    <a:bodyPr/>
                    <a:lstStyle/>
                    <a:p>
                      <a:pPr algn="ctr">
                        <a:lnSpc>
                          <a:spcPts val="3640"/>
                        </a:lnSpc>
                        <a:defRPr/>
                      </a:pPr>
                      <a:r>
                        <a:rPr lang="en-US" sz="2600" b="1">
                          <a:solidFill>
                            <a:srgbClr val="000000"/>
                          </a:solidFill>
                          <a:latin typeface="Noto Sans Bold" panose="020B0802040504020204"/>
                          <a:ea typeface="Noto Sans Bold" panose="020B0802040504020204"/>
                          <a:cs typeface="Noto Sans Bold" panose="020B0802040504020204"/>
                          <a:sym typeface="Noto Sans Bold" panose="020B0802040504020204"/>
                        </a:rPr>
                        <a:t>F`1 score</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tc>
                  <a:txBody>
                    <a:bodyPr/>
                    <a:lstStyle/>
                    <a:p>
                      <a:pPr algn="ctr">
                        <a:lnSpc>
                          <a:spcPts val="3640"/>
                        </a:lnSpc>
                        <a:defRPr/>
                      </a:pPr>
                      <a:r>
                        <a:rPr lang="en-US" sz="2600" b="1">
                          <a:solidFill>
                            <a:srgbClr val="000000"/>
                          </a:solidFill>
                          <a:latin typeface="Noto Sans Bold" panose="020B0802040504020204"/>
                          <a:ea typeface="Noto Sans Bold" panose="020B0802040504020204"/>
                          <a:cs typeface="Noto Sans Bold" panose="020B0802040504020204"/>
                          <a:sym typeface="Noto Sans Bold" panose="020B0802040504020204"/>
                        </a:rPr>
                        <a:t>Accuracy private</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tc>
                  <a:txBody>
                    <a:bodyPr/>
                    <a:lstStyle/>
                    <a:p>
                      <a:pPr algn="ctr">
                        <a:lnSpc>
                          <a:spcPts val="3640"/>
                        </a:lnSpc>
                        <a:defRPr/>
                      </a:pPr>
                      <a:r>
                        <a:rPr lang="en-US" sz="2600" b="1">
                          <a:solidFill>
                            <a:srgbClr val="000000"/>
                          </a:solidFill>
                          <a:latin typeface="Noto Sans Bold" panose="020B0802040504020204"/>
                          <a:ea typeface="Noto Sans Bold" panose="020B0802040504020204"/>
                          <a:cs typeface="Noto Sans Bold" panose="020B0802040504020204"/>
                          <a:sym typeface="Noto Sans Bold" panose="020B0802040504020204"/>
                        </a:rPr>
                        <a:t>Accuracy public </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extLst>
                  <a:ext uri="{0D108BD9-81ED-4DB2-BD59-A6C34878D82A}">
                    <a16:rowId xmlns:a16="http://schemas.microsoft.com/office/drawing/2014/main" val="10000"/>
                  </a:ext>
                </a:extLst>
              </a:tr>
              <a:tr h="666100">
                <a:tc>
                  <a:txBody>
                    <a:bodyPr/>
                    <a:lstStyle/>
                    <a:p>
                      <a:pPr algn="ctr">
                        <a:lnSpc>
                          <a:spcPts val="2600"/>
                        </a:lnSpc>
                        <a:defRPr/>
                      </a:pPr>
                      <a:r>
                        <a:rPr lang="en-US" sz="2600" b="1">
                          <a:solidFill>
                            <a:srgbClr val="202124"/>
                          </a:solidFill>
                          <a:latin typeface="Noto Sans Bold" panose="020B0802040504020204"/>
                          <a:ea typeface="Noto Sans Bold" panose="020B0802040504020204"/>
                          <a:cs typeface="Noto Sans Bold" panose="020B0802040504020204"/>
                          <a:sym typeface="Noto Sans Bold" panose="020B0802040504020204"/>
                        </a:rPr>
                        <a:t>XGBoost</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tc>
                  <a:txBody>
                    <a:bodyPr/>
                    <a:lstStyle/>
                    <a:p>
                      <a:pPr algn="ctr">
                        <a:lnSpc>
                          <a:spcPts val="2600"/>
                        </a:lnSpc>
                        <a:defRPr/>
                      </a:pPr>
                      <a:r>
                        <a:rPr lang="en-US" sz="2600" b="1">
                          <a:solidFill>
                            <a:srgbClr val="202124"/>
                          </a:solidFill>
                          <a:latin typeface="Noto Sans Bold" panose="020B0802040504020204"/>
                          <a:ea typeface="Noto Sans Bold" panose="020B0802040504020204"/>
                          <a:cs typeface="Noto Sans Bold" panose="020B0802040504020204"/>
                          <a:sym typeface="Noto Sans Bold" panose="020B0802040504020204"/>
                        </a:rPr>
                        <a:t>0,557585</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tc>
                  <a:txBody>
                    <a:bodyPr/>
                    <a:lstStyle/>
                    <a:p>
                      <a:pPr algn="ctr">
                        <a:lnSpc>
                          <a:spcPts val="2600"/>
                        </a:lnSpc>
                        <a:defRPr/>
                      </a:pPr>
                      <a:r>
                        <a:rPr lang="en-US" sz="2600" b="1">
                          <a:solidFill>
                            <a:srgbClr val="202124"/>
                          </a:solidFill>
                          <a:latin typeface="Noto Sans Bold" panose="020B0802040504020204"/>
                          <a:ea typeface="Noto Sans Bold" panose="020B0802040504020204"/>
                          <a:cs typeface="Noto Sans Bold" panose="020B0802040504020204"/>
                          <a:sym typeface="Noto Sans Bold" panose="020B0802040504020204"/>
                        </a:rPr>
                        <a:t>0,601</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tcPr>
                </a:tc>
                <a:tc>
                  <a:txBody>
                    <a:bodyPr/>
                    <a:lstStyle/>
                    <a:p>
                      <a:pPr algn="ctr">
                        <a:lnSpc>
                          <a:spcPts val="2600"/>
                        </a:lnSpc>
                        <a:defRPr/>
                      </a:pPr>
                      <a:r>
                        <a:rPr lang="en-US" sz="2600" b="1">
                          <a:solidFill>
                            <a:srgbClr val="202124"/>
                          </a:solidFill>
                          <a:latin typeface="Noto Sans Bold" panose="020B0802040504020204"/>
                          <a:ea typeface="Noto Sans Bold" panose="020B0802040504020204"/>
                          <a:cs typeface="Noto Sans Bold" panose="020B0802040504020204"/>
                          <a:sym typeface="Noto Sans Bold" panose="020B0802040504020204"/>
                        </a:rPr>
                        <a:t>0,56388</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tcPr>
                </a:tc>
                <a:tc>
                  <a:txBody>
                    <a:bodyPr/>
                    <a:lstStyle/>
                    <a:p>
                      <a:pPr algn="ctr">
                        <a:lnSpc>
                          <a:spcPts val="2600"/>
                        </a:lnSpc>
                        <a:defRPr/>
                      </a:pPr>
                      <a:r>
                        <a:rPr lang="en-US" sz="2600" b="1">
                          <a:solidFill>
                            <a:srgbClr val="202124"/>
                          </a:solidFill>
                          <a:latin typeface="Noto Sans Bold" panose="020B0802040504020204"/>
                          <a:ea typeface="Noto Sans Bold" panose="020B0802040504020204"/>
                          <a:cs typeface="Noto Sans Bold" panose="020B0802040504020204"/>
                          <a:sym typeface="Noto Sans Bold" panose="020B0802040504020204"/>
                        </a:rPr>
                        <a:t>0,57301</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66100">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CatBoost</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0,531606</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0,58762</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0,56111</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0,55992</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66100">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LightGBM</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0,55821</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0,5907</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0,51666</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tcPr>
                </a:tc>
                <a:tc>
                  <a:txBody>
                    <a:bodyPr/>
                    <a:lstStyle/>
                    <a:p>
                      <a:pPr algn="ctr">
                        <a:lnSpc>
                          <a:spcPts val="364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0,54126</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905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4. Thực nghiệm và trao đổi</a:t>
            </a:r>
          </a:p>
        </p:txBody>
      </p:sp>
      <p:sp>
        <p:nvSpPr>
          <p:cNvPr id="5" name="TextBox 5"/>
          <p:cNvSpPr txBox="1"/>
          <p:nvPr/>
        </p:nvSpPr>
        <p:spPr>
          <a:xfrm>
            <a:off x="1561563" y="1928791"/>
            <a:ext cx="6719977" cy="628650"/>
          </a:xfrm>
          <a:prstGeom prst="rect">
            <a:avLst/>
          </a:prstGeom>
        </p:spPr>
        <p:txBody>
          <a:bodyPr lIns="0" tIns="0" rIns="0" bIns="0" rtlCol="0" anchor="t">
            <a:spAutoFit/>
          </a:bodyPr>
          <a:lstStyle/>
          <a:p>
            <a:pPr algn="l">
              <a:lnSpc>
                <a:spcPts val="4495"/>
              </a:lnSpc>
              <a:spcBef>
                <a:spcPct val="0"/>
              </a:spcBef>
            </a:pPr>
            <a:r>
              <a:rPr lang="en-US" sz="3750" b="1">
                <a:solidFill>
                  <a:srgbClr val="1C3F60"/>
                </a:solidFill>
                <a:latin typeface="Calibri (MS) Bold" panose="020F0702030404030204"/>
                <a:ea typeface="Calibri (MS) Bold" panose="020F0702030404030204"/>
                <a:cs typeface="Calibri (MS) Bold" panose="020F0702030404030204"/>
                <a:sym typeface="Calibri (MS) Bold" panose="020F0702030404030204"/>
              </a:rPr>
              <a:t>Kết quả của ensemble learning </a:t>
            </a:r>
          </a:p>
        </p:txBody>
      </p:sp>
      <p:sp>
        <p:nvSpPr>
          <p:cNvPr id="6" name="TextBox 6"/>
          <p:cNvSpPr txBox="1"/>
          <p:nvPr/>
        </p:nvSpPr>
        <p:spPr>
          <a:xfrm>
            <a:off x="1234722" y="6636355"/>
            <a:ext cx="15818556" cy="1171575"/>
          </a:xfrm>
          <a:prstGeom prst="rect">
            <a:avLst/>
          </a:prstGeom>
        </p:spPr>
        <p:txBody>
          <a:bodyPr lIns="0" tIns="0" rIns="0" bIns="0" rtlCol="0" anchor="t">
            <a:spAutoFit/>
          </a:bodyPr>
          <a:lstStyle/>
          <a:p>
            <a:pPr algn="l">
              <a:lnSpc>
                <a:spcPts val="4320"/>
              </a:lnSpc>
              <a:spcBef>
                <a:spcPct val="0"/>
              </a:spcBef>
            </a:pPr>
            <a:r>
              <a:rPr lang="en-US" sz="3600" b="1">
                <a:solidFill>
                  <a:srgbClr val="000000"/>
                </a:solidFill>
                <a:latin typeface="Calibri (MS) Bold" panose="020F0702030404030204"/>
                <a:ea typeface="Calibri (MS) Bold" panose="020F0702030404030204"/>
                <a:cs typeface="Calibri (MS) Bold" panose="020F0702030404030204"/>
                <a:sym typeface="Calibri (MS) Bold" panose="020F0702030404030204"/>
              </a:rPr>
              <a:t>Nhận xét:</a:t>
            </a:r>
          </a:p>
          <a:p>
            <a:pPr marL="777240" lvl="1" indent="-388620" algn="l">
              <a:lnSpc>
                <a:spcPts val="4320"/>
              </a:lnSpc>
              <a:spcBef>
                <a:spcPct val="0"/>
              </a:spcBef>
              <a:buFont typeface="Arial" panose="020B0604020202020204"/>
              <a:buChar char="•"/>
            </a:pPr>
            <a:r>
              <a:rPr lang="en-US" sz="3600">
                <a:solidFill>
                  <a:srgbClr val="000000"/>
                </a:solidFill>
                <a:latin typeface="Calibri (MS)" panose="020F0502020204030204"/>
                <a:ea typeface="Calibri (MS)" panose="020F0502020204030204"/>
                <a:cs typeface="Calibri (MS)" panose="020F0502020204030204"/>
                <a:sym typeface="Calibri (MS)" panose="020F0502020204030204"/>
              </a:rPr>
              <a:t>Việc kết hợp các mô hình (Weight CB+XGB+LGB ) : không đưa ra kết quả tốt nhất</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29</a:t>
            </a:r>
          </a:p>
        </p:txBody>
      </p:sp>
      <p:graphicFrame>
        <p:nvGraphicFramePr>
          <p:cNvPr id="8" name="Table 8"/>
          <p:cNvGraphicFramePr>
            <a:graphicFrameLocks noGrp="1"/>
          </p:cNvGraphicFramePr>
          <p:nvPr>
            <p:extLst>
              <p:ext uri="{D42A27DB-BD31-4B8C-83A1-F6EECF244321}">
                <p14:modId xmlns:p14="http://schemas.microsoft.com/office/powerpoint/2010/main" val="2631970541"/>
              </p:ext>
            </p:extLst>
          </p:nvPr>
        </p:nvGraphicFramePr>
        <p:xfrm>
          <a:off x="1234722" y="4120524"/>
          <a:ext cx="15202380" cy="1813684"/>
        </p:xfrm>
        <a:graphic>
          <a:graphicData uri="http://schemas.openxmlformats.org/drawingml/2006/table">
            <a:tbl>
              <a:tblPr/>
              <a:tblGrid>
                <a:gridCol w="2275702">
                  <a:extLst>
                    <a:ext uri="{9D8B030D-6E8A-4147-A177-3AD203B41FA5}">
                      <a16:colId xmlns:a16="http://schemas.microsoft.com/office/drawing/2014/main" val="20000"/>
                    </a:ext>
                  </a:extLst>
                </a:gridCol>
                <a:gridCol w="2425794">
                  <a:extLst>
                    <a:ext uri="{9D8B030D-6E8A-4147-A177-3AD203B41FA5}">
                      <a16:colId xmlns:a16="http://schemas.microsoft.com/office/drawing/2014/main" val="20001"/>
                    </a:ext>
                  </a:extLst>
                </a:gridCol>
                <a:gridCol w="2768594">
                  <a:extLst>
                    <a:ext uri="{9D8B030D-6E8A-4147-A177-3AD203B41FA5}">
                      <a16:colId xmlns:a16="http://schemas.microsoft.com/office/drawing/2014/main" val="20002"/>
                    </a:ext>
                  </a:extLst>
                </a:gridCol>
                <a:gridCol w="4123386">
                  <a:extLst>
                    <a:ext uri="{9D8B030D-6E8A-4147-A177-3AD203B41FA5}">
                      <a16:colId xmlns:a16="http://schemas.microsoft.com/office/drawing/2014/main" val="20003"/>
                    </a:ext>
                  </a:extLst>
                </a:gridCol>
                <a:gridCol w="3608904">
                  <a:extLst>
                    <a:ext uri="{9D8B030D-6E8A-4147-A177-3AD203B41FA5}">
                      <a16:colId xmlns:a16="http://schemas.microsoft.com/office/drawing/2014/main" val="20004"/>
                    </a:ext>
                  </a:extLst>
                </a:gridCol>
              </a:tblGrid>
              <a:tr h="1162404">
                <a:tc>
                  <a:txBody>
                    <a:bodyPr/>
                    <a:lstStyle/>
                    <a:p>
                      <a:pPr algn="ctr">
                        <a:lnSpc>
                          <a:spcPts val="3640"/>
                        </a:lnSpc>
                        <a:defRPr/>
                      </a:pPr>
                      <a:r>
                        <a:rPr lang="en-US" sz="2600" b="1">
                          <a:solidFill>
                            <a:srgbClr val="000000"/>
                          </a:solidFill>
                          <a:latin typeface="Noto Sans Bold" panose="020B0802040504020204"/>
                          <a:ea typeface="Noto Sans Bold" panose="020B0802040504020204"/>
                          <a:cs typeface="Noto Sans Bold" panose="020B0802040504020204"/>
                          <a:sym typeface="Noto Sans Bold" panose="020B0802040504020204"/>
                        </a:rPr>
                        <a:t>Model</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tc>
                  <a:txBody>
                    <a:bodyPr/>
                    <a:lstStyle/>
                    <a:p>
                      <a:pPr algn="ctr">
                        <a:lnSpc>
                          <a:spcPts val="3640"/>
                        </a:lnSpc>
                        <a:defRPr/>
                      </a:pPr>
                      <a:r>
                        <a:rPr lang="en-US" sz="2600" b="1">
                          <a:solidFill>
                            <a:srgbClr val="000000"/>
                          </a:solidFill>
                          <a:latin typeface="Noto Sans Bold" panose="020B0802040504020204"/>
                          <a:ea typeface="Noto Sans Bold" panose="020B0802040504020204"/>
                          <a:cs typeface="Noto Sans Bold" panose="020B0802040504020204"/>
                          <a:sym typeface="Noto Sans Bold" panose="020B0802040504020204"/>
                        </a:rPr>
                        <a:t>accuracy</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tc>
                  <a:txBody>
                    <a:bodyPr/>
                    <a:lstStyle/>
                    <a:p>
                      <a:pPr algn="ctr">
                        <a:lnSpc>
                          <a:spcPts val="3640"/>
                        </a:lnSpc>
                        <a:defRPr/>
                      </a:pPr>
                      <a:r>
                        <a:rPr lang="en-US" sz="2600" b="1" dirty="0">
                          <a:solidFill>
                            <a:srgbClr val="000000"/>
                          </a:solidFill>
                          <a:latin typeface="Noto Sans Bold" panose="020B0802040504020204"/>
                          <a:ea typeface="Noto Sans Bold" panose="020B0802040504020204"/>
                          <a:cs typeface="Noto Sans Bold" panose="020B0802040504020204"/>
                          <a:sym typeface="Noto Sans Bold" panose="020B0802040504020204"/>
                        </a:rPr>
                        <a:t>f1 score</a:t>
                      </a:r>
                      <a:endParaRPr lang="en-US" sz="1100" dirty="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tc>
                  <a:txBody>
                    <a:bodyPr/>
                    <a:lstStyle/>
                    <a:p>
                      <a:pPr algn="ctr">
                        <a:lnSpc>
                          <a:spcPts val="3640"/>
                        </a:lnSpc>
                        <a:defRPr/>
                      </a:pPr>
                      <a:r>
                        <a:rPr lang="en-US" sz="2600" b="1" dirty="0">
                          <a:solidFill>
                            <a:srgbClr val="000000"/>
                          </a:solidFill>
                          <a:latin typeface="Noto Sans Bold" panose="020B0802040504020204"/>
                          <a:ea typeface="Noto Sans Bold" panose="020B0802040504020204"/>
                          <a:cs typeface="Noto Sans Bold" panose="020B0802040504020204"/>
                          <a:sym typeface="Noto Sans Bold" panose="020B0802040504020204"/>
                        </a:rPr>
                        <a:t>accuracy</a:t>
                      </a:r>
                      <a:endParaRPr lang="en-US" sz="1100" dirty="0"/>
                    </a:p>
                    <a:p>
                      <a:pPr algn="ctr">
                        <a:lnSpc>
                          <a:spcPts val="3640"/>
                        </a:lnSpc>
                      </a:pPr>
                      <a:r>
                        <a:rPr lang="en-US" sz="2600" b="1" dirty="0">
                          <a:solidFill>
                            <a:srgbClr val="000000"/>
                          </a:solidFill>
                          <a:latin typeface="Noto Sans Bold" panose="020B0802040504020204"/>
                          <a:ea typeface="Noto Sans Bold" panose="020B0802040504020204"/>
                          <a:cs typeface="Noto Sans Bold" panose="020B0802040504020204"/>
                          <a:sym typeface="Noto Sans Bold" panose="020B0802040504020204"/>
                        </a:rPr>
                        <a:t>private</a:t>
                      </a:r>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tc>
                  <a:txBody>
                    <a:bodyPr/>
                    <a:lstStyle/>
                    <a:p>
                      <a:pPr algn="ctr">
                        <a:lnSpc>
                          <a:spcPts val="3640"/>
                        </a:lnSpc>
                        <a:defRPr/>
                      </a:pPr>
                      <a:r>
                        <a:rPr lang="en-US" sz="2600" b="1">
                          <a:solidFill>
                            <a:srgbClr val="000000"/>
                          </a:solidFill>
                          <a:latin typeface="Noto Sans Bold" panose="020B0802040504020204"/>
                          <a:ea typeface="Noto Sans Bold" panose="020B0802040504020204"/>
                          <a:cs typeface="Noto Sans Bold" panose="020B0802040504020204"/>
                          <a:sym typeface="Noto Sans Bold" panose="020B0802040504020204"/>
                        </a:rPr>
                        <a:t>accuracy public </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2EBD8"/>
                    </a:solidFill>
                  </a:tcPr>
                </a:tc>
                <a:extLst>
                  <a:ext uri="{0D108BD9-81ED-4DB2-BD59-A6C34878D82A}">
                    <a16:rowId xmlns:a16="http://schemas.microsoft.com/office/drawing/2014/main" val="10000"/>
                  </a:ext>
                </a:extLst>
              </a:tr>
              <a:tr h="651280">
                <a:tc>
                  <a:txBody>
                    <a:bodyPr/>
                    <a:lstStyle/>
                    <a:p>
                      <a:pPr algn="ctr">
                        <a:lnSpc>
                          <a:spcPts val="260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Weighted</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tc>
                  <a:txBody>
                    <a:bodyPr/>
                    <a:lstStyle/>
                    <a:p>
                      <a:pPr algn="ctr">
                        <a:lnSpc>
                          <a:spcPts val="260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0,916782</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tc>
                  <a:txBody>
                    <a:bodyPr/>
                    <a:lstStyle/>
                    <a:p>
                      <a:pPr algn="ctr">
                        <a:lnSpc>
                          <a:spcPts val="260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0,936782</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tcPr>
                </a:tc>
                <a:tc>
                  <a:txBody>
                    <a:bodyPr/>
                    <a:lstStyle/>
                    <a:p>
                      <a:pPr algn="ctr">
                        <a:lnSpc>
                          <a:spcPts val="2600"/>
                        </a:lnSpc>
                        <a:defRPr/>
                      </a:pPr>
                      <a:r>
                        <a:rPr lang="en-US" sz="2600">
                          <a:solidFill>
                            <a:srgbClr val="202124"/>
                          </a:solidFill>
                          <a:latin typeface="Noto Sans" panose="020B0502040504020204"/>
                          <a:ea typeface="Noto Sans" panose="020B0502040504020204"/>
                          <a:cs typeface="Noto Sans" panose="020B0502040504020204"/>
                          <a:sym typeface="Noto Sans" panose="020B0502040504020204"/>
                        </a:rPr>
                        <a:t>0,5324</a:t>
                      </a:r>
                      <a:endParaRPr lang="en-US" sz="110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tcPr>
                </a:tc>
                <a:tc>
                  <a:txBody>
                    <a:bodyPr/>
                    <a:lstStyle/>
                    <a:p>
                      <a:pPr algn="ctr">
                        <a:lnSpc>
                          <a:spcPts val="2600"/>
                        </a:lnSpc>
                        <a:defRPr/>
                      </a:pPr>
                      <a:r>
                        <a:rPr lang="en-US" sz="2600" dirty="0">
                          <a:solidFill>
                            <a:srgbClr val="202124"/>
                          </a:solidFill>
                          <a:latin typeface="Noto Sans" panose="020B0502040504020204"/>
                          <a:ea typeface="Noto Sans" panose="020B0502040504020204"/>
                          <a:cs typeface="Noto Sans" panose="020B0502040504020204"/>
                          <a:sym typeface="Noto Sans" panose="020B0502040504020204"/>
                        </a:rPr>
                        <a:t>0,54761</a:t>
                      </a:r>
                      <a:endParaRPr lang="en-US" sz="1100" dirty="0"/>
                    </a:p>
                  </a:txBody>
                  <a:tcPr marL="0" marR="0" marT="0" marB="0">
                    <a:lnL w="9525" cap="flat" cmpd="sng" algn="ctr">
                      <a:solidFill>
                        <a:srgbClr val="929292"/>
                      </a:solidFill>
                      <a:prstDash val="solid"/>
                      <a:round/>
                      <a:headEnd type="none" w="med" len="med"/>
                      <a:tailEnd type="none" w="med" len="med"/>
                    </a:lnL>
                    <a:lnR w="9525" cap="flat" cmpd="sng" algn="ctr">
                      <a:solidFill>
                        <a:srgbClr val="929292"/>
                      </a:solidFill>
                      <a:prstDash val="solid"/>
                      <a:round/>
                      <a:headEnd type="none" w="med" len="med"/>
                      <a:tailEnd type="none" w="med" len="med"/>
                    </a:lnR>
                    <a:lnT w="9525" cap="flat" cmpd="sng" algn="ctr">
                      <a:solidFill>
                        <a:srgbClr val="929292"/>
                      </a:solidFill>
                      <a:prstDash val="solid"/>
                      <a:round/>
                      <a:headEnd type="none" w="med" len="med"/>
                      <a:tailEnd type="none" w="med" len="med"/>
                    </a:lnT>
                    <a:lnB w="9525" cap="flat" cmpd="sng" algn="ctr">
                      <a:solidFill>
                        <a:srgbClr val="92929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AFC1D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857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sp>
        <p:nvSpPr>
          <p:cNvPr id="4" name="TextBox 4"/>
          <p:cNvSpPr txBox="1"/>
          <p:nvPr/>
        </p:nvSpPr>
        <p:spPr>
          <a:xfrm>
            <a:off x="1028700" y="914400"/>
            <a:ext cx="8339751" cy="933450"/>
          </a:xfrm>
          <a:prstGeom prst="rect">
            <a:avLst/>
          </a:prstGeom>
        </p:spPr>
        <p:txBody>
          <a:bodyPr lIns="0" tIns="0" rIns="0" bIns="0" rtlCol="0" anchor="t">
            <a:spAutoFit/>
          </a:bodyPr>
          <a:lstStyle/>
          <a:p>
            <a:pPr algn="l">
              <a:lnSpc>
                <a:spcPts val="6480"/>
              </a:lnSpc>
            </a:pPr>
            <a:r>
              <a:rPr lang="en-US" sz="5400" b="1">
                <a:solidFill>
                  <a:srgbClr val="1C3F60"/>
                </a:solidFill>
                <a:latin typeface="Calibri (MS) Bold" panose="020F0702030404030204"/>
                <a:ea typeface="Calibri (MS) Bold" panose="020F0702030404030204"/>
                <a:cs typeface="Calibri (MS) Bold" panose="020F0702030404030204"/>
                <a:sym typeface="Calibri (MS) Bold" panose="020F0702030404030204"/>
              </a:rPr>
              <a:t>5. Kết luận </a:t>
            </a:r>
          </a:p>
        </p:txBody>
      </p:sp>
      <p:sp>
        <p:nvSpPr>
          <p:cNvPr id="5" name="TextBox 5"/>
          <p:cNvSpPr txBox="1"/>
          <p:nvPr/>
        </p:nvSpPr>
        <p:spPr>
          <a:xfrm>
            <a:off x="1028700" y="2221395"/>
            <a:ext cx="16077750" cy="3810000"/>
          </a:xfrm>
          <a:prstGeom prst="rect">
            <a:avLst/>
          </a:prstGeom>
        </p:spPr>
        <p:txBody>
          <a:bodyPr lIns="0" tIns="0" rIns="0" bIns="0" rtlCol="0" anchor="t">
            <a:spAutoFit/>
          </a:bodyPr>
          <a:lstStyle/>
          <a:p>
            <a:pPr marL="755650" lvl="1" indent="-377825" algn="l">
              <a:lnSpc>
                <a:spcPts val="4200"/>
              </a:lnSpc>
              <a:spcBef>
                <a:spcPct val="0"/>
              </a:spcBef>
              <a:buFont typeface="Arial" panose="020B0604020202020204"/>
              <a:buChar char="•"/>
            </a:pPr>
            <a:r>
              <a:rPr lang="en-US" sz="3500">
                <a:solidFill>
                  <a:srgbClr val="000000"/>
                </a:solidFill>
                <a:latin typeface="Calibri (MS)" panose="020F0502020204030204"/>
                <a:ea typeface="Calibri (MS)" panose="020F0502020204030204"/>
                <a:cs typeface="Calibri (MS)" panose="020F0502020204030204"/>
                <a:sym typeface="Calibri (MS)" panose="020F0502020204030204"/>
              </a:rPr>
              <a:t>Mô hình XGBoost cho thấy hiệu suất mạnh mẽ và ổn định nhất, đạt điểm Kaggle cao nhất trên tập validation </a:t>
            </a:r>
          </a:p>
          <a:p>
            <a:pPr algn="l">
              <a:lnSpc>
                <a:spcPts val="4200"/>
              </a:lnSpc>
              <a:spcBef>
                <a:spcPct val="0"/>
              </a:spcBef>
            </a:pPr>
            <a:r>
              <a:rPr lang="en-US" sz="3500">
                <a:solidFill>
                  <a:srgbClr val="000000"/>
                </a:solidFill>
                <a:latin typeface="Calibri (MS)" panose="020F0502020204030204"/>
                <a:ea typeface="Calibri (MS)" panose="020F0502020204030204"/>
                <a:cs typeface="Calibri (MS)" panose="020F0502020204030204"/>
                <a:sym typeface="Calibri (MS)" panose="020F0502020204030204"/>
              </a:rPr>
              <a:t>      →</a:t>
            </a:r>
            <a:r>
              <a:rPr lang="en-US" sz="3500" b="1">
                <a:solidFill>
                  <a:srgbClr val="000000"/>
                </a:solidFill>
                <a:latin typeface="Calibri (MS) Bold" panose="020F0702030404030204"/>
                <a:ea typeface="Calibri (MS) Bold" panose="020F0702030404030204"/>
                <a:cs typeface="Calibri (MS) Bold" panose="020F0702030404030204"/>
                <a:sym typeface="Calibri (MS) Bold" panose="020F0702030404030204"/>
              </a:rPr>
              <a:t> Là lựa chọn tối ưu cho bài toán dự đoán thể loại nhạc .</a:t>
            </a:r>
          </a:p>
          <a:p>
            <a:pPr algn="l">
              <a:lnSpc>
                <a:spcPts val="4200"/>
              </a:lnSpc>
              <a:spcBef>
                <a:spcPct val="0"/>
              </a:spcBef>
            </a:pPr>
            <a:endParaRPr lang="en-US" sz="3500"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a:p>
            <a:pPr marL="755650" lvl="1" indent="-377825" algn="ctr">
              <a:lnSpc>
                <a:spcPts val="4200"/>
              </a:lnSpc>
              <a:spcBef>
                <a:spcPct val="0"/>
              </a:spcBef>
              <a:buFont typeface="Arial" panose="020B0604020202020204"/>
              <a:buChar char="•"/>
            </a:pPr>
            <a:r>
              <a:rPr lang="en-US" sz="3500">
                <a:solidFill>
                  <a:srgbClr val="000000"/>
                </a:solidFill>
                <a:latin typeface="Calibri (MS)" panose="020F0502020204030204"/>
                <a:ea typeface="Calibri (MS)" panose="020F0502020204030204"/>
                <a:cs typeface="Calibri (MS)" panose="020F0502020204030204"/>
                <a:sym typeface="Calibri (MS)" panose="020F0502020204030204"/>
              </a:rPr>
              <a:t>Quá trình xử lý dữ liệu và tạo đặc trưng đóng vai trò quan trọng, giúp mã hóa các yếu tố ảnh hưởng đến giá trị bất động sản thành các đặc trưng rõ ràng và có ý nghĩa với mô hình học máy</a:t>
            </a:r>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panose="020B0502040504020204"/>
                <a:ea typeface="Noto Sans" panose="020B0502040504020204"/>
                <a:cs typeface="Noto Sans" panose="020B0502040504020204"/>
                <a:sym typeface="Noto Sans" panose="020B0502040504020204"/>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grpSp>
        <p:nvGrpSpPr>
          <p:cNvPr id="2" name="Group 2"/>
          <p:cNvGrpSpPr/>
          <p:nvPr/>
        </p:nvGrpSpPr>
        <p:grpSpPr>
          <a:xfrm>
            <a:off x="-2857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US"/>
            </a:p>
          </p:txBody>
        </p:sp>
      </p:grpSp>
      <p:grpSp>
        <p:nvGrpSpPr>
          <p:cNvPr id="4" name="Group 4"/>
          <p:cNvGrpSpPr/>
          <p:nvPr/>
        </p:nvGrpSpPr>
        <p:grpSpPr>
          <a:xfrm>
            <a:off x="8800013" y="713404"/>
            <a:ext cx="8325937" cy="8860193"/>
            <a:chOff x="0" y="0"/>
            <a:chExt cx="11101250" cy="11813590"/>
          </a:xfrm>
        </p:grpSpPr>
        <p:sp>
          <p:nvSpPr>
            <p:cNvPr id="5" name="AutoShape 5"/>
            <p:cNvSpPr/>
            <p:nvPr/>
          </p:nvSpPr>
          <p:spPr>
            <a:xfrm rot="131710">
              <a:off x="214668" y="200199"/>
              <a:ext cx="10671914" cy="11413192"/>
            </a:xfrm>
            <a:prstGeom prst="rect">
              <a:avLst/>
            </a:prstGeom>
            <a:solidFill>
              <a:srgbClr val="AFC1D0"/>
            </a:solidFill>
          </p:spPr>
          <p:txBody>
            <a:bodyPr/>
            <a:lstStyle/>
            <a:p>
              <a:endParaRPr lang="en-US"/>
            </a:p>
          </p:txBody>
        </p:sp>
        <p:grpSp>
          <p:nvGrpSpPr>
            <p:cNvPr id="6" name="Group 6"/>
            <p:cNvGrpSpPr/>
            <p:nvPr/>
          </p:nvGrpSpPr>
          <p:grpSpPr>
            <a:xfrm rot="131710">
              <a:off x="465932" y="435724"/>
              <a:ext cx="10169386" cy="10942143"/>
              <a:chOff x="0" y="0"/>
              <a:chExt cx="812800" cy="874564"/>
            </a:xfrm>
          </p:grpSpPr>
          <p:sp>
            <p:nvSpPr>
              <p:cNvPr id="7" name="Freeform 7"/>
              <p:cNvSpPr/>
              <p:nvPr/>
            </p:nvSpPr>
            <p:spPr>
              <a:xfrm>
                <a:off x="0" y="0"/>
                <a:ext cx="812800" cy="874564"/>
              </a:xfrm>
              <a:custGeom>
                <a:avLst/>
                <a:gdLst/>
                <a:ahLst/>
                <a:cxnLst/>
                <a:rect l="l" t="t" r="r" b="b"/>
                <a:pathLst>
                  <a:path w="812800" h="874564">
                    <a:moveTo>
                      <a:pt x="0" y="0"/>
                    </a:moveTo>
                    <a:lnTo>
                      <a:pt x="812800" y="0"/>
                    </a:lnTo>
                    <a:lnTo>
                      <a:pt x="812800" y="874564"/>
                    </a:lnTo>
                    <a:lnTo>
                      <a:pt x="0" y="874564"/>
                    </a:lnTo>
                    <a:close/>
                  </a:path>
                </a:pathLst>
              </a:custGeom>
              <a:blipFill>
                <a:blip r:embed="rId3"/>
                <a:stretch>
                  <a:fillRect l="-45643" r="-45643"/>
                </a:stretch>
              </a:blipFill>
            </p:spPr>
            <p:txBody>
              <a:bodyPr/>
              <a:lstStyle/>
              <a:p>
                <a:endParaRPr lang="en-US"/>
              </a:p>
            </p:txBody>
          </p:sp>
        </p:grpSp>
      </p:grpSp>
      <p:sp>
        <p:nvSpPr>
          <p:cNvPr id="8" name="Freeform 8"/>
          <p:cNvSpPr/>
          <p:nvPr/>
        </p:nvSpPr>
        <p:spPr>
          <a:xfrm>
            <a:off x="12341029" y="4285678"/>
            <a:ext cx="7092437" cy="7516070"/>
          </a:xfrm>
          <a:custGeom>
            <a:avLst/>
            <a:gdLst/>
            <a:ahLst/>
            <a:cxnLst/>
            <a:rect l="l" t="t" r="r" b="b"/>
            <a:pathLst>
              <a:path w="7092437" h="7516070">
                <a:moveTo>
                  <a:pt x="0" y="0"/>
                </a:moveTo>
                <a:lnTo>
                  <a:pt x="7092437" y="0"/>
                </a:lnTo>
                <a:lnTo>
                  <a:pt x="7092437" y="7516070"/>
                </a:lnTo>
                <a:lnTo>
                  <a:pt x="0" y="75160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rot="-10800000">
            <a:off x="-803019" y="-1021624"/>
            <a:ext cx="7092437" cy="7516070"/>
          </a:xfrm>
          <a:custGeom>
            <a:avLst/>
            <a:gdLst/>
            <a:ahLst/>
            <a:cxnLst/>
            <a:rect l="l" t="t" r="r" b="b"/>
            <a:pathLst>
              <a:path w="7092437" h="7516070">
                <a:moveTo>
                  <a:pt x="0" y="0"/>
                </a:moveTo>
                <a:lnTo>
                  <a:pt x="7092437" y="0"/>
                </a:lnTo>
                <a:lnTo>
                  <a:pt x="7092437" y="7516069"/>
                </a:lnTo>
                <a:lnTo>
                  <a:pt x="0" y="75160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rot="-437311">
            <a:off x="3778763" y="6716684"/>
            <a:ext cx="1667949" cy="1428371"/>
          </a:xfrm>
          <a:custGeom>
            <a:avLst/>
            <a:gdLst/>
            <a:ahLst/>
            <a:cxnLst/>
            <a:rect l="l" t="t" r="r" b="b"/>
            <a:pathLst>
              <a:path w="1667949" h="1428371">
                <a:moveTo>
                  <a:pt x="0" y="0"/>
                </a:moveTo>
                <a:lnTo>
                  <a:pt x="1667950" y="0"/>
                </a:lnTo>
                <a:lnTo>
                  <a:pt x="1667950" y="1428371"/>
                </a:lnTo>
                <a:lnTo>
                  <a:pt x="0" y="14283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rot="4432476" flipH="1">
            <a:off x="15467706" y="6001197"/>
            <a:ext cx="2375439" cy="1230909"/>
          </a:xfrm>
          <a:custGeom>
            <a:avLst/>
            <a:gdLst/>
            <a:ahLst/>
            <a:cxnLst/>
            <a:rect l="l" t="t" r="r" b="b"/>
            <a:pathLst>
              <a:path w="2375439" h="1230909">
                <a:moveTo>
                  <a:pt x="2375439" y="0"/>
                </a:moveTo>
                <a:lnTo>
                  <a:pt x="0" y="0"/>
                </a:lnTo>
                <a:lnTo>
                  <a:pt x="0" y="1230909"/>
                </a:lnTo>
                <a:lnTo>
                  <a:pt x="2375439" y="1230909"/>
                </a:lnTo>
                <a:lnTo>
                  <a:pt x="2375439"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Freeform 12"/>
          <p:cNvSpPr/>
          <p:nvPr/>
        </p:nvSpPr>
        <p:spPr>
          <a:xfrm rot="-3757476">
            <a:off x="7501983" y="7124399"/>
            <a:ext cx="2132320" cy="1957857"/>
          </a:xfrm>
          <a:custGeom>
            <a:avLst/>
            <a:gdLst/>
            <a:ahLst/>
            <a:cxnLst/>
            <a:rect l="l" t="t" r="r" b="b"/>
            <a:pathLst>
              <a:path w="2132320" h="1957857">
                <a:moveTo>
                  <a:pt x="0" y="0"/>
                </a:moveTo>
                <a:lnTo>
                  <a:pt x="2132320" y="0"/>
                </a:lnTo>
                <a:lnTo>
                  <a:pt x="2132320" y="1957857"/>
                </a:lnTo>
                <a:lnTo>
                  <a:pt x="0" y="195785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TextBox 13"/>
          <p:cNvSpPr txBox="1"/>
          <p:nvPr/>
        </p:nvSpPr>
        <p:spPr>
          <a:xfrm rot="-202183">
            <a:off x="1136224" y="3079305"/>
            <a:ext cx="8839120" cy="3140545"/>
          </a:xfrm>
          <a:prstGeom prst="rect">
            <a:avLst/>
          </a:prstGeom>
        </p:spPr>
        <p:txBody>
          <a:bodyPr lIns="0" tIns="0" rIns="0" bIns="0" rtlCol="0" anchor="t">
            <a:spAutoFit/>
          </a:bodyPr>
          <a:lstStyle/>
          <a:p>
            <a:pPr marL="0" lvl="0" indent="0" algn="ctr">
              <a:lnSpc>
                <a:spcPts val="11860"/>
              </a:lnSpc>
            </a:pPr>
            <a:r>
              <a:rPr lang="en-US" sz="13180" b="1" strike="noStrike">
                <a:solidFill>
                  <a:srgbClr val="0B1320"/>
                </a:solidFill>
                <a:latin typeface="Saira Heavy" panose="00000A00000000000000"/>
                <a:ea typeface="Saira Heavy" panose="00000A00000000000000"/>
                <a:cs typeface="Saira Heavy" panose="00000A00000000000000"/>
                <a:sym typeface="Saira Heavy" panose="00000A00000000000000"/>
              </a:rPr>
              <a:t>THANK YOU</a:t>
            </a:r>
          </a:p>
        </p:txBody>
      </p:sp>
      <p:sp>
        <p:nvSpPr>
          <p:cNvPr id="14" name="TextBox 1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B1320"/>
                </a:solidFill>
                <a:latin typeface="Noto Sans" panose="020B0502040504020204"/>
                <a:ea typeface="Noto Sans" panose="020B0502040504020204"/>
                <a:cs typeface="Noto Sans" panose="020B0502040504020204"/>
                <a:sym typeface="Noto Sans" panose="020B0502040504020204"/>
              </a:rPr>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1958</Words>
  <Application>Microsoft Office PowerPoint</Application>
  <PresentationFormat>Custom</PresentationFormat>
  <Paragraphs>324</Paragraphs>
  <Slides>31</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31</vt:i4>
      </vt:variant>
    </vt:vector>
  </HeadingPairs>
  <TitlesOfParts>
    <vt:vector size="44" baseType="lpstr">
      <vt:lpstr>Noto Sans Bold</vt:lpstr>
      <vt:lpstr>Noto Sans</vt:lpstr>
      <vt:lpstr>Calibri (MS)</vt:lpstr>
      <vt:lpstr>Josefin Sans</vt:lpstr>
      <vt:lpstr>Josefin Sans Bold</vt:lpstr>
      <vt:lpstr>Public Sans</vt:lpstr>
      <vt:lpstr>Garet</vt:lpstr>
      <vt:lpstr>Calibri (MS) Bold</vt:lpstr>
      <vt:lpstr>Arial</vt:lpstr>
      <vt:lpstr>Saira Heavy</vt:lpstr>
      <vt:lpstr>Calibri</vt:lpstr>
      <vt:lpstr>Public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and Black Minimalist Project Deck Presentation</dc:title>
  <dc:creator/>
  <cp:lastModifiedBy>Lê Đoàn Kim Ngân</cp:lastModifiedBy>
  <cp:revision>3</cp:revision>
  <dcterms:created xsi:type="dcterms:W3CDTF">2006-08-16T00:00:00Z</dcterms:created>
  <dcterms:modified xsi:type="dcterms:W3CDTF">2025-12-04T15:35:00Z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37208988765742DEA7F5A894C55DA7D0_12</vt:lpwstr>
  </property>
  <property fmtid="{D5CDD505-2E9C-101B-9397-08002B2CF9AE}" pid="3" name="KSOProductBuildVer">
    <vt:lpwstr>1033-12.2.0.23155</vt:lpwstr>
  </property>
</Properties>
</file>