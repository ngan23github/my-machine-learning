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Tahoma Bold" charset="1" panose="020B0804030504040204"/>
      <p:regular r:id="rId48"/>
    </p:embeddedFont>
    <p:embeddedFont>
      <p:font typeface="Public Sans Bold" charset="1" panose="00000000000000000000"/>
      <p:regular r:id="rId49"/>
    </p:embeddedFont>
    <p:embeddedFont>
      <p:font typeface="Public Sans" charset="1" panose="00000000000000000000"/>
      <p:regular r:id="rId50"/>
    </p:embeddedFont>
    <p:embeddedFont>
      <p:font typeface="Public Sans Italics" charset="1" panose="000000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0.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16666" r="0" b="-16666"/>
              </a:stretch>
            </a:blipFill>
          </p:spPr>
        </p:sp>
      </p:grpSp>
      <p:grpSp>
        <p:nvGrpSpPr>
          <p:cNvPr name="Group 6" id="6"/>
          <p:cNvGrpSpPr/>
          <p:nvPr/>
        </p:nvGrpSpPr>
        <p:grpSpPr>
          <a:xfrm rot="0">
            <a:off x="3095626" y="2552700"/>
            <a:ext cx="13817599" cy="1624012"/>
            <a:chOff x="0" y="0"/>
            <a:chExt cx="18423466" cy="2165350"/>
          </a:xfrm>
        </p:grpSpPr>
        <p:sp>
          <p:nvSpPr>
            <p:cNvPr name="Freeform 7" id="7"/>
            <p:cNvSpPr/>
            <p:nvPr/>
          </p:nvSpPr>
          <p:spPr>
            <a:xfrm flipH="false" flipV="false" rot="0">
              <a:off x="0" y="0"/>
              <a:ext cx="18423466" cy="2165350"/>
            </a:xfrm>
            <a:custGeom>
              <a:avLst/>
              <a:gdLst/>
              <a:ahLst/>
              <a:cxnLst/>
              <a:rect r="r" b="b" t="t" l="l"/>
              <a:pathLst>
                <a:path h="2165350" w="18423466">
                  <a:moveTo>
                    <a:pt x="0" y="0"/>
                  </a:moveTo>
                  <a:lnTo>
                    <a:pt x="18423466" y="0"/>
                  </a:lnTo>
                  <a:lnTo>
                    <a:pt x="18423466" y="2165350"/>
                  </a:lnTo>
                  <a:lnTo>
                    <a:pt x="0" y="2165350"/>
                  </a:lnTo>
                  <a:close/>
                </a:path>
              </a:pathLst>
            </a:custGeom>
            <a:solidFill>
              <a:srgbClr val="000000">
                <a:alpha val="0"/>
              </a:srgbClr>
            </a:solidFill>
          </p:spPr>
        </p:sp>
        <p:sp>
          <p:nvSpPr>
            <p:cNvPr name="TextBox 8" id="8"/>
            <p:cNvSpPr txBox="true"/>
            <p:nvPr/>
          </p:nvSpPr>
          <p:spPr>
            <a:xfrm>
              <a:off x="0" y="0"/>
              <a:ext cx="18423466" cy="2165350"/>
            </a:xfrm>
            <a:prstGeom prst="rect">
              <a:avLst/>
            </a:prstGeom>
          </p:spPr>
          <p:txBody>
            <a:bodyPr anchor="ctr" rtlCol="false" tIns="0" lIns="0" bIns="0" rIns="0"/>
            <a:lstStyle/>
            <a:p>
              <a:pPr algn="r">
                <a:lnSpc>
                  <a:spcPts val="7200"/>
                </a:lnSpc>
              </a:pPr>
              <a:r>
                <a:rPr lang="en-US" sz="6000" b="true">
                  <a:solidFill>
                    <a:srgbClr val="000000"/>
                  </a:solidFill>
                  <a:latin typeface="Tahoma Bold"/>
                  <a:ea typeface="Tahoma Bold"/>
                  <a:cs typeface="Tahoma Bold"/>
                  <a:sym typeface="Tahoma Bold"/>
                </a:rPr>
                <a:t>Exploratory Data Analysis</a:t>
              </a:r>
            </a:p>
          </p:txBody>
        </p:sp>
      </p:grpSp>
      <p:sp>
        <p:nvSpPr>
          <p:cNvPr name="TextBox 9" id="9"/>
          <p:cNvSpPr txBox="true"/>
          <p:nvPr/>
        </p:nvSpPr>
        <p:spPr>
          <a:xfrm rot="0">
            <a:off x="3187067" y="4446270"/>
            <a:ext cx="13644244" cy="809571"/>
          </a:xfrm>
          <a:prstGeom prst="rect">
            <a:avLst/>
          </a:prstGeom>
        </p:spPr>
        <p:txBody>
          <a:bodyPr anchor="t" rtlCol="false" tIns="0" lIns="0" bIns="0" rIns="0">
            <a:spAutoFit/>
          </a:bodyPr>
          <a:lstStyle/>
          <a:p>
            <a:pPr algn="r">
              <a:lnSpc>
                <a:spcPts val="6480"/>
              </a:lnSpc>
            </a:pPr>
            <a:r>
              <a:rPr lang="en-US" sz="5400" b="true">
                <a:solidFill>
                  <a:srgbClr val="000000"/>
                </a:solidFill>
                <a:latin typeface="Tahoma Bold"/>
                <a:ea typeface="Tahoma Bold"/>
                <a:cs typeface="Tahoma Bold"/>
                <a:sym typeface="Tahoma Bold"/>
              </a:rPr>
              <a:t>Pima Indians Diabetes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560070"/>
            <a:ext cx="16978069" cy="1222956"/>
            <a:chOff x="0" y="0"/>
            <a:chExt cx="21945600" cy="1580775"/>
          </a:xfrm>
        </p:grpSpPr>
        <p:sp>
          <p:nvSpPr>
            <p:cNvPr name="Freeform 5" id="5"/>
            <p:cNvSpPr/>
            <p:nvPr/>
          </p:nvSpPr>
          <p:spPr>
            <a:xfrm flipH="false" flipV="false" rot="0">
              <a:off x="0" y="0"/>
              <a:ext cx="21945600" cy="1580775"/>
            </a:xfrm>
            <a:custGeom>
              <a:avLst/>
              <a:gdLst/>
              <a:ahLst/>
              <a:cxnLst/>
              <a:rect r="r" b="b" t="t" l="l"/>
              <a:pathLst>
                <a:path h="1580775" w="21945600">
                  <a:moveTo>
                    <a:pt x="0" y="0"/>
                  </a:moveTo>
                  <a:lnTo>
                    <a:pt x="21945600" y="0"/>
                  </a:lnTo>
                  <a:lnTo>
                    <a:pt x="21945600" y="1580775"/>
                  </a:lnTo>
                  <a:lnTo>
                    <a:pt x="0" y="1580775"/>
                  </a:lnTo>
                  <a:close/>
                </a:path>
              </a:pathLst>
            </a:custGeom>
            <a:solidFill>
              <a:srgbClr val="000000">
                <a:alpha val="0"/>
              </a:srgbClr>
            </a:solidFill>
          </p:spPr>
        </p:sp>
        <p:sp>
          <p:nvSpPr>
            <p:cNvPr name="TextBox 6" id="6"/>
            <p:cNvSpPr txBox="true"/>
            <p:nvPr/>
          </p:nvSpPr>
          <p:spPr>
            <a:xfrm>
              <a:off x="0" y="-19050"/>
              <a:ext cx="21945600" cy="1599825"/>
            </a:xfrm>
            <a:prstGeom prst="rect">
              <a:avLst/>
            </a:prstGeom>
          </p:spPr>
          <p:txBody>
            <a:bodyPr anchor="ctr" rtlCol="false" tIns="0" lIns="0" bIns="0" rIns="0"/>
            <a:lstStyle/>
            <a:p>
              <a:pPr algn="ctr">
                <a:lnSpc>
                  <a:spcPts val="7200"/>
                </a:lnSpc>
              </a:pPr>
              <a:r>
                <a:rPr lang="en-US" sz="6000" b="true">
                  <a:solidFill>
                    <a:srgbClr val="000000"/>
                  </a:solidFill>
                  <a:latin typeface="Public Sans Bold"/>
                  <a:ea typeface="Public Sans Bold"/>
                  <a:cs typeface="Public Sans Bold"/>
                  <a:sym typeface="Public Sans Bold"/>
                </a:rPr>
                <a:t>Bảng phân công</a:t>
              </a:r>
            </a:p>
          </p:txBody>
        </p:sp>
      </p:grpSp>
      <p:graphicFrame>
        <p:nvGraphicFramePr>
          <p:cNvPr name="Table 7" id="7"/>
          <p:cNvGraphicFramePr>
            <a:graphicFrameLocks noGrp="true"/>
          </p:cNvGraphicFramePr>
          <p:nvPr/>
        </p:nvGraphicFramePr>
        <p:xfrm>
          <a:off x="1814675" y="2149156"/>
          <a:ext cx="14645949" cy="6467292"/>
        </p:xfrm>
        <a:graphic>
          <a:graphicData uri="http://schemas.openxmlformats.org/drawingml/2006/table">
            <a:tbl>
              <a:tblPr/>
              <a:tblGrid>
                <a:gridCol w="4686696"/>
                <a:gridCol w="9959252"/>
              </a:tblGrid>
              <a:tr h="1293458">
                <a:tc>
                  <a:txBody>
                    <a:bodyPr anchor="t" rtlCol="false"/>
                    <a:lstStyle/>
                    <a:p>
                      <a:pPr algn="ctr">
                        <a:lnSpc>
                          <a:spcPts val="4620"/>
                        </a:lnSpc>
                        <a:defRPr/>
                      </a:pPr>
                      <a:r>
                        <a:rPr lang="en-US" sz="3300" b="true">
                          <a:solidFill>
                            <a:srgbClr val="000000"/>
                          </a:solidFill>
                          <a:latin typeface="Public Sans Bold"/>
                          <a:ea typeface="Public Sans Bold"/>
                          <a:cs typeface="Public Sans Bold"/>
                          <a:sym typeface="Public Sans Bold"/>
                        </a:rPr>
                        <a:t>Họ tên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b="true">
                          <a:solidFill>
                            <a:srgbClr val="000000"/>
                          </a:solidFill>
                          <a:latin typeface="Public Sans Bold"/>
                          <a:ea typeface="Public Sans Bold"/>
                          <a:cs typeface="Public Sans Bold"/>
                          <a:sym typeface="Public Sans Bold"/>
                        </a:rPr>
                        <a:t>Công việc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3458">
                <a:tc>
                  <a:txBody>
                    <a:bodyPr anchor="t" rtlCol="false"/>
                    <a:lstStyle/>
                    <a:p>
                      <a:pPr algn="ctr">
                        <a:lnSpc>
                          <a:spcPts val="4620"/>
                        </a:lnSpc>
                        <a:defRPr/>
                      </a:pPr>
                      <a:r>
                        <a:rPr lang="en-US" sz="3300">
                          <a:solidFill>
                            <a:srgbClr val="000000"/>
                          </a:solidFill>
                          <a:latin typeface="Public Sans"/>
                          <a:ea typeface="Public Sans"/>
                          <a:cs typeface="Public Sans"/>
                          <a:sym typeface="Public Sans"/>
                        </a:rPr>
                        <a:t>Nguyễn Đăng Khoa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a:solidFill>
                            <a:srgbClr val="000000"/>
                          </a:solidFill>
                          <a:latin typeface="Public Sans"/>
                          <a:ea typeface="Public Sans"/>
                          <a:cs typeface="Public Sans"/>
                          <a:sym typeface="Public Sans"/>
                        </a:rPr>
                        <a:t>Tìm hiểu thông tin, code, ppt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3458">
                <a:tc>
                  <a:txBody>
                    <a:bodyPr anchor="t" rtlCol="false"/>
                    <a:lstStyle/>
                    <a:p>
                      <a:pPr algn="ctr">
                        <a:lnSpc>
                          <a:spcPts val="4620"/>
                        </a:lnSpc>
                        <a:defRPr/>
                      </a:pPr>
                      <a:r>
                        <a:rPr lang="en-US" sz="3300">
                          <a:solidFill>
                            <a:srgbClr val="000000"/>
                          </a:solidFill>
                          <a:latin typeface="Public Sans"/>
                          <a:ea typeface="Public Sans"/>
                          <a:cs typeface="Public Sans"/>
                          <a:sym typeface="Public Sans"/>
                        </a:rPr>
                        <a:t>Lê Thị Trúc Ly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a:solidFill>
                            <a:srgbClr val="000000"/>
                          </a:solidFill>
                          <a:latin typeface="Public Sans"/>
                          <a:ea typeface="Public Sans"/>
                          <a:cs typeface="Public Sans"/>
                          <a:sym typeface="Public Sans"/>
                        </a:rPr>
                        <a:t>Tìm thông tin, code, làm slide thuyết trình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3458">
                <a:tc>
                  <a:txBody>
                    <a:bodyPr anchor="t" rtlCol="false"/>
                    <a:lstStyle/>
                    <a:p>
                      <a:pPr algn="ctr">
                        <a:lnSpc>
                          <a:spcPts val="4620"/>
                        </a:lnSpc>
                        <a:defRPr/>
                      </a:pPr>
                      <a:r>
                        <a:rPr lang="en-US" sz="3300">
                          <a:solidFill>
                            <a:srgbClr val="000000"/>
                          </a:solidFill>
                          <a:latin typeface="Public Sans"/>
                          <a:ea typeface="Public Sans"/>
                          <a:cs typeface="Public Sans"/>
                          <a:sym typeface="Public Sans"/>
                        </a:rPr>
                        <a:t>Lê Đoàn Kim Ngân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a:solidFill>
                            <a:srgbClr val="000000"/>
                          </a:solidFill>
                          <a:latin typeface="Public Sans"/>
                          <a:ea typeface="Public Sans"/>
                          <a:cs typeface="Public Sans"/>
                          <a:sym typeface="Public Sans"/>
                        </a:rPr>
                        <a:t>Tìm hiểu, tổng hợp thông tin, code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3458">
                <a:tc>
                  <a:txBody>
                    <a:bodyPr anchor="t" rtlCol="false"/>
                    <a:lstStyle/>
                    <a:p>
                      <a:pPr algn="ctr">
                        <a:lnSpc>
                          <a:spcPts val="4620"/>
                        </a:lnSpc>
                        <a:defRPr/>
                      </a:pPr>
                      <a:r>
                        <a:rPr lang="en-US" sz="3300">
                          <a:solidFill>
                            <a:srgbClr val="000000"/>
                          </a:solidFill>
                          <a:latin typeface="Public Sans"/>
                          <a:ea typeface="Public Sans"/>
                          <a:cs typeface="Public Sans"/>
                          <a:sym typeface="Public Sans"/>
                        </a:rPr>
                        <a:t>Lâm Tú Nhi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a:solidFill>
                            <a:srgbClr val="000000"/>
                          </a:solidFill>
                          <a:latin typeface="Public Sans"/>
                          <a:ea typeface="Public Sans"/>
                          <a:cs typeface="Public Sans"/>
                          <a:sym typeface="Public Sans"/>
                        </a:rPr>
                        <a:t>Tìm thông tin, code, làm slide ppt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560070"/>
            <a:ext cx="16978069" cy="1222956"/>
            <a:chOff x="0" y="0"/>
            <a:chExt cx="21945600" cy="1580775"/>
          </a:xfrm>
        </p:grpSpPr>
        <p:sp>
          <p:nvSpPr>
            <p:cNvPr name="Freeform 5" id="5"/>
            <p:cNvSpPr/>
            <p:nvPr/>
          </p:nvSpPr>
          <p:spPr>
            <a:xfrm flipH="false" flipV="false" rot="0">
              <a:off x="0" y="0"/>
              <a:ext cx="21945600" cy="1580775"/>
            </a:xfrm>
            <a:custGeom>
              <a:avLst/>
              <a:gdLst/>
              <a:ahLst/>
              <a:cxnLst/>
              <a:rect r="r" b="b" t="t" l="l"/>
              <a:pathLst>
                <a:path h="1580775" w="21945600">
                  <a:moveTo>
                    <a:pt x="0" y="0"/>
                  </a:moveTo>
                  <a:lnTo>
                    <a:pt x="21945600" y="0"/>
                  </a:lnTo>
                  <a:lnTo>
                    <a:pt x="21945600" y="1580775"/>
                  </a:lnTo>
                  <a:lnTo>
                    <a:pt x="0" y="1580775"/>
                  </a:lnTo>
                  <a:close/>
                </a:path>
              </a:pathLst>
            </a:custGeom>
            <a:solidFill>
              <a:srgbClr val="000000">
                <a:alpha val="0"/>
              </a:srgbClr>
            </a:solidFill>
          </p:spPr>
        </p:sp>
        <p:sp>
          <p:nvSpPr>
            <p:cNvPr name="TextBox 6" id="6"/>
            <p:cNvSpPr txBox="true"/>
            <p:nvPr/>
          </p:nvSpPr>
          <p:spPr>
            <a:xfrm>
              <a:off x="0" y="-19050"/>
              <a:ext cx="21945600" cy="1599825"/>
            </a:xfrm>
            <a:prstGeom prst="rect">
              <a:avLst/>
            </a:prstGeom>
          </p:spPr>
          <p:txBody>
            <a:bodyPr anchor="ctr" rtlCol="false" tIns="0" lIns="0" bIns="0" rIns="0"/>
            <a:lstStyle/>
            <a:p>
              <a:pPr algn="ctr">
                <a:lnSpc>
                  <a:spcPts val="7200"/>
                </a:lnSpc>
              </a:pPr>
              <a:r>
                <a:rPr lang="en-US" sz="6000" b="true">
                  <a:solidFill>
                    <a:srgbClr val="000000"/>
                  </a:solidFill>
                  <a:latin typeface="Public Sans Bold"/>
                  <a:ea typeface="Public Sans Bold"/>
                  <a:cs typeface="Public Sans Bold"/>
                  <a:sym typeface="Public Sans Bold"/>
                </a:rPr>
                <a:t>Giới thiệu</a:t>
              </a:r>
            </a:p>
          </p:txBody>
        </p:sp>
      </p:grpSp>
      <p:sp>
        <p:nvSpPr>
          <p:cNvPr name="TextBox 7" id="7"/>
          <p:cNvSpPr txBox="true"/>
          <p:nvPr/>
        </p:nvSpPr>
        <p:spPr>
          <a:xfrm rot="0">
            <a:off x="1005840" y="1806892"/>
            <a:ext cx="16886629" cy="6859713"/>
          </a:xfrm>
          <a:prstGeom prst="rect">
            <a:avLst/>
          </a:prstGeom>
        </p:spPr>
        <p:txBody>
          <a:bodyPr anchor="t" rtlCol="false" tIns="0" lIns="0" bIns="0" rIns="0">
            <a:spAutoFit/>
          </a:bodyPr>
          <a:lstStyle/>
          <a:p>
            <a:pPr algn="l" marL="788596" indent="-394298" lvl="1">
              <a:lnSpc>
                <a:spcPts val="7843"/>
              </a:lnSpc>
              <a:buFont typeface="Arial"/>
              <a:buChar char="•"/>
            </a:pPr>
            <a:r>
              <a:rPr lang="en-US" sz="4357">
                <a:solidFill>
                  <a:srgbClr val="000000"/>
                </a:solidFill>
                <a:latin typeface="Public Sans"/>
                <a:ea typeface="Public Sans"/>
                <a:cs typeface="Public Sans"/>
                <a:sym typeface="Public Sans"/>
              </a:rPr>
              <a:t>Tập dữ liệu tiểu đường Pima Indian dùng để dự đoán sự khởi phát của bệnh tiểu đường dựa trên các biện pháp chẩn đoán.</a:t>
            </a:r>
          </a:p>
          <a:p>
            <a:pPr algn="l" marL="788596" indent="-394298" lvl="1">
              <a:lnSpc>
                <a:spcPts val="7843"/>
              </a:lnSpc>
              <a:buFont typeface="Arial"/>
              <a:buChar char="•"/>
            </a:pPr>
            <a:r>
              <a:rPr lang="en-US" sz="4357">
                <a:solidFill>
                  <a:srgbClr val="000000"/>
                </a:solidFill>
                <a:latin typeface="Public Sans"/>
                <a:ea typeface="Public Sans"/>
                <a:cs typeface="Public Sans"/>
                <a:sym typeface="Public Sans"/>
              </a:rPr>
              <a:t>Nguồn gốc từ Viện Quốc gia về Bệnh tiểu đường, Tiêu hóa và Bệnh thận. </a:t>
            </a:r>
          </a:p>
          <a:p>
            <a:pPr algn="l" marL="788596" indent="-394298" lvl="1">
              <a:lnSpc>
                <a:spcPts val="7843"/>
              </a:lnSpc>
              <a:buFont typeface="Arial"/>
              <a:buChar char="•"/>
            </a:pPr>
            <a:r>
              <a:rPr lang="en-US" sz="4357">
                <a:solidFill>
                  <a:srgbClr val="000000"/>
                </a:solidFill>
                <a:latin typeface="Public Sans"/>
                <a:ea typeface="Public Sans"/>
                <a:cs typeface="Public Sans"/>
                <a:sym typeface="Public Sans"/>
              </a:rPr>
              <a:t>Mục tiêu: Dự đoán xem bệnh nhân có bị tiểu đường hay không dựa trên các phép đo chẩn đoán.</a:t>
            </a:r>
          </a:p>
          <a:p>
            <a:pPr algn="l" marL="788596" indent="-394298" lvl="1">
              <a:lnSpc>
                <a:spcPts val="784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Các điểm cần thảo luận:</a:t>
              </a:r>
            </a:p>
          </p:txBody>
        </p:sp>
      </p:grpSp>
      <p:sp>
        <p:nvSpPr>
          <p:cNvPr name="TextBox 7" id="7"/>
          <p:cNvSpPr txBox="true"/>
          <p:nvPr/>
        </p:nvSpPr>
        <p:spPr>
          <a:xfrm rot="0">
            <a:off x="640879" y="1985233"/>
            <a:ext cx="9744366" cy="5372335"/>
          </a:xfrm>
          <a:prstGeom prst="rect">
            <a:avLst/>
          </a:prstGeom>
        </p:spPr>
        <p:txBody>
          <a:bodyPr anchor="t" rtlCol="false" tIns="0" lIns="0" bIns="0" rIns="0">
            <a:spAutoFit/>
          </a:bodyPr>
          <a:lstStyle/>
          <a:p>
            <a:pPr algn="l" marL="722834" indent="-361417" lvl="1">
              <a:lnSpc>
                <a:spcPts val="7194"/>
              </a:lnSpc>
              <a:buFont typeface="Arial"/>
              <a:buChar char="•"/>
            </a:pPr>
            <a:r>
              <a:rPr lang="en-US" sz="3996">
                <a:solidFill>
                  <a:srgbClr val="000000"/>
                </a:solidFill>
                <a:latin typeface="Public Sans"/>
                <a:ea typeface="Public Sans"/>
                <a:cs typeface="Public Sans"/>
                <a:sym typeface="Public Sans"/>
              </a:rPr>
              <a:t>Tóm tắt dữ liệu</a:t>
            </a:r>
          </a:p>
          <a:p>
            <a:pPr algn="l" marL="723342" indent="-361671" lvl="1">
              <a:lnSpc>
                <a:spcPts val="7194"/>
              </a:lnSpc>
              <a:buFont typeface="Arial"/>
              <a:buChar char="•"/>
            </a:pPr>
            <a:r>
              <a:rPr lang="en-US" sz="3996">
                <a:solidFill>
                  <a:srgbClr val="000000"/>
                </a:solidFill>
                <a:latin typeface="Public Sans"/>
                <a:ea typeface="Public Sans"/>
                <a:cs typeface="Public Sans"/>
                <a:sym typeface="Public Sans"/>
              </a:rPr>
              <a:t>Phát hiện giá trị bất thường &amp; ngoại lệ</a:t>
            </a:r>
          </a:p>
          <a:p>
            <a:pPr algn="l" marL="723342" indent="-361671" lvl="1">
              <a:lnSpc>
                <a:spcPts val="7194"/>
              </a:lnSpc>
              <a:buFont typeface="Arial"/>
              <a:buChar char="•"/>
            </a:pPr>
            <a:r>
              <a:rPr lang="en-US" sz="3996">
                <a:solidFill>
                  <a:srgbClr val="000000"/>
                </a:solidFill>
                <a:latin typeface="Public Sans"/>
                <a:ea typeface="Public Sans"/>
                <a:cs typeface="Public Sans"/>
                <a:sym typeface="Public Sans"/>
              </a:rPr>
              <a:t>Phân tích đơn biến </a:t>
            </a:r>
          </a:p>
          <a:p>
            <a:pPr algn="l" marL="722834" indent="-361417" lvl="1">
              <a:lnSpc>
                <a:spcPts val="7194"/>
              </a:lnSpc>
              <a:buFont typeface="Arial"/>
              <a:buChar char="•"/>
            </a:pPr>
            <a:r>
              <a:rPr lang="en-US" sz="3996">
                <a:solidFill>
                  <a:srgbClr val="000000"/>
                </a:solidFill>
                <a:latin typeface="Public Sans"/>
                <a:ea typeface="Public Sans"/>
                <a:cs typeface="Public Sans"/>
                <a:sym typeface="Public Sans"/>
              </a:rPr>
              <a:t>Phân tích theo kết quả</a:t>
            </a:r>
          </a:p>
          <a:p>
            <a:pPr algn="l" marL="722834" indent="-361417" lvl="1">
              <a:lnSpc>
                <a:spcPts val="7194"/>
              </a:lnSpc>
              <a:buFont typeface="Arial"/>
              <a:buChar char="•"/>
            </a:pPr>
            <a:r>
              <a:rPr lang="en-US" sz="3996">
                <a:solidFill>
                  <a:srgbClr val="000000"/>
                </a:solidFill>
                <a:latin typeface="Public Sans"/>
                <a:ea typeface="Public Sans"/>
                <a:cs typeface="Public Sans"/>
                <a:sym typeface="Public Sans"/>
              </a:rPr>
              <a:t>Phân tích theo độ tuổi</a:t>
            </a:r>
          </a:p>
          <a:p>
            <a:pPr algn="l" marL="722834" indent="-361417" lvl="1">
              <a:lnSpc>
                <a:spcPts val="7194"/>
              </a:lnSpc>
              <a:buFont typeface="Arial"/>
              <a:buChar char="•"/>
            </a:pPr>
            <a:r>
              <a:rPr lang="en-US" sz="3996">
                <a:solidFill>
                  <a:srgbClr val="000000"/>
                </a:solidFill>
                <a:latin typeface="Public Sans"/>
                <a:ea typeface="Public Sans"/>
                <a:cs typeface="Public Sans"/>
                <a:sym typeface="Public Sans"/>
              </a:rPr>
              <a:t>Phân tích theo số lần mang thai</a:t>
            </a:r>
          </a:p>
        </p:txBody>
      </p:sp>
      <p:sp>
        <p:nvSpPr>
          <p:cNvPr name="TextBox 8" id="8"/>
          <p:cNvSpPr txBox="true"/>
          <p:nvPr/>
        </p:nvSpPr>
        <p:spPr>
          <a:xfrm rot="0">
            <a:off x="10796722" y="1985233"/>
            <a:ext cx="9755273" cy="4514474"/>
          </a:xfrm>
          <a:prstGeom prst="rect">
            <a:avLst/>
          </a:prstGeom>
        </p:spPr>
        <p:txBody>
          <a:bodyPr anchor="t" rtlCol="false" tIns="0" lIns="0" bIns="0" rIns="0">
            <a:spAutoFit/>
          </a:bodyPr>
          <a:lstStyle/>
          <a:p>
            <a:pPr algn="l" marL="723642" indent="-361821" lvl="1">
              <a:lnSpc>
                <a:spcPts val="7202"/>
              </a:lnSpc>
              <a:buFont typeface="Arial"/>
              <a:buChar char="•"/>
            </a:pPr>
            <a:r>
              <a:rPr lang="en-US" sz="4001">
                <a:solidFill>
                  <a:srgbClr val="000000"/>
                </a:solidFill>
                <a:latin typeface="Public Sans"/>
                <a:ea typeface="Public Sans"/>
                <a:cs typeface="Public Sans"/>
                <a:sym typeface="Public Sans"/>
              </a:rPr>
              <a:t>Phân tích theo BMI</a:t>
            </a:r>
          </a:p>
          <a:p>
            <a:pPr algn="l" marL="723642" indent="-361821" lvl="1">
              <a:lnSpc>
                <a:spcPts val="7202"/>
              </a:lnSpc>
              <a:buFont typeface="Arial"/>
              <a:buChar char="•"/>
            </a:pPr>
            <a:r>
              <a:rPr lang="en-US" sz="4001">
                <a:solidFill>
                  <a:srgbClr val="000000"/>
                </a:solidFill>
                <a:latin typeface="Public Sans"/>
                <a:ea typeface="Public Sans"/>
                <a:cs typeface="Public Sans"/>
                <a:sym typeface="Public Sans"/>
              </a:rPr>
              <a:t>Phân tích theo Glucose</a:t>
            </a:r>
          </a:p>
          <a:p>
            <a:pPr algn="l" marL="723642" indent="-361821" lvl="1">
              <a:lnSpc>
                <a:spcPts val="7202"/>
              </a:lnSpc>
              <a:buFont typeface="Arial"/>
              <a:buChar char="•"/>
            </a:pPr>
            <a:r>
              <a:rPr lang="en-US" sz="4001">
                <a:solidFill>
                  <a:srgbClr val="000000"/>
                </a:solidFill>
                <a:latin typeface="Public Sans"/>
                <a:ea typeface="Public Sans"/>
                <a:cs typeface="Public Sans"/>
                <a:sym typeface="Public Sans"/>
              </a:rPr>
              <a:t>Một số câu hỏi quan trọng</a:t>
            </a:r>
          </a:p>
          <a:p>
            <a:pPr algn="l" marL="724151" indent="-362075" lvl="1">
              <a:lnSpc>
                <a:spcPts val="7202"/>
              </a:lnSpc>
              <a:buFont typeface="Arial"/>
              <a:buChar char="•"/>
            </a:pPr>
            <a:r>
              <a:rPr lang="en-US" sz="4001">
                <a:solidFill>
                  <a:srgbClr val="000000"/>
                </a:solidFill>
                <a:latin typeface="Public Sans"/>
                <a:ea typeface="Public Sans"/>
                <a:cs typeface="Public Sans"/>
                <a:sym typeface="Public Sans"/>
              </a:rPr>
              <a:t>Bản đồ nhiệt tương quan</a:t>
            </a:r>
          </a:p>
          <a:p>
            <a:pPr algn="l" marL="723642" indent="-361821" lvl="1">
              <a:lnSpc>
                <a:spcPts val="7202"/>
              </a:lnSpc>
              <a:buFont typeface="Arial"/>
              <a:buChar char="•"/>
            </a:pPr>
            <a:r>
              <a:rPr lang="en-US" sz="4001">
                <a:solidFill>
                  <a:srgbClr val="000000"/>
                </a:solidFill>
                <a:latin typeface="Public Sans"/>
                <a:ea typeface="Public Sans"/>
                <a:cs typeface="Public Sans"/>
                <a:sym typeface="Public Sans"/>
              </a:rPr>
              <a:t>Kết luận</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Tóm tắt dữ liệu</a:t>
              </a:r>
            </a:p>
          </p:txBody>
        </p:sp>
      </p:grpSp>
      <p:sp>
        <p:nvSpPr>
          <p:cNvPr name="TextBox 7" id="7"/>
          <p:cNvSpPr txBox="true"/>
          <p:nvPr/>
        </p:nvSpPr>
        <p:spPr>
          <a:xfrm rot="0">
            <a:off x="1005840" y="1598295"/>
            <a:ext cx="16276320" cy="6487997"/>
          </a:xfrm>
          <a:prstGeom prst="rect">
            <a:avLst/>
          </a:prstGeom>
        </p:spPr>
        <p:txBody>
          <a:bodyPr anchor="t" rtlCol="false" tIns="0" lIns="0" bIns="0" rIns="0">
            <a:spAutoFit/>
          </a:bodyPr>
          <a:lstStyle/>
          <a:p>
            <a:pPr algn="l">
              <a:lnSpc>
                <a:spcPts val="6480"/>
              </a:lnSpc>
            </a:pPr>
            <a:r>
              <a:rPr lang="en-US" sz="3600">
                <a:solidFill>
                  <a:srgbClr val="000000"/>
                </a:solidFill>
                <a:latin typeface="Public Sans"/>
                <a:ea typeface="Public Sans"/>
                <a:cs typeface="Public Sans"/>
                <a:sym typeface="Public Sans"/>
              </a:rPr>
              <a:t>Tập dữ liệu cho trước gồm hồ sơ cá nhân của các bệnh nhân nữ, các hồ sơ đều có 9 thuộc tính như sau:</a:t>
            </a:r>
          </a:p>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Pregnancies</a:t>
            </a:r>
            <a:r>
              <a:rPr lang="en-US" sz="3600">
                <a:solidFill>
                  <a:srgbClr val="000000"/>
                </a:solidFill>
                <a:latin typeface="Public Sans"/>
                <a:ea typeface="Public Sans"/>
                <a:cs typeface="Public Sans"/>
                <a:sym typeface="Public Sans"/>
              </a:rPr>
              <a:t>: Số lần mang thai của bệnh nhân.</a:t>
            </a:r>
          </a:p>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Plasma glucose concentration (Glucose) </a:t>
            </a:r>
            <a:r>
              <a:rPr lang="en-US" sz="3600">
                <a:solidFill>
                  <a:srgbClr val="000000"/>
                </a:solidFill>
                <a:latin typeface="Public Sans"/>
                <a:ea typeface="Public Sans"/>
                <a:cs typeface="Public Sans"/>
                <a:sym typeface="Public Sans"/>
              </a:rPr>
              <a:t>: Nồng độ Glucose trong huyết tương sau 2 giờ trong xét nghiệm dung nạp glucose đường uống.</a:t>
            </a:r>
          </a:p>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BloodPressure </a:t>
            </a:r>
            <a:r>
              <a:rPr lang="en-US" sz="3600">
                <a:solidFill>
                  <a:srgbClr val="000000"/>
                </a:solidFill>
                <a:latin typeface="Public Sans"/>
                <a:ea typeface="Public Sans"/>
                <a:cs typeface="Public Sans"/>
                <a:sym typeface="Public Sans"/>
              </a:rPr>
              <a:t>: Huyết áp tâm trương (mức áp lực của máu tác động lên thành động mạch khi tim đang giãn ra giữa hai nhịp đập).</a:t>
            </a:r>
          </a:p>
          <a:p>
            <a:pPr algn="l" marL="651510" indent="-325755" lvl="1">
              <a:lnSpc>
                <a:spcPts val="6480"/>
              </a:lnSpc>
            </a:pP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Tóm tắt dữ liệu</a:t>
              </a:r>
            </a:p>
          </p:txBody>
        </p:sp>
      </p:grpSp>
      <p:sp>
        <p:nvSpPr>
          <p:cNvPr name="TextBox 7" id="7"/>
          <p:cNvSpPr txBox="true"/>
          <p:nvPr/>
        </p:nvSpPr>
        <p:spPr>
          <a:xfrm rot="0">
            <a:off x="1005840" y="1598295"/>
            <a:ext cx="16276320" cy="7307093"/>
          </a:xfrm>
          <a:prstGeom prst="rect">
            <a:avLst/>
          </a:prstGeom>
        </p:spPr>
        <p:txBody>
          <a:bodyPr anchor="t" rtlCol="false" tIns="0" lIns="0" bIns="0" rIns="0">
            <a:spAutoFit/>
          </a:bodyPr>
          <a:lstStyle/>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SkinThickness</a:t>
            </a:r>
            <a:r>
              <a:rPr lang="en-US" sz="3600">
                <a:solidFill>
                  <a:srgbClr val="000000"/>
                </a:solidFill>
                <a:latin typeface="Public Sans"/>
                <a:ea typeface="Public Sans"/>
                <a:cs typeface="Public Sans"/>
                <a:sym typeface="Public Sans"/>
              </a:rPr>
              <a:t> : Độ dày nếp gấp da (đây là phép đo độ dày lớp mỡ dưới da ở vùng cơ phía sau cánh tay).</a:t>
            </a:r>
          </a:p>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Insulin</a:t>
            </a:r>
            <a:r>
              <a:rPr lang="en-US" sz="3600">
                <a:solidFill>
                  <a:srgbClr val="000000"/>
                </a:solidFill>
                <a:latin typeface="Public Sans"/>
                <a:ea typeface="Public Sans"/>
                <a:cs typeface="Public Sans"/>
                <a:sym typeface="Public Sans"/>
              </a:rPr>
              <a:t>: Nồng độ insulin huyết thanh đo sau 2 giờ.</a:t>
            </a:r>
          </a:p>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BMI (Body Mass Index)</a:t>
            </a:r>
            <a:r>
              <a:rPr lang="en-US" sz="3600">
                <a:solidFill>
                  <a:srgbClr val="000000"/>
                </a:solidFill>
                <a:latin typeface="Public Sans"/>
                <a:ea typeface="Public Sans"/>
                <a:cs typeface="Public Sans"/>
                <a:sym typeface="Public Sans"/>
              </a:rPr>
              <a:t> : Chỉ số khối cơ thể.</a:t>
            </a:r>
          </a:p>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DiabetesPedigreeFunction</a:t>
            </a:r>
            <a:r>
              <a:rPr lang="en-US" sz="3600">
                <a:solidFill>
                  <a:srgbClr val="000000"/>
                </a:solidFill>
                <a:latin typeface="Public Sans"/>
                <a:ea typeface="Public Sans"/>
                <a:cs typeface="Public Sans"/>
                <a:sym typeface="Public Sans"/>
              </a:rPr>
              <a:t> : Chỉ số “di truyền tiểu đường” dựa trên tiền sử gia đình.</a:t>
            </a:r>
          </a:p>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Age</a:t>
            </a:r>
            <a:r>
              <a:rPr lang="en-US" sz="3600">
                <a:solidFill>
                  <a:srgbClr val="000000"/>
                </a:solidFill>
                <a:latin typeface="Public Sans"/>
                <a:ea typeface="Public Sans"/>
                <a:cs typeface="Public Sans"/>
                <a:sym typeface="Public Sans"/>
              </a:rPr>
              <a:t> : Tuổi của bệnh nhân.</a:t>
            </a:r>
          </a:p>
          <a:p>
            <a:pPr algn="l" marL="651510" indent="-325755" lvl="1">
              <a:lnSpc>
                <a:spcPts val="6480"/>
              </a:lnSpc>
              <a:buFont typeface="Arial"/>
              <a:buChar char="•"/>
            </a:pPr>
            <a:r>
              <a:rPr lang="en-US" b="true" sz="3600">
                <a:solidFill>
                  <a:srgbClr val="000000"/>
                </a:solidFill>
                <a:latin typeface="Public Sans Bold"/>
                <a:ea typeface="Public Sans Bold"/>
                <a:cs typeface="Public Sans Bold"/>
                <a:sym typeface="Public Sans Bold"/>
              </a:rPr>
              <a:t>Outcome</a:t>
            </a:r>
            <a:r>
              <a:rPr lang="en-US" sz="3600">
                <a:solidFill>
                  <a:srgbClr val="000000"/>
                </a:solidFill>
                <a:latin typeface="Public Sans"/>
                <a:ea typeface="Public Sans"/>
                <a:cs typeface="Public Sans"/>
                <a:sym typeface="Public Sans"/>
              </a:rPr>
              <a:t> : Kết qủa chuẩn đoán, 1 nếu mắc bẹnh tiểu đường, 0 nếu không mắc bệnh.</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Tóm tắt dữ liệu</a:t>
              </a:r>
            </a:p>
          </p:txBody>
        </p:sp>
      </p:grpSp>
      <p:grpSp>
        <p:nvGrpSpPr>
          <p:cNvPr name="Group 7" id="7"/>
          <p:cNvGrpSpPr/>
          <p:nvPr/>
        </p:nvGrpSpPr>
        <p:grpSpPr>
          <a:xfrm rot="0">
            <a:off x="2021205" y="2479358"/>
            <a:ext cx="14244638" cy="5329238"/>
            <a:chOff x="0" y="0"/>
            <a:chExt cx="18992850" cy="7105650"/>
          </a:xfrm>
        </p:grpSpPr>
        <p:sp>
          <p:nvSpPr>
            <p:cNvPr name="Freeform 8" id="8"/>
            <p:cNvSpPr/>
            <p:nvPr/>
          </p:nvSpPr>
          <p:spPr>
            <a:xfrm flipH="false" flipV="false" rot="0">
              <a:off x="0" y="0"/>
              <a:ext cx="18992850" cy="7105650"/>
            </a:xfrm>
            <a:custGeom>
              <a:avLst/>
              <a:gdLst/>
              <a:ahLst/>
              <a:cxnLst/>
              <a:rect r="r" b="b" t="t" l="l"/>
              <a:pathLst>
                <a:path h="7105650" w="18992850">
                  <a:moveTo>
                    <a:pt x="0" y="0"/>
                  </a:moveTo>
                  <a:lnTo>
                    <a:pt x="18992850" y="0"/>
                  </a:lnTo>
                  <a:lnTo>
                    <a:pt x="18992850" y="7105650"/>
                  </a:lnTo>
                  <a:lnTo>
                    <a:pt x="0" y="7105650"/>
                  </a:lnTo>
                  <a:lnTo>
                    <a:pt x="0" y="0"/>
                  </a:lnTo>
                  <a:close/>
                </a:path>
              </a:pathLst>
            </a:custGeom>
            <a:blipFill>
              <a:blip r:embed="rId3"/>
              <a:stretch>
                <a:fillRect l="0" t="0" r="0" b="0"/>
              </a:stretch>
            </a:blipFill>
          </p:spPr>
        </p:sp>
      </p:grpSp>
      <p:grpSp>
        <p:nvGrpSpPr>
          <p:cNvPr name="Group 9" id="9"/>
          <p:cNvGrpSpPr/>
          <p:nvPr/>
        </p:nvGrpSpPr>
        <p:grpSpPr>
          <a:xfrm rot="0">
            <a:off x="2000250" y="2392680"/>
            <a:ext cx="14287500" cy="5500688"/>
            <a:chOff x="0" y="0"/>
            <a:chExt cx="19050000" cy="7334250"/>
          </a:xfrm>
        </p:grpSpPr>
        <p:sp>
          <p:nvSpPr>
            <p:cNvPr name="Freeform 10" id="10"/>
            <p:cNvSpPr/>
            <p:nvPr/>
          </p:nvSpPr>
          <p:spPr>
            <a:xfrm flipH="false" flipV="false" rot="0">
              <a:off x="0" y="0"/>
              <a:ext cx="19050000" cy="7334250"/>
            </a:xfrm>
            <a:custGeom>
              <a:avLst/>
              <a:gdLst/>
              <a:ahLst/>
              <a:cxnLst/>
              <a:rect r="r" b="b" t="t" l="l"/>
              <a:pathLst>
                <a:path h="7334250" w="19050000">
                  <a:moveTo>
                    <a:pt x="0" y="0"/>
                  </a:moveTo>
                  <a:lnTo>
                    <a:pt x="19050000" y="0"/>
                  </a:lnTo>
                  <a:lnTo>
                    <a:pt x="19050000" y="7334250"/>
                  </a:lnTo>
                  <a:lnTo>
                    <a:pt x="0" y="7334250"/>
                  </a:lnTo>
                  <a:lnTo>
                    <a:pt x="0" y="0"/>
                  </a:lnTo>
                  <a:close/>
                </a:path>
              </a:pathLst>
            </a:custGeom>
            <a:blipFill>
              <a:blip r:embed="rId4"/>
              <a:stretch>
                <a:fillRect l="0" t="0" r="0" b="0"/>
              </a:stretch>
            </a:blipFill>
          </p:spPr>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0403"/>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Kiểm tra missing &amp; zero values</a:t>
              </a:r>
            </a:p>
          </p:txBody>
        </p:sp>
      </p:grpSp>
      <p:sp>
        <p:nvSpPr>
          <p:cNvPr name="Freeform 7" id="7"/>
          <p:cNvSpPr/>
          <p:nvPr/>
        </p:nvSpPr>
        <p:spPr>
          <a:xfrm flipH="false" flipV="false" rot="0">
            <a:off x="1028700" y="2769775"/>
            <a:ext cx="16575237" cy="4848257"/>
          </a:xfrm>
          <a:custGeom>
            <a:avLst/>
            <a:gdLst/>
            <a:ahLst/>
            <a:cxnLst/>
            <a:rect r="r" b="b" t="t" l="l"/>
            <a:pathLst>
              <a:path h="4848257" w="16575237">
                <a:moveTo>
                  <a:pt x="0" y="0"/>
                </a:moveTo>
                <a:lnTo>
                  <a:pt x="16575237" y="0"/>
                </a:lnTo>
                <a:lnTo>
                  <a:pt x="16575237" y="4848256"/>
                </a:lnTo>
                <a:lnTo>
                  <a:pt x="0" y="4848256"/>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0403"/>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Kiểm tra missing &amp; zero values</a:t>
              </a:r>
            </a:p>
          </p:txBody>
        </p:sp>
      </p:grpSp>
      <p:sp>
        <p:nvSpPr>
          <p:cNvPr name="Freeform 7" id="7"/>
          <p:cNvSpPr/>
          <p:nvPr/>
        </p:nvSpPr>
        <p:spPr>
          <a:xfrm flipH="false" flipV="false" rot="0">
            <a:off x="420409" y="1742996"/>
            <a:ext cx="8458545" cy="6997524"/>
          </a:xfrm>
          <a:custGeom>
            <a:avLst/>
            <a:gdLst/>
            <a:ahLst/>
            <a:cxnLst/>
            <a:rect r="r" b="b" t="t" l="l"/>
            <a:pathLst>
              <a:path h="6997524" w="8458545">
                <a:moveTo>
                  <a:pt x="0" y="0"/>
                </a:moveTo>
                <a:lnTo>
                  <a:pt x="8458546" y="0"/>
                </a:lnTo>
                <a:lnTo>
                  <a:pt x="8458546" y="6997524"/>
                </a:lnTo>
                <a:lnTo>
                  <a:pt x="0" y="6997524"/>
                </a:lnTo>
                <a:lnTo>
                  <a:pt x="0" y="0"/>
                </a:lnTo>
                <a:close/>
              </a:path>
            </a:pathLst>
          </a:custGeom>
          <a:blipFill>
            <a:blip r:embed="rId3"/>
            <a:stretch>
              <a:fillRect l="0" t="0" r="0" b="0"/>
            </a:stretch>
          </a:blipFill>
        </p:spPr>
      </p:sp>
      <p:sp>
        <p:nvSpPr>
          <p:cNvPr name="Freeform 8" id="8"/>
          <p:cNvSpPr/>
          <p:nvPr/>
        </p:nvSpPr>
        <p:spPr>
          <a:xfrm flipH="false" flipV="false" rot="0">
            <a:off x="9144000" y="1742996"/>
            <a:ext cx="8346138" cy="6997524"/>
          </a:xfrm>
          <a:custGeom>
            <a:avLst/>
            <a:gdLst/>
            <a:ahLst/>
            <a:cxnLst/>
            <a:rect r="r" b="b" t="t" l="l"/>
            <a:pathLst>
              <a:path h="6997524" w="8346138">
                <a:moveTo>
                  <a:pt x="0" y="0"/>
                </a:moveTo>
                <a:lnTo>
                  <a:pt x="8346138" y="0"/>
                </a:lnTo>
                <a:lnTo>
                  <a:pt x="8346138" y="6997524"/>
                </a:lnTo>
                <a:lnTo>
                  <a:pt x="0" y="6997524"/>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Phát hiện giá trị bất thường &amp; ngoại lệ</a:t>
              </a:r>
            </a:p>
          </p:txBody>
        </p:sp>
      </p:grpSp>
      <p:grpSp>
        <p:nvGrpSpPr>
          <p:cNvPr name="Group 7" id="7"/>
          <p:cNvGrpSpPr/>
          <p:nvPr/>
        </p:nvGrpSpPr>
        <p:grpSpPr>
          <a:xfrm rot="0">
            <a:off x="8299132" y="1346835"/>
            <a:ext cx="9742170" cy="8099107"/>
            <a:chOff x="0" y="0"/>
            <a:chExt cx="12989560" cy="10798810"/>
          </a:xfrm>
        </p:grpSpPr>
        <p:sp>
          <p:nvSpPr>
            <p:cNvPr name="Freeform 8" id="8"/>
            <p:cNvSpPr/>
            <p:nvPr/>
          </p:nvSpPr>
          <p:spPr>
            <a:xfrm flipH="false" flipV="false" rot="0">
              <a:off x="0" y="0"/>
              <a:ext cx="12989560" cy="10798810"/>
            </a:xfrm>
            <a:custGeom>
              <a:avLst/>
              <a:gdLst/>
              <a:ahLst/>
              <a:cxnLst/>
              <a:rect r="r" b="b" t="t" l="l"/>
              <a:pathLst>
                <a:path h="10798810" w="12989560">
                  <a:moveTo>
                    <a:pt x="0" y="0"/>
                  </a:moveTo>
                  <a:lnTo>
                    <a:pt x="12989560" y="0"/>
                  </a:lnTo>
                  <a:lnTo>
                    <a:pt x="12989560" y="10798810"/>
                  </a:lnTo>
                  <a:lnTo>
                    <a:pt x="0" y="10798810"/>
                  </a:lnTo>
                  <a:lnTo>
                    <a:pt x="0" y="0"/>
                  </a:lnTo>
                  <a:close/>
                </a:path>
              </a:pathLst>
            </a:custGeom>
            <a:blipFill>
              <a:blip r:embed="rId3"/>
              <a:stretch>
                <a:fillRect l="-6" t="0" r="-6" b="0"/>
              </a:stretch>
            </a:blipFill>
          </p:spPr>
        </p:sp>
      </p:grpSp>
      <p:sp>
        <p:nvSpPr>
          <p:cNvPr name="TextBox 9" id="9"/>
          <p:cNvSpPr txBox="true"/>
          <p:nvPr/>
        </p:nvSpPr>
        <p:spPr>
          <a:xfrm rot="0">
            <a:off x="814388" y="1475693"/>
            <a:ext cx="7218045" cy="3074670"/>
          </a:xfrm>
          <a:prstGeom prst="rect">
            <a:avLst/>
          </a:prstGeom>
        </p:spPr>
        <p:txBody>
          <a:bodyPr anchor="t" rtlCol="false" tIns="0" lIns="0" bIns="0" rIns="0">
            <a:spAutoFit/>
          </a:bodyPr>
          <a:lstStyle/>
          <a:p>
            <a:pPr algn="l" marL="597216" indent="-298608" lvl="1">
              <a:lnSpc>
                <a:spcPts val="4949"/>
              </a:lnSpc>
              <a:buFont typeface="Arial"/>
              <a:buChar char="•"/>
            </a:pPr>
            <a:r>
              <a:rPr lang="en-US" sz="3299">
                <a:solidFill>
                  <a:srgbClr val="000000"/>
                </a:solidFill>
                <a:latin typeface="Public Sans"/>
                <a:ea typeface="Public Sans"/>
                <a:cs typeface="Public Sans"/>
                <a:sym typeface="Public Sans"/>
              </a:rPr>
              <a:t>Các thuộc tính Glucose, BloodPressure, SkinThickness, Insulin, BMI có nhiều giá trị bằng 0, các giá trị này có thể được xem là </a:t>
            </a:r>
            <a:r>
              <a:rPr lang="en-US" b="true" sz="3299">
                <a:solidFill>
                  <a:srgbClr val="000000"/>
                </a:solidFill>
                <a:latin typeface="Public Sans Bold"/>
                <a:ea typeface="Public Sans Bold"/>
                <a:cs typeface="Public Sans Bold"/>
                <a:sym typeface="Public Sans Bold"/>
              </a:rPr>
              <a:t>missing values</a:t>
            </a:r>
            <a:r>
              <a:rPr lang="en-US" sz="3299">
                <a:solidFill>
                  <a:srgbClr val="000000"/>
                </a:solidFill>
                <a:latin typeface="Public Sans"/>
                <a:ea typeface="Public Sans"/>
                <a:cs typeface="Public Sans"/>
                <a:sym typeface="Public Sans"/>
              </a:rPr>
              <a:t>.</a:t>
            </a:r>
          </a:p>
        </p:txBody>
      </p:sp>
      <p:sp>
        <p:nvSpPr>
          <p:cNvPr name="TextBox 10" id="10"/>
          <p:cNvSpPr txBox="true"/>
          <p:nvPr/>
        </p:nvSpPr>
        <p:spPr>
          <a:xfrm rot="0">
            <a:off x="814388" y="4851083"/>
            <a:ext cx="7392352" cy="1836420"/>
          </a:xfrm>
          <a:prstGeom prst="rect">
            <a:avLst/>
          </a:prstGeom>
        </p:spPr>
        <p:txBody>
          <a:bodyPr anchor="t" rtlCol="false" tIns="0" lIns="0" bIns="0" rIns="0">
            <a:spAutoFit/>
          </a:bodyPr>
          <a:lstStyle/>
          <a:p>
            <a:pPr algn="l" marL="597216" indent="-298608" lvl="1">
              <a:lnSpc>
                <a:spcPts val="4949"/>
              </a:lnSpc>
              <a:buFont typeface="Arial"/>
              <a:buChar char="•"/>
            </a:pPr>
            <a:r>
              <a:rPr lang="en-US" sz="3299">
                <a:solidFill>
                  <a:srgbClr val="000000"/>
                </a:solidFill>
                <a:latin typeface="Public Sans"/>
                <a:ea typeface="Public Sans"/>
                <a:cs typeface="Public Sans"/>
                <a:sym typeface="Public Sans"/>
              </a:rPr>
              <a:t>Nhiều thuộc tính có phân bố </a:t>
            </a:r>
            <a:r>
              <a:rPr lang="en-US" b="true" sz="3299">
                <a:solidFill>
                  <a:srgbClr val="000000"/>
                </a:solidFill>
                <a:latin typeface="Public Sans Bold"/>
                <a:ea typeface="Public Sans Bold"/>
                <a:cs typeface="Public Sans Bold"/>
                <a:sym typeface="Public Sans Bold"/>
              </a:rPr>
              <a:t>lệch phải </a:t>
            </a:r>
            <a:r>
              <a:rPr lang="en-US" sz="3299">
                <a:solidFill>
                  <a:srgbClr val="000000"/>
                </a:solidFill>
                <a:latin typeface="Public Sans"/>
                <a:ea typeface="Public Sans"/>
                <a:cs typeface="Public Sans"/>
                <a:sym typeface="Public Sans"/>
              </a:rPr>
              <a:t>như: Pregnancies, Insulin, DiabetsPedigreeFunction, Age.</a:t>
            </a:r>
          </a:p>
        </p:txBody>
      </p:sp>
      <p:sp>
        <p:nvSpPr>
          <p:cNvPr name="TextBox 11" id="11"/>
          <p:cNvSpPr txBox="true"/>
          <p:nvPr/>
        </p:nvSpPr>
        <p:spPr>
          <a:xfrm rot="0">
            <a:off x="829628" y="7160895"/>
            <a:ext cx="6953250" cy="1836420"/>
          </a:xfrm>
          <a:prstGeom prst="rect">
            <a:avLst/>
          </a:prstGeom>
        </p:spPr>
        <p:txBody>
          <a:bodyPr anchor="t" rtlCol="false" tIns="0" lIns="0" bIns="0" rIns="0">
            <a:spAutoFit/>
          </a:bodyPr>
          <a:lstStyle/>
          <a:p>
            <a:pPr algn="l" marL="597216" indent="-298608" lvl="1">
              <a:lnSpc>
                <a:spcPts val="4949"/>
              </a:lnSpc>
              <a:buFont typeface="Arial"/>
              <a:buChar char="•"/>
            </a:pPr>
            <a:r>
              <a:rPr lang="en-US" sz="3299">
                <a:solidFill>
                  <a:srgbClr val="000000"/>
                </a:solidFill>
                <a:latin typeface="Public Sans"/>
                <a:ea typeface="Public Sans"/>
                <a:cs typeface="Public Sans"/>
                <a:sym typeface="Public Sans"/>
              </a:rPr>
              <a:t>Dữ liệu </a:t>
            </a:r>
            <a:r>
              <a:rPr lang="en-US" b="true" sz="3299">
                <a:solidFill>
                  <a:srgbClr val="000000"/>
                </a:solidFill>
                <a:latin typeface="Public Sans Bold"/>
                <a:ea typeface="Public Sans Bold"/>
                <a:cs typeface="Public Sans Bold"/>
                <a:sym typeface="Public Sans Bold"/>
              </a:rPr>
              <a:t>imbalanced</a:t>
            </a:r>
            <a:r>
              <a:rPr lang="en-US" sz="3299">
                <a:solidFill>
                  <a:srgbClr val="000000"/>
                </a:solidFill>
                <a:latin typeface="Public Sans"/>
                <a:ea typeface="Public Sans"/>
                <a:cs typeface="Public Sans"/>
                <a:sym typeface="Public Sans"/>
              </a:rPr>
              <a:t> ở biến mục tiêu Outcome (tỉ lệ mắc bệnh khoảng 35%).</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77252" y="1299210"/>
            <a:ext cx="7377112" cy="4286250"/>
            <a:chOff x="0" y="0"/>
            <a:chExt cx="9836150" cy="5715000"/>
          </a:xfrm>
        </p:grpSpPr>
        <p:sp>
          <p:nvSpPr>
            <p:cNvPr name="Freeform 5" id="5"/>
            <p:cNvSpPr/>
            <p:nvPr/>
          </p:nvSpPr>
          <p:spPr>
            <a:xfrm flipH="false" flipV="false" rot="0">
              <a:off x="0" y="0"/>
              <a:ext cx="9836150" cy="5715000"/>
            </a:xfrm>
            <a:custGeom>
              <a:avLst/>
              <a:gdLst/>
              <a:ahLst/>
              <a:cxnLst/>
              <a:rect r="r" b="b" t="t" l="l"/>
              <a:pathLst>
                <a:path h="5715000" w="9836150">
                  <a:moveTo>
                    <a:pt x="0" y="0"/>
                  </a:moveTo>
                  <a:lnTo>
                    <a:pt x="9836150" y="0"/>
                  </a:lnTo>
                  <a:lnTo>
                    <a:pt x="9836150" y="5715000"/>
                  </a:lnTo>
                  <a:lnTo>
                    <a:pt x="0" y="5715000"/>
                  </a:lnTo>
                  <a:lnTo>
                    <a:pt x="0" y="0"/>
                  </a:lnTo>
                  <a:close/>
                </a:path>
              </a:pathLst>
            </a:custGeom>
            <a:blipFill>
              <a:blip r:embed="rId3"/>
              <a:stretch>
                <a:fillRect l="-8" t="0" r="-8" b="0"/>
              </a:stretch>
            </a:blipFill>
          </p:spPr>
        </p:sp>
      </p:grpSp>
      <p:grpSp>
        <p:nvGrpSpPr>
          <p:cNvPr name="Group 6" id="6"/>
          <p:cNvGrpSpPr/>
          <p:nvPr/>
        </p:nvGrpSpPr>
        <p:grpSpPr>
          <a:xfrm rot="0">
            <a:off x="10107930" y="1421130"/>
            <a:ext cx="7151370" cy="4164330"/>
            <a:chOff x="0" y="0"/>
            <a:chExt cx="9535160" cy="5552440"/>
          </a:xfrm>
        </p:grpSpPr>
        <p:sp>
          <p:nvSpPr>
            <p:cNvPr name="Freeform 7" id="7"/>
            <p:cNvSpPr/>
            <p:nvPr/>
          </p:nvSpPr>
          <p:spPr>
            <a:xfrm flipH="false" flipV="false" rot="0">
              <a:off x="0" y="0"/>
              <a:ext cx="9535160" cy="5552440"/>
            </a:xfrm>
            <a:custGeom>
              <a:avLst/>
              <a:gdLst/>
              <a:ahLst/>
              <a:cxnLst/>
              <a:rect r="r" b="b" t="t" l="l"/>
              <a:pathLst>
                <a:path h="5552440" w="9535160">
                  <a:moveTo>
                    <a:pt x="0" y="0"/>
                  </a:moveTo>
                  <a:lnTo>
                    <a:pt x="9535160" y="0"/>
                  </a:lnTo>
                  <a:lnTo>
                    <a:pt x="9535160" y="5552440"/>
                  </a:lnTo>
                  <a:lnTo>
                    <a:pt x="0" y="5552440"/>
                  </a:lnTo>
                  <a:lnTo>
                    <a:pt x="0" y="0"/>
                  </a:lnTo>
                  <a:close/>
                </a:path>
              </a:pathLst>
            </a:custGeom>
            <a:blipFill>
              <a:blip r:embed="rId4"/>
              <a:stretch>
                <a:fillRect l="-6" t="0" r="-6" b="0"/>
              </a:stretch>
            </a:blipFill>
          </p:spPr>
        </p:sp>
      </p:grpSp>
      <p:grpSp>
        <p:nvGrpSpPr>
          <p:cNvPr name="Group 8" id="8"/>
          <p:cNvGrpSpPr/>
          <p:nvPr/>
        </p:nvGrpSpPr>
        <p:grpSpPr>
          <a:xfrm rot="0">
            <a:off x="10107930" y="5902616"/>
            <a:ext cx="7151370" cy="4176739"/>
            <a:chOff x="0" y="0"/>
            <a:chExt cx="9632950" cy="5626100"/>
          </a:xfrm>
        </p:grpSpPr>
        <p:sp>
          <p:nvSpPr>
            <p:cNvPr name="Freeform 9" id="9"/>
            <p:cNvSpPr/>
            <p:nvPr/>
          </p:nvSpPr>
          <p:spPr>
            <a:xfrm flipH="false" flipV="false" rot="0">
              <a:off x="0" y="0"/>
              <a:ext cx="9632950" cy="5626100"/>
            </a:xfrm>
            <a:custGeom>
              <a:avLst/>
              <a:gdLst/>
              <a:ahLst/>
              <a:cxnLst/>
              <a:rect r="r" b="b" t="t" l="l"/>
              <a:pathLst>
                <a:path h="5626100" w="9632950">
                  <a:moveTo>
                    <a:pt x="0" y="0"/>
                  </a:moveTo>
                  <a:lnTo>
                    <a:pt x="9632950" y="0"/>
                  </a:lnTo>
                  <a:lnTo>
                    <a:pt x="9632950" y="5626100"/>
                  </a:lnTo>
                  <a:lnTo>
                    <a:pt x="0" y="5626100"/>
                  </a:lnTo>
                  <a:lnTo>
                    <a:pt x="0" y="0"/>
                  </a:lnTo>
                  <a:close/>
                </a:path>
              </a:pathLst>
            </a:custGeom>
            <a:blipFill>
              <a:blip r:embed="rId5"/>
              <a:stretch>
                <a:fillRect l="-10" t="0" r="-10" b="0"/>
              </a:stretch>
            </a:blipFill>
          </p:spPr>
        </p:sp>
      </p:grpSp>
      <p:sp>
        <p:nvSpPr>
          <p:cNvPr name="TextBox 10" id="10"/>
          <p:cNvSpPr txBox="true"/>
          <p:nvPr/>
        </p:nvSpPr>
        <p:spPr>
          <a:xfrm rot="0">
            <a:off x="854392" y="213360"/>
            <a:ext cx="13021744" cy="819096"/>
          </a:xfrm>
          <a:prstGeom prst="rect">
            <a:avLst/>
          </a:prstGeom>
        </p:spPr>
        <p:txBody>
          <a:bodyPr anchor="t" rtlCol="false" tIns="0" lIns="0" bIns="0" rIns="0">
            <a:spAutoFit/>
          </a:bodyPr>
          <a:lstStyle/>
          <a:p>
            <a:pPr algn="l">
              <a:lnSpc>
                <a:spcPts val="6480"/>
              </a:lnSpc>
            </a:pPr>
            <a:r>
              <a:rPr lang="en-US" sz="5400" b="true">
                <a:solidFill>
                  <a:srgbClr val="000000"/>
                </a:solidFill>
                <a:latin typeface="Public Sans Bold"/>
                <a:ea typeface="Public Sans Bold"/>
                <a:cs typeface="Public Sans Bold"/>
                <a:sym typeface="Public Sans Bold"/>
              </a:rPr>
              <a:t>Phát hiện giá trị bất thường &amp; ngoại lệ</a:t>
            </a:r>
          </a:p>
        </p:txBody>
      </p:sp>
      <p:sp>
        <p:nvSpPr>
          <p:cNvPr name="TextBox 11" id="11"/>
          <p:cNvSpPr txBox="true"/>
          <p:nvPr/>
        </p:nvSpPr>
        <p:spPr>
          <a:xfrm rot="0">
            <a:off x="1028700" y="6070282"/>
            <a:ext cx="7957490" cy="3693795"/>
          </a:xfrm>
          <a:prstGeom prst="rect">
            <a:avLst/>
          </a:prstGeom>
        </p:spPr>
        <p:txBody>
          <a:bodyPr anchor="t" rtlCol="false" tIns="0" lIns="0" bIns="0" rIns="0">
            <a:spAutoFit/>
          </a:bodyPr>
          <a:lstStyle/>
          <a:p>
            <a:pPr algn="l">
              <a:lnSpc>
                <a:spcPts val="4949"/>
              </a:lnSpc>
            </a:pPr>
            <a:r>
              <a:rPr lang="en-US" sz="3299">
                <a:solidFill>
                  <a:srgbClr val="000000"/>
                </a:solidFill>
                <a:latin typeface="Public Sans"/>
                <a:ea typeface="Public Sans"/>
                <a:cs typeface="Public Sans"/>
                <a:sym typeface="Public Sans"/>
              </a:rPr>
              <a:t>Phát hiện 1 số </a:t>
            </a:r>
            <a:r>
              <a:rPr lang="en-US" sz="3299" b="true">
                <a:solidFill>
                  <a:srgbClr val="000000"/>
                </a:solidFill>
                <a:latin typeface="Public Sans Bold"/>
                <a:ea typeface="Public Sans Bold"/>
                <a:cs typeface="Public Sans Bold"/>
                <a:sym typeface="Public Sans Bold"/>
              </a:rPr>
              <a:t>outliers</a:t>
            </a:r>
            <a:r>
              <a:rPr lang="en-US" sz="3299">
                <a:solidFill>
                  <a:srgbClr val="000000"/>
                </a:solidFill>
                <a:latin typeface="Public Sans"/>
                <a:ea typeface="Public Sans"/>
                <a:cs typeface="Public Sans"/>
                <a:sym typeface="Public Sans"/>
              </a:rPr>
              <a:t> như:</a:t>
            </a:r>
          </a:p>
          <a:p>
            <a:pPr algn="l" marL="597216" indent="-298608" lvl="1">
              <a:lnSpc>
                <a:spcPts val="4949"/>
              </a:lnSpc>
              <a:buFont typeface="Arial"/>
              <a:buChar char="•"/>
            </a:pPr>
            <a:r>
              <a:rPr lang="en-US" sz="3299" i="true">
                <a:solidFill>
                  <a:srgbClr val="000000"/>
                </a:solidFill>
                <a:latin typeface="Public Sans Italics"/>
                <a:ea typeface="Public Sans Italics"/>
                <a:cs typeface="Public Sans Italics"/>
                <a:sym typeface="Public Sans Italics"/>
              </a:rPr>
              <a:t>Insulin</a:t>
            </a:r>
            <a:r>
              <a:rPr lang="en-US" sz="3299">
                <a:solidFill>
                  <a:srgbClr val="000000"/>
                </a:solidFill>
                <a:latin typeface="Public Sans"/>
                <a:ea typeface="Public Sans"/>
                <a:cs typeface="Public Sans"/>
                <a:sym typeface="Public Sans"/>
              </a:rPr>
              <a:t> có rất nhiều giá trị ngoại lệ lớn (&gt; 600)</a:t>
            </a:r>
          </a:p>
          <a:p>
            <a:pPr algn="l" marL="712468" indent="-356234" lvl="1">
              <a:lnSpc>
                <a:spcPts val="4949"/>
              </a:lnSpc>
              <a:buFont typeface="Arial"/>
              <a:buChar char="•"/>
            </a:pPr>
            <a:r>
              <a:rPr lang="en-US" sz="3299" i="true">
                <a:solidFill>
                  <a:srgbClr val="000000"/>
                </a:solidFill>
                <a:latin typeface="Public Sans Italics"/>
                <a:ea typeface="Public Sans Italics"/>
                <a:cs typeface="Public Sans Italics"/>
                <a:sym typeface="Public Sans Italics"/>
              </a:rPr>
              <a:t>Pregnancies</a:t>
            </a:r>
            <a:r>
              <a:rPr lang="en-US" sz="3299">
                <a:solidFill>
                  <a:srgbClr val="000000"/>
                </a:solidFill>
                <a:latin typeface="Public Sans"/>
                <a:ea typeface="Public Sans"/>
                <a:cs typeface="Public Sans"/>
                <a:sym typeface="Public Sans"/>
              </a:rPr>
              <a:t> và </a:t>
            </a:r>
            <a:r>
              <a:rPr lang="en-US" sz="3299" i="true">
                <a:solidFill>
                  <a:srgbClr val="000000"/>
                </a:solidFill>
                <a:latin typeface="Public Sans Italics"/>
                <a:ea typeface="Public Sans Italics"/>
                <a:cs typeface="Public Sans Italics"/>
                <a:sym typeface="Public Sans Italics"/>
              </a:rPr>
              <a:t>Age</a:t>
            </a:r>
            <a:r>
              <a:rPr lang="en-US" sz="3299">
                <a:solidFill>
                  <a:srgbClr val="000000"/>
                </a:solidFill>
                <a:latin typeface="Public Sans"/>
                <a:ea typeface="Public Sans"/>
                <a:cs typeface="Public Sans"/>
                <a:sym typeface="Public Sans"/>
              </a:rPr>
              <a:t> cũng có những giá trị cực đoan như: mang thai 17 lần, hơn 80 tuổi.</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Phân tích đơn biến</a:t>
              </a:r>
            </a:p>
          </p:txBody>
        </p:sp>
      </p:grpSp>
      <p:sp>
        <p:nvSpPr>
          <p:cNvPr name="TextBox 7" id="7"/>
          <p:cNvSpPr txBox="true"/>
          <p:nvPr/>
        </p:nvSpPr>
        <p:spPr>
          <a:xfrm rot="0">
            <a:off x="914400" y="1501731"/>
            <a:ext cx="16276320" cy="4849805"/>
          </a:xfrm>
          <a:prstGeom prst="rect">
            <a:avLst/>
          </a:prstGeom>
        </p:spPr>
        <p:txBody>
          <a:bodyPr anchor="t" rtlCol="false" tIns="0" lIns="0" bIns="0" rIns="0">
            <a:spAutoFit/>
          </a:bodyPr>
          <a:lstStyle/>
          <a:p>
            <a:pPr algn="l">
              <a:lnSpc>
                <a:spcPts val="6480"/>
              </a:lnSpc>
            </a:pPr>
            <a:r>
              <a:rPr lang="en-US" sz="3600">
                <a:solidFill>
                  <a:srgbClr val="000000"/>
                </a:solidFill>
                <a:latin typeface="Public Sans"/>
                <a:ea typeface="Public Sans"/>
                <a:cs typeface="Public Sans"/>
                <a:sym typeface="Public Sans"/>
              </a:rPr>
              <a:t>Khi phân tích đơn biến sẽ biết được phân phối của từng biến độc lập và có thể trả lời các câu hỏi sau:</a:t>
            </a:r>
          </a:p>
          <a:p>
            <a:pPr algn="l" marL="651510" indent="-325755" lvl="1">
              <a:lnSpc>
                <a:spcPts val="6480"/>
              </a:lnSpc>
              <a:buFont typeface="Arial"/>
              <a:buChar char="•"/>
            </a:pPr>
            <a:r>
              <a:rPr lang="en-US" sz="3600">
                <a:solidFill>
                  <a:srgbClr val="000000"/>
                </a:solidFill>
                <a:latin typeface="Public Sans"/>
                <a:ea typeface="Public Sans"/>
                <a:cs typeface="Public Sans"/>
                <a:sym typeface="Public Sans"/>
              </a:rPr>
              <a:t>Nhóm tuổi nào chiếm nhiều nhất?</a:t>
            </a:r>
          </a:p>
          <a:p>
            <a:pPr algn="l" marL="651053" indent="-325526" lvl="1">
              <a:lnSpc>
                <a:spcPts val="6480"/>
              </a:lnSpc>
              <a:buFont typeface="Arial"/>
              <a:buChar char="•"/>
            </a:pPr>
            <a:r>
              <a:rPr lang="en-US" sz="3600">
                <a:solidFill>
                  <a:srgbClr val="000000"/>
                </a:solidFill>
                <a:latin typeface="Public Sans"/>
                <a:ea typeface="Public Sans"/>
                <a:cs typeface="Public Sans"/>
                <a:sym typeface="Public Sans"/>
              </a:rPr>
              <a:t> Glucose, BMI phân bố ra sao?</a:t>
            </a:r>
          </a:p>
          <a:p>
            <a:pPr algn="l" marL="651053" indent="-325526" lvl="1">
              <a:lnSpc>
                <a:spcPts val="6480"/>
              </a:lnSpc>
              <a:buFont typeface="Arial"/>
              <a:buChar char="•"/>
            </a:pPr>
            <a:r>
              <a:rPr lang="en-US" sz="3600">
                <a:solidFill>
                  <a:srgbClr val="000000"/>
                </a:solidFill>
                <a:latin typeface="Public Sans"/>
                <a:ea typeface="Public Sans"/>
                <a:cs typeface="Public Sans"/>
                <a:sym typeface="Public Sans"/>
              </a:rPr>
              <a:t>Bao nhiêu người mắc tiểu đường?</a:t>
            </a:r>
          </a:p>
          <a:p>
            <a:pPr algn="l" marL="651053" indent="-325526" lvl="1">
              <a:lnSpc>
                <a:spcPts val="6480"/>
              </a:lnSpc>
              <a:buFont typeface="Arial"/>
              <a:buChar char="•"/>
            </a:pPr>
            <a:r>
              <a:rPr lang="en-US" sz="3600">
                <a:solidFill>
                  <a:srgbClr val="000000"/>
                </a:solidFill>
                <a:latin typeface="Public Sans"/>
                <a:ea typeface="Public Sans"/>
                <a:cs typeface="Public Sans"/>
                <a:sym typeface="Public Sans"/>
              </a:rPr>
              <a:t>Số lần mang thai thường rơi vào mức bao nhiêu?</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7257"/>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Phân tích đơn biến</a:t>
              </a:r>
            </a:p>
          </p:txBody>
        </p:sp>
      </p:grpSp>
      <p:sp>
        <p:nvSpPr>
          <p:cNvPr name="TextBox 7" id="7"/>
          <p:cNvSpPr txBox="true"/>
          <p:nvPr/>
        </p:nvSpPr>
        <p:spPr>
          <a:xfrm rot="0">
            <a:off x="2224033" y="7804786"/>
            <a:ext cx="14778144" cy="1453623"/>
          </a:xfrm>
          <a:prstGeom prst="rect">
            <a:avLst/>
          </a:prstGeom>
        </p:spPr>
        <p:txBody>
          <a:bodyPr anchor="t" rtlCol="false" tIns="0" lIns="0" bIns="0" rIns="0">
            <a:spAutoFit/>
          </a:bodyPr>
          <a:lstStyle/>
          <a:p>
            <a:pPr algn="l">
              <a:lnSpc>
                <a:spcPts val="5940"/>
              </a:lnSpc>
            </a:pPr>
            <a:r>
              <a:rPr lang="en-US" sz="3300">
                <a:solidFill>
                  <a:srgbClr val="000000"/>
                </a:solidFill>
                <a:latin typeface="Public Sans"/>
                <a:ea typeface="Public Sans"/>
                <a:cs typeface="Public Sans"/>
                <a:sym typeface="Public Sans"/>
              </a:rPr>
              <a:t>Mục</a:t>
            </a:r>
            <a:r>
              <a:rPr lang="en-US" sz="3300">
                <a:solidFill>
                  <a:srgbClr val="000000"/>
                </a:solidFill>
                <a:latin typeface="Public Sans"/>
                <a:ea typeface="Public Sans"/>
                <a:cs typeface="Public Sans"/>
                <a:sym typeface="Public Sans"/>
              </a:rPr>
              <a:t> đích: Để biết các biến nào phân bố như thế nào. phát hiện lệch hay mất cân bằng, xác định vấn đề cần xử lý trước khi modeling.</a:t>
            </a:r>
          </a:p>
        </p:txBody>
      </p:sp>
      <p:grpSp>
        <p:nvGrpSpPr>
          <p:cNvPr name="Group 8" id="8"/>
          <p:cNvGrpSpPr/>
          <p:nvPr/>
        </p:nvGrpSpPr>
        <p:grpSpPr>
          <a:xfrm rot="0">
            <a:off x="3617437" y="1231533"/>
            <a:ext cx="11053127" cy="6454369"/>
            <a:chOff x="0" y="0"/>
            <a:chExt cx="7744285" cy="4522202"/>
          </a:xfrm>
        </p:grpSpPr>
        <p:sp>
          <p:nvSpPr>
            <p:cNvPr name="Freeform 9" id="9"/>
            <p:cNvSpPr/>
            <p:nvPr/>
          </p:nvSpPr>
          <p:spPr>
            <a:xfrm flipH="false" flipV="false" rot="0">
              <a:off x="0" y="0"/>
              <a:ext cx="7744285" cy="4522202"/>
            </a:xfrm>
            <a:custGeom>
              <a:avLst/>
              <a:gdLst/>
              <a:ahLst/>
              <a:cxnLst/>
              <a:rect r="r" b="b" t="t" l="l"/>
              <a:pathLst>
                <a:path h="4522202" w="7744285">
                  <a:moveTo>
                    <a:pt x="0" y="0"/>
                  </a:moveTo>
                  <a:lnTo>
                    <a:pt x="7744285" y="0"/>
                  </a:lnTo>
                  <a:lnTo>
                    <a:pt x="7744285" y="4522202"/>
                  </a:lnTo>
                  <a:lnTo>
                    <a:pt x="0" y="4522202"/>
                  </a:lnTo>
                  <a:lnTo>
                    <a:pt x="0" y="0"/>
                  </a:lnTo>
                  <a:close/>
                </a:path>
              </a:pathLst>
            </a:custGeom>
            <a:blipFill>
              <a:blip r:embed="rId3"/>
              <a:stretch>
                <a:fillRect l="-1335" t="0" r="-1335"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Phân tích đơn biến</a:t>
              </a:r>
            </a:p>
          </p:txBody>
        </p:sp>
      </p:grpSp>
      <p:sp>
        <p:nvSpPr>
          <p:cNvPr name="TextBox 7" id="7"/>
          <p:cNvSpPr txBox="true"/>
          <p:nvPr/>
        </p:nvSpPr>
        <p:spPr>
          <a:xfrm rot="0">
            <a:off x="1028700" y="6046470"/>
            <a:ext cx="16276320" cy="4030709"/>
          </a:xfrm>
          <a:prstGeom prst="rect">
            <a:avLst/>
          </a:prstGeom>
        </p:spPr>
        <p:txBody>
          <a:bodyPr anchor="t" rtlCol="false" tIns="0" lIns="0" bIns="0" rIns="0">
            <a:spAutoFit/>
          </a:bodyPr>
          <a:lstStyle/>
          <a:p>
            <a:pPr algn="l">
              <a:lnSpc>
                <a:spcPts val="6480"/>
              </a:lnSpc>
            </a:pPr>
            <a:r>
              <a:rPr lang="en-US" sz="3600">
                <a:solidFill>
                  <a:srgbClr val="000000"/>
                </a:solidFill>
                <a:latin typeface="Public Sans"/>
                <a:ea typeface="Public Sans"/>
                <a:cs typeface="Public Sans"/>
                <a:sym typeface="Public Sans"/>
              </a:rPr>
              <a:t>-</a:t>
            </a:r>
            <a:r>
              <a:rPr lang="en-US" sz="3600">
                <a:solidFill>
                  <a:srgbClr val="000000"/>
                </a:solidFill>
                <a:latin typeface="Public Sans"/>
                <a:ea typeface="Public Sans"/>
                <a:cs typeface="Public Sans"/>
                <a:sym typeface="Public Sans"/>
              </a:rPr>
              <a:t> Nhóm tuổi chiếm nhiều nhất là từ 20 – 30 tuổi.</a:t>
            </a:r>
          </a:p>
          <a:p>
            <a:pPr algn="l">
              <a:lnSpc>
                <a:spcPts val="6480"/>
              </a:lnSpc>
            </a:pPr>
            <a:r>
              <a:rPr lang="en-US" sz="3600">
                <a:solidFill>
                  <a:srgbClr val="000000"/>
                </a:solidFill>
                <a:latin typeface="Public Sans"/>
                <a:ea typeface="Public Sans"/>
                <a:cs typeface="Public Sans"/>
                <a:sym typeface="Public Sans"/>
              </a:rPr>
              <a:t>- Glucose: phân bố nghiêng phải, tập trung nhiều nhất trong khoảng 90–140.</a:t>
            </a:r>
          </a:p>
          <a:p>
            <a:pPr algn="l">
              <a:lnSpc>
                <a:spcPts val="6480"/>
              </a:lnSpc>
            </a:pPr>
            <a:r>
              <a:rPr lang="en-US" sz="3600">
                <a:solidFill>
                  <a:srgbClr val="000000"/>
                </a:solidFill>
                <a:latin typeface="Public Sans"/>
                <a:ea typeface="Public Sans"/>
                <a:cs typeface="Public Sans"/>
                <a:sym typeface="Public Sans"/>
              </a:rPr>
              <a:t>- BMI phân bố quanh 25–35, có đỉnh ở khoảng 30 (nhiều trường hợp thừa cân).</a:t>
            </a:r>
          </a:p>
          <a:p>
            <a:pPr algn="l">
              <a:lnSpc>
                <a:spcPts val="6480"/>
              </a:lnSpc>
            </a:pPr>
          </a:p>
        </p:txBody>
      </p:sp>
      <p:grpSp>
        <p:nvGrpSpPr>
          <p:cNvPr name="Group 8" id="8"/>
          <p:cNvGrpSpPr/>
          <p:nvPr/>
        </p:nvGrpSpPr>
        <p:grpSpPr>
          <a:xfrm rot="0">
            <a:off x="914400" y="1750962"/>
            <a:ext cx="4847451" cy="3350226"/>
            <a:chOff x="0" y="0"/>
            <a:chExt cx="6229350" cy="4305300"/>
          </a:xfrm>
        </p:grpSpPr>
        <p:sp>
          <p:nvSpPr>
            <p:cNvPr name="Freeform 9" id="9"/>
            <p:cNvSpPr/>
            <p:nvPr/>
          </p:nvSpPr>
          <p:spPr>
            <a:xfrm flipH="false" flipV="false" rot="0">
              <a:off x="0" y="0"/>
              <a:ext cx="6229350" cy="4305300"/>
            </a:xfrm>
            <a:custGeom>
              <a:avLst/>
              <a:gdLst/>
              <a:ahLst/>
              <a:cxnLst/>
              <a:rect r="r" b="b" t="t" l="l"/>
              <a:pathLst>
                <a:path h="4305300" w="6229350">
                  <a:moveTo>
                    <a:pt x="0" y="0"/>
                  </a:moveTo>
                  <a:lnTo>
                    <a:pt x="6229350" y="0"/>
                  </a:lnTo>
                  <a:lnTo>
                    <a:pt x="6229350" y="4305300"/>
                  </a:lnTo>
                  <a:lnTo>
                    <a:pt x="0" y="4305300"/>
                  </a:lnTo>
                  <a:lnTo>
                    <a:pt x="0" y="0"/>
                  </a:lnTo>
                  <a:close/>
                </a:path>
              </a:pathLst>
            </a:custGeom>
            <a:blipFill>
              <a:blip r:embed="rId3"/>
              <a:stretch>
                <a:fillRect l="0" t="0" r="0" b="0"/>
              </a:stretch>
            </a:blipFill>
          </p:spPr>
        </p:sp>
      </p:grpSp>
      <p:grpSp>
        <p:nvGrpSpPr>
          <p:cNvPr name="Group 10" id="10"/>
          <p:cNvGrpSpPr/>
          <p:nvPr/>
        </p:nvGrpSpPr>
        <p:grpSpPr>
          <a:xfrm rot="0">
            <a:off x="6631059" y="1624489"/>
            <a:ext cx="5025882" cy="3603171"/>
            <a:chOff x="0" y="0"/>
            <a:chExt cx="6191250" cy="4438650"/>
          </a:xfrm>
        </p:grpSpPr>
        <p:sp>
          <p:nvSpPr>
            <p:cNvPr name="Freeform 11" id="11"/>
            <p:cNvSpPr/>
            <p:nvPr/>
          </p:nvSpPr>
          <p:spPr>
            <a:xfrm flipH="false" flipV="false" rot="0">
              <a:off x="0" y="0"/>
              <a:ext cx="6191250" cy="4438650"/>
            </a:xfrm>
            <a:custGeom>
              <a:avLst/>
              <a:gdLst/>
              <a:ahLst/>
              <a:cxnLst/>
              <a:rect r="r" b="b" t="t" l="l"/>
              <a:pathLst>
                <a:path h="4438650" w="6191250">
                  <a:moveTo>
                    <a:pt x="0" y="0"/>
                  </a:moveTo>
                  <a:lnTo>
                    <a:pt x="6191250" y="0"/>
                  </a:lnTo>
                  <a:lnTo>
                    <a:pt x="6191250" y="4438650"/>
                  </a:lnTo>
                  <a:lnTo>
                    <a:pt x="0" y="4438650"/>
                  </a:lnTo>
                  <a:lnTo>
                    <a:pt x="0" y="0"/>
                  </a:lnTo>
                  <a:close/>
                </a:path>
              </a:pathLst>
            </a:custGeom>
            <a:blipFill>
              <a:blip r:embed="rId4"/>
              <a:stretch>
                <a:fillRect l="0" t="0" r="0" b="0"/>
              </a:stretch>
            </a:blipFill>
          </p:spPr>
        </p:sp>
      </p:grpSp>
      <p:grpSp>
        <p:nvGrpSpPr>
          <p:cNvPr name="Group 12" id="12"/>
          <p:cNvGrpSpPr/>
          <p:nvPr/>
        </p:nvGrpSpPr>
        <p:grpSpPr>
          <a:xfrm rot="0">
            <a:off x="12256184" y="1624489"/>
            <a:ext cx="5003116" cy="3519011"/>
            <a:chOff x="0" y="0"/>
            <a:chExt cx="6229350" cy="4381500"/>
          </a:xfrm>
        </p:grpSpPr>
        <p:sp>
          <p:nvSpPr>
            <p:cNvPr name="Freeform 13" id="13"/>
            <p:cNvSpPr/>
            <p:nvPr/>
          </p:nvSpPr>
          <p:spPr>
            <a:xfrm flipH="false" flipV="false" rot="0">
              <a:off x="0" y="0"/>
              <a:ext cx="6229350" cy="4381500"/>
            </a:xfrm>
            <a:custGeom>
              <a:avLst/>
              <a:gdLst/>
              <a:ahLst/>
              <a:cxnLst/>
              <a:rect r="r" b="b" t="t" l="l"/>
              <a:pathLst>
                <a:path h="4381500" w="6229350">
                  <a:moveTo>
                    <a:pt x="0" y="0"/>
                  </a:moveTo>
                  <a:lnTo>
                    <a:pt x="6229350" y="0"/>
                  </a:lnTo>
                  <a:lnTo>
                    <a:pt x="6229350" y="4381500"/>
                  </a:lnTo>
                  <a:lnTo>
                    <a:pt x="0" y="4381500"/>
                  </a:lnTo>
                  <a:lnTo>
                    <a:pt x="0" y="0"/>
                  </a:lnTo>
                  <a:close/>
                </a:path>
              </a:pathLst>
            </a:custGeom>
            <a:blipFill>
              <a:blip r:embed="rId5"/>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Phân tích đơn biến</a:t>
              </a:r>
            </a:p>
          </p:txBody>
        </p:sp>
      </p:grpSp>
      <p:sp>
        <p:nvSpPr>
          <p:cNvPr name="TextBox 7" id="7"/>
          <p:cNvSpPr txBox="true"/>
          <p:nvPr/>
        </p:nvSpPr>
        <p:spPr>
          <a:xfrm rot="0">
            <a:off x="1245135" y="5784702"/>
            <a:ext cx="16128465" cy="4030709"/>
          </a:xfrm>
          <a:prstGeom prst="rect">
            <a:avLst/>
          </a:prstGeom>
        </p:spPr>
        <p:txBody>
          <a:bodyPr anchor="t" rtlCol="false" tIns="0" lIns="0" bIns="0" rIns="0">
            <a:spAutoFit/>
          </a:bodyPr>
          <a:lstStyle/>
          <a:p>
            <a:pPr algn="l">
              <a:lnSpc>
                <a:spcPts val="6480"/>
              </a:lnSpc>
            </a:pPr>
            <a:r>
              <a:rPr lang="en-US" sz="3600">
                <a:solidFill>
                  <a:srgbClr val="000000"/>
                </a:solidFill>
                <a:latin typeface="Public Sans"/>
                <a:ea typeface="Public Sans"/>
                <a:cs typeface="Public Sans"/>
                <a:sym typeface="Public Sans"/>
              </a:rPr>
              <a:t>-</a:t>
            </a:r>
            <a:r>
              <a:rPr lang="en-US" sz="3600">
                <a:solidFill>
                  <a:srgbClr val="000000"/>
                </a:solidFill>
                <a:latin typeface="Public Sans"/>
                <a:ea typeface="Public Sans"/>
                <a:cs typeface="Public Sans"/>
                <a:sym typeface="Public Sans"/>
              </a:rPr>
              <a:t> Có khoảng 500 người không mắc tiểu đường và khoảng 260 mắc bệnh tiểu đường (khoảng 34%), mất cân bằng dữ liệu cần oversampling, undersampling khi xây dựng mô hình phân loại</a:t>
            </a:r>
          </a:p>
          <a:p>
            <a:pPr algn="l">
              <a:lnSpc>
                <a:spcPts val="6480"/>
              </a:lnSpc>
            </a:pPr>
            <a:r>
              <a:rPr lang="en-US" sz="3600">
                <a:solidFill>
                  <a:srgbClr val="000000"/>
                </a:solidFill>
                <a:latin typeface="Public Sans"/>
                <a:ea typeface="Public Sans"/>
                <a:cs typeface="Public Sans"/>
                <a:sym typeface="Public Sans"/>
              </a:rPr>
              <a:t>- Số lần mang thai phổ biến nhất là 0–2 lần mang thai.</a:t>
            </a:r>
          </a:p>
          <a:p>
            <a:pPr algn="l">
              <a:lnSpc>
                <a:spcPts val="6480"/>
              </a:lnSpc>
            </a:pPr>
          </a:p>
        </p:txBody>
      </p:sp>
      <p:grpSp>
        <p:nvGrpSpPr>
          <p:cNvPr name="Group 8" id="8"/>
          <p:cNvGrpSpPr/>
          <p:nvPr/>
        </p:nvGrpSpPr>
        <p:grpSpPr>
          <a:xfrm rot="0">
            <a:off x="3481078" y="1709194"/>
            <a:ext cx="4789953" cy="3434306"/>
            <a:chOff x="0" y="0"/>
            <a:chExt cx="6057900" cy="4343400"/>
          </a:xfrm>
        </p:grpSpPr>
        <p:sp>
          <p:nvSpPr>
            <p:cNvPr name="Freeform 9" id="9"/>
            <p:cNvSpPr/>
            <p:nvPr/>
          </p:nvSpPr>
          <p:spPr>
            <a:xfrm flipH="false" flipV="false" rot="0">
              <a:off x="0" y="0"/>
              <a:ext cx="6057900" cy="4343400"/>
            </a:xfrm>
            <a:custGeom>
              <a:avLst/>
              <a:gdLst/>
              <a:ahLst/>
              <a:cxnLst/>
              <a:rect r="r" b="b" t="t" l="l"/>
              <a:pathLst>
                <a:path h="4343400" w="6057900">
                  <a:moveTo>
                    <a:pt x="0" y="0"/>
                  </a:moveTo>
                  <a:lnTo>
                    <a:pt x="6057900" y="0"/>
                  </a:lnTo>
                  <a:lnTo>
                    <a:pt x="6057900" y="4343400"/>
                  </a:lnTo>
                  <a:lnTo>
                    <a:pt x="0" y="4343400"/>
                  </a:lnTo>
                  <a:lnTo>
                    <a:pt x="0" y="0"/>
                  </a:lnTo>
                  <a:close/>
                </a:path>
              </a:pathLst>
            </a:custGeom>
            <a:blipFill>
              <a:blip r:embed="rId3"/>
              <a:stretch>
                <a:fillRect l="0" t="0" r="0" b="0"/>
              </a:stretch>
            </a:blipFill>
          </p:spPr>
        </p:sp>
      </p:grpSp>
      <p:grpSp>
        <p:nvGrpSpPr>
          <p:cNvPr name="Group 10" id="10"/>
          <p:cNvGrpSpPr/>
          <p:nvPr/>
        </p:nvGrpSpPr>
        <p:grpSpPr>
          <a:xfrm rot="0">
            <a:off x="10510006" y="1709194"/>
            <a:ext cx="4907409" cy="3434306"/>
            <a:chOff x="0" y="0"/>
            <a:chExt cx="6288112" cy="4400550"/>
          </a:xfrm>
        </p:grpSpPr>
        <p:sp>
          <p:nvSpPr>
            <p:cNvPr name="Freeform 11" id="11"/>
            <p:cNvSpPr/>
            <p:nvPr/>
          </p:nvSpPr>
          <p:spPr>
            <a:xfrm flipH="false" flipV="false" rot="0">
              <a:off x="0" y="0"/>
              <a:ext cx="6288112" cy="4400550"/>
            </a:xfrm>
            <a:custGeom>
              <a:avLst/>
              <a:gdLst/>
              <a:ahLst/>
              <a:cxnLst/>
              <a:rect r="r" b="b" t="t" l="l"/>
              <a:pathLst>
                <a:path h="4400550" w="6288112">
                  <a:moveTo>
                    <a:pt x="0" y="0"/>
                  </a:moveTo>
                  <a:lnTo>
                    <a:pt x="6288112" y="0"/>
                  </a:lnTo>
                  <a:lnTo>
                    <a:pt x="6288112" y="4400550"/>
                  </a:lnTo>
                  <a:lnTo>
                    <a:pt x="0" y="4400550"/>
                  </a:lnTo>
                  <a:lnTo>
                    <a:pt x="0" y="0"/>
                  </a:lnTo>
                  <a:close/>
                </a:path>
              </a:pathLst>
            </a:custGeom>
            <a:blipFill>
              <a:blip r:embed="rId4"/>
              <a:stretch>
                <a:fillRect l="-628" t="0" r="-628"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kết quả</a:t>
              </a:r>
            </a:p>
          </p:txBody>
        </p:sp>
      </p:grpSp>
      <p:grpSp>
        <p:nvGrpSpPr>
          <p:cNvPr name="Group 7" id="7"/>
          <p:cNvGrpSpPr/>
          <p:nvPr/>
        </p:nvGrpSpPr>
        <p:grpSpPr>
          <a:xfrm rot="0">
            <a:off x="2898955" y="1155877"/>
            <a:ext cx="11923693" cy="7975247"/>
            <a:chOff x="0" y="0"/>
            <a:chExt cx="18882807" cy="12629900"/>
          </a:xfrm>
        </p:grpSpPr>
        <p:sp>
          <p:nvSpPr>
            <p:cNvPr name="Freeform 8" id="8"/>
            <p:cNvSpPr/>
            <p:nvPr/>
          </p:nvSpPr>
          <p:spPr>
            <a:xfrm flipH="false" flipV="false" rot="0">
              <a:off x="0" y="0"/>
              <a:ext cx="18882807" cy="12629900"/>
            </a:xfrm>
            <a:custGeom>
              <a:avLst/>
              <a:gdLst/>
              <a:ahLst/>
              <a:cxnLst/>
              <a:rect r="r" b="b" t="t" l="l"/>
              <a:pathLst>
                <a:path h="12629900" w="18882807">
                  <a:moveTo>
                    <a:pt x="0" y="0"/>
                  </a:moveTo>
                  <a:lnTo>
                    <a:pt x="18882807" y="0"/>
                  </a:lnTo>
                  <a:lnTo>
                    <a:pt x="18882807" y="12629900"/>
                  </a:lnTo>
                  <a:lnTo>
                    <a:pt x="0" y="12629900"/>
                  </a:lnTo>
                  <a:lnTo>
                    <a:pt x="0" y="0"/>
                  </a:lnTo>
                  <a:close/>
                </a:path>
              </a:pathLst>
            </a:custGeom>
            <a:blipFill>
              <a:blip r:embed="rId3"/>
              <a:stretch>
                <a:fillRect l="-350" t="0" r="-350" b="0"/>
              </a:stretch>
            </a:blipFill>
          </p:spPr>
        </p:sp>
      </p:grpSp>
      <p:sp>
        <p:nvSpPr>
          <p:cNvPr name="TextBox 9" id="9"/>
          <p:cNvSpPr txBox="true"/>
          <p:nvPr/>
        </p:nvSpPr>
        <p:spPr>
          <a:xfrm rot="0">
            <a:off x="3517122" y="9248775"/>
            <a:ext cx="10860800" cy="1000179"/>
          </a:xfrm>
          <a:prstGeom prst="rect">
            <a:avLst/>
          </a:prstGeom>
        </p:spPr>
        <p:txBody>
          <a:bodyPr anchor="t" rtlCol="false" tIns="0" lIns="0" bIns="0" rIns="0">
            <a:spAutoFit/>
          </a:bodyPr>
          <a:lstStyle/>
          <a:p>
            <a:pPr algn="ctr">
              <a:lnSpc>
                <a:spcPts val="3960"/>
              </a:lnSpc>
              <a:spcBef>
                <a:spcPct val="0"/>
              </a:spcBef>
            </a:pPr>
            <a:r>
              <a:rPr lang="en-US" sz="3300">
                <a:solidFill>
                  <a:srgbClr val="000000"/>
                </a:solidFill>
                <a:latin typeface="Public Sans"/>
                <a:ea typeface="Public Sans"/>
                <a:cs typeface="Public Sans"/>
                <a:sym typeface="Public Sans"/>
              </a:rPr>
              <a:t>Mục đích: Xác định biến quan trọng để dùng cho mô hình</a:t>
            </a:r>
          </a:p>
          <a:p>
            <a:pPr algn="ctr">
              <a:lnSpc>
                <a:spcPts val="396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kết quả</a:t>
              </a:r>
            </a:p>
          </p:txBody>
        </p:sp>
      </p:grpSp>
      <p:sp>
        <p:nvSpPr>
          <p:cNvPr name="TextBox 7" id="7"/>
          <p:cNvSpPr txBox="true"/>
          <p:nvPr/>
        </p:nvSpPr>
        <p:spPr>
          <a:xfrm rot="0">
            <a:off x="736012" y="1796807"/>
            <a:ext cx="16073887" cy="6425167"/>
          </a:xfrm>
          <a:prstGeom prst="rect">
            <a:avLst/>
          </a:prstGeom>
        </p:spPr>
        <p:txBody>
          <a:bodyPr anchor="t" rtlCol="false" tIns="0" lIns="0" bIns="0" rIns="0">
            <a:spAutoFit/>
          </a:bodyPr>
          <a:lstStyle/>
          <a:p>
            <a:pPr algn="l" marL="767573" indent="-383787" lvl="1">
              <a:lnSpc>
                <a:spcPts val="6399"/>
              </a:lnSpc>
              <a:buFont typeface="Arial"/>
              <a:buChar char="•"/>
            </a:pPr>
            <a:r>
              <a:rPr lang="en-US" sz="3555">
                <a:solidFill>
                  <a:srgbClr val="000000"/>
                </a:solidFill>
                <a:latin typeface="Public Sans"/>
                <a:ea typeface="Public Sans"/>
                <a:cs typeface="Public Sans"/>
                <a:sym typeface="Public Sans"/>
              </a:rPr>
              <a:t>Glucose</a:t>
            </a:r>
            <a:r>
              <a:rPr lang="en-US" sz="3555">
                <a:solidFill>
                  <a:srgbClr val="000000"/>
                </a:solidFill>
                <a:latin typeface="Public Sans"/>
                <a:ea typeface="Public Sans"/>
                <a:cs typeface="Public Sans"/>
                <a:sym typeface="Public Sans"/>
              </a:rPr>
              <a:t> cao thì nhóm nào mắc tiểu đường nhiều hơn?</a:t>
            </a:r>
          </a:p>
          <a:p>
            <a:pPr algn="l" marL="767573" indent="-383787" lvl="1">
              <a:lnSpc>
                <a:spcPts val="6399"/>
              </a:lnSpc>
              <a:buFont typeface="Arial"/>
              <a:buChar char="•"/>
            </a:pPr>
            <a:r>
              <a:rPr lang="en-US" sz="3555">
                <a:solidFill>
                  <a:srgbClr val="000000"/>
                </a:solidFill>
                <a:latin typeface="Public Sans"/>
                <a:ea typeface="Public Sans"/>
                <a:cs typeface="Public Sans"/>
                <a:sym typeface="Public Sans"/>
              </a:rPr>
              <a:t>Mắc tiểu đường thì BMI thế nào?</a:t>
            </a:r>
          </a:p>
          <a:p>
            <a:pPr algn="l" marL="767573" indent="-383787" lvl="1">
              <a:lnSpc>
                <a:spcPts val="6399"/>
              </a:lnSpc>
              <a:buFont typeface="Arial"/>
              <a:buChar char="•"/>
            </a:pPr>
            <a:r>
              <a:rPr lang="en-US" sz="3555">
                <a:solidFill>
                  <a:srgbClr val="000000"/>
                </a:solidFill>
                <a:latin typeface="Public Sans"/>
                <a:ea typeface="Public Sans"/>
                <a:cs typeface="Public Sans"/>
                <a:sym typeface="Public Sans"/>
              </a:rPr>
              <a:t>Insulin thấp/cao ảnh hưởng thế nào đến Outcome?</a:t>
            </a:r>
          </a:p>
          <a:p>
            <a:pPr algn="l" marL="767573" indent="-383787" lvl="1">
              <a:lnSpc>
                <a:spcPts val="6399"/>
              </a:lnSpc>
              <a:buFont typeface="Arial"/>
              <a:buChar char="•"/>
            </a:pPr>
            <a:r>
              <a:rPr lang="en-US" sz="3555">
                <a:solidFill>
                  <a:srgbClr val="000000"/>
                </a:solidFill>
                <a:latin typeface="Public Sans"/>
                <a:ea typeface="Public Sans"/>
                <a:cs typeface="Public Sans"/>
                <a:sym typeface="Public Sans"/>
              </a:rPr>
              <a:t>SkinThickness có thực sự tách biệt 2 nhóm Outcome không?</a:t>
            </a:r>
          </a:p>
          <a:p>
            <a:pPr algn="l" marL="767573" indent="-383787" lvl="1">
              <a:lnSpc>
                <a:spcPts val="6399"/>
              </a:lnSpc>
              <a:buFont typeface="Arial"/>
              <a:buChar char="•"/>
            </a:pPr>
            <a:r>
              <a:rPr lang="en-US" sz="3555">
                <a:solidFill>
                  <a:srgbClr val="000000"/>
                </a:solidFill>
                <a:latin typeface="Public Sans"/>
                <a:ea typeface="Public Sans"/>
                <a:cs typeface="Public Sans"/>
                <a:sym typeface="Public Sans"/>
              </a:rPr>
              <a:t>BloodPressure trung bình có khác biệt giữa nhóm bệnh và không bệnh không?</a:t>
            </a:r>
          </a:p>
          <a:p>
            <a:pPr algn="l" marL="767573" indent="-383787" lvl="1">
              <a:lnSpc>
                <a:spcPts val="6399"/>
              </a:lnSpc>
              <a:buFont typeface="Arial"/>
              <a:buChar char="•"/>
            </a:pPr>
            <a:r>
              <a:rPr lang="en-US" sz="3555">
                <a:solidFill>
                  <a:srgbClr val="000000"/>
                </a:solidFill>
                <a:latin typeface="Public Sans"/>
                <a:ea typeface="Public Sans"/>
                <a:cs typeface="Public Sans"/>
                <a:sym typeface="Public Sans"/>
              </a:rPr>
              <a:t>Diabetes Pedigree Function cao có đồng nghĩa nguy cơ cao hơn không?</a:t>
            </a:r>
          </a:p>
          <a:p>
            <a:pPr algn="l">
              <a:lnSpc>
                <a:spcPts val="639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667"/>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44191" y="424821"/>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kết quả</a:t>
              </a:r>
            </a:p>
          </p:txBody>
        </p:sp>
      </p:grpSp>
      <p:sp>
        <p:nvSpPr>
          <p:cNvPr name="AutoShape 7" id="7"/>
          <p:cNvSpPr/>
          <p:nvPr/>
        </p:nvSpPr>
        <p:spPr>
          <a:xfrm flipH="true">
            <a:off x="9087402" y="1512947"/>
            <a:ext cx="58102" cy="7451407"/>
          </a:xfrm>
          <a:prstGeom prst="line">
            <a:avLst/>
          </a:prstGeom>
          <a:ln cap="rnd" w="28575">
            <a:solidFill>
              <a:srgbClr val="FFFFFF"/>
            </a:solidFill>
            <a:prstDash val="solid"/>
            <a:headEnd type="none" len="sm" w="sm"/>
            <a:tailEnd type="none" len="sm" w="sm"/>
          </a:ln>
        </p:spPr>
      </p:sp>
      <p:grpSp>
        <p:nvGrpSpPr>
          <p:cNvPr name="Group 8" id="8"/>
          <p:cNvGrpSpPr/>
          <p:nvPr/>
        </p:nvGrpSpPr>
        <p:grpSpPr>
          <a:xfrm rot="0">
            <a:off x="310551" y="1473660"/>
            <a:ext cx="5713017" cy="3679507"/>
            <a:chOff x="0" y="0"/>
            <a:chExt cx="6891706" cy="4438650"/>
          </a:xfrm>
        </p:grpSpPr>
        <p:sp>
          <p:nvSpPr>
            <p:cNvPr name="Freeform 9" id="9"/>
            <p:cNvSpPr/>
            <p:nvPr/>
          </p:nvSpPr>
          <p:spPr>
            <a:xfrm flipH="false" flipV="false" rot="0">
              <a:off x="0" y="0"/>
              <a:ext cx="6891706" cy="4438650"/>
            </a:xfrm>
            <a:custGeom>
              <a:avLst/>
              <a:gdLst/>
              <a:ahLst/>
              <a:cxnLst/>
              <a:rect r="r" b="b" t="t" l="l"/>
              <a:pathLst>
                <a:path h="4438650" w="6891706">
                  <a:moveTo>
                    <a:pt x="0" y="0"/>
                  </a:moveTo>
                  <a:lnTo>
                    <a:pt x="6891706" y="0"/>
                  </a:lnTo>
                  <a:lnTo>
                    <a:pt x="6891706" y="4438650"/>
                  </a:lnTo>
                  <a:lnTo>
                    <a:pt x="0" y="4438650"/>
                  </a:lnTo>
                  <a:lnTo>
                    <a:pt x="0" y="0"/>
                  </a:lnTo>
                  <a:close/>
                </a:path>
              </a:pathLst>
            </a:custGeom>
            <a:blipFill>
              <a:blip r:embed="rId3"/>
              <a:stretch>
                <a:fillRect l="0" t="-437" r="0" b="-437"/>
              </a:stretch>
            </a:blipFill>
          </p:spPr>
        </p:sp>
      </p:grpSp>
      <p:grpSp>
        <p:nvGrpSpPr>
          <p:cNvPr name="Group 10" id="10"/>
          <p:cNvGrpSpPr/>
          <p:nvPr/>
        </p:nvGrpSpPr>
        <p:grpSpPr>
          <a:xfrm rot="0">
            <a:off x="6156282" y="1473660"/>
            <a:ext cx="5713017" cy="3679507"/>
            <a:chOff x="0" y="0"/>
            <a:chExt cx="6891706" cy="4438650"/>
          </a:xfrm>
        </p:grpSpPr>
        <p:sp>
          <p:nvSpPr>
            <p:cNvPr name="Freeform 11" id="11"/>
            <p:cNvSpPr/>
            <p:nvPr/>
          </p:nvSpPr>
          <p:spPr>
            <a:xfrm flipH="false" flipV="false" rot="0">
              <a:off x="0" y="0"/>
              <a:ext cx="6891706" cy="4438650"/>
            </a:xfrm>
            <a:custGeom>
              <a:avLst/>
              <a:gdLst/>
              <a:ahLst/>
              <a:cxnLst/>
              <a:rect r="r" b="b" t="t" l="l"/>
              <a:pathLst>
                <a:path h="4438650" w="6891706">
                  <a:moveTo>
                    <a:pt x="0" y="0"/>
                  </a:moveTo>
                  <a:lnTo>
                    <a:pt x="6891706" y="0"/>
                  </a:lnTo>
                  <a:lnTo>
                    <a:pt x="6891706" y="4438650"/>
                  </a:lnTo>
                  <a:lnTo>
                    <a:pt x="0" y="4438650"/>
                  </a:lnTo>
                  <a:lnTo>
                    <a:pt x="0" y="0"/>
                  </a:lnTo>
                  <a:close/>
                </a:path>
              </a:pathLst>
            </a:custGeom>
            <a:blipFill>
              <a:blip r:embed="rId4"/>
              <a:stretch>
                <a:fillRect l="0" t="-3920" r="0" b="-3920"/>
              </a:stretch>
            </a:blipFill>
          </p:spPr>
        </p:sp>
      </p:grpSp>
      <p:grpSp>
        <p:nvGrpSpPr>
          <p:cNvPr name="Group 12" id="12"/>
          <p:cNvGrpSpPr/>
          <p:nvPr/>
        </p:nvGrpSpPr>
        <p:grpSpPr>
          <a:xfrm rot="0">
            <a:off x="12124013" y="1473660"/>
            <a:ext cx="5713017" cy="3679507"/>
            <a:chOff x="0" y="0"/>
            <a:chExt cx="6891706" cy="4438650"/>
          </a:xfrm>
        </p:grpSpPr>
        <p:sp>
          <p:nvSpPr>
            <p:cNvPr name="Freeform 13" id="13"/>
            <p:cNvSpPr/>
            <p:nvPr/>
          </p:nvSpPr>
          <p:spPr>
            <a:xfrm flipH="false" flipV="false" rot="0">
              <a:off x="0" y="0"/>
              <a:ext cx="6891706" cy="4438650"/>
            </a:xfrm>
            <a:custGeom>
              <a:avLst/>
              <a:gdLst/>
              <a:ahLst/>
              <a:cxnLst/>
              <a:rect r="r" b="b" t="t" l="l"/>
              <a:pathLst>
                <a:path h="4438650" w="6891706">
                  <a:moveTo>
                    <a:pt x="0" y="0"/>
                  </a:moveTo>
                  <a:lnTo>
                    <a:pt x="6891706" y="0"/>
                  </a:lnTo>
                  <a:lnTo>
                    <a:pt x="6891706" y="4438650"/>
                  </a:lnTo>
                  <a:lnTo>
                    <a:pt x="0" y="4438650"/>
                  </a:lnTo>
                  <a:lnTo>
                    <a:pt x="0" y="0"/>
                  </a:lnTo>
                  <a:close/>
                </a:path>
              </a:pathLst>
            </a:custGeom>
            <a:blipFill>
              <a:blip r:embed="rId5"/>
              <a:stretch>
                <a:fillRect l="0" t="-1439" r="0" b="-1439"/>
              </a:stretch>
            </a:blipFill>
          </p:spPr>
        </p:sp>
      </p:grpSp>
      <p:sp>
        <p:nvSpPr>
          <p:cNvPr name="TextBox 14" id="14"/>
          <p:cNvSpPr txBox="true"/>
          <p:nvPr/>
        </p:nvSpPr>
        <p:spPr>
          <a:xfrm rot="0">
            <a:off x="1169041" y="5842060"/>
            <a:ext cx="16274691" cy="3122024"/>
          </a:xfrm>
          <a:prstGeom prst="rect">
            <a:avLst/>
          </a:prstGeom>
        </p:spPr>
        <p:txBody>
          <a:bodyPr anchor="t" rtlCol="false" tIns="0" lIns="0" bIns="0" rIns="0">
            <a:spAutoFit/>
          </a:bodyPr>
          <a:lstStyle/>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Người có Glucose cao dễ mắc tiểu đường hơn.</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Người mắc tiểu đường thường có BMI cao hơn so với nhóm không bệnh.</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Insulin có nhiều giá trị ngoại lai (outlier), phân bố rộng và chồng lấn giữa hai nhóm. Nhìn chung, Insulin không cho thấy sự khác biệt rõ ràng giữa Outcome 0 và 1, nên không phải yếu tố tách biệt tốt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667"/>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44191" y="424821"/>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kết quả</a:t>
              </a:r>
            </a:p>
          </p:txBody>
        </p:sp>
      </p:grpSp>
      <p:sp>
        <p:nvSpPr>
          <p:cNvPr name="AutoShape 7" id="7"/>
          <p:cNvSpPr/>
          <p:nvPr/>
        </p:nvSpPr>
        <p:spPr>
          <a:xfrm flipH="true">
            <a:off x="9087402" y="1512947"/>
            <a:ext cx="58102" cy="7451407"/>
          </a:xfrm>
          <a:prstGeom prst="line">
            <a:avLst/>
          </a:prstGeom>
          <a:ln cap="rnd" w="28575">
            <a:solidFill>
              <a:srgbClr val="FFFFFF"/>
            </a:solidFill>
            <a:prstDash val="solid"/>
            <a:headEnd type="none" len="sm" w="sm"/>
            <a:tailEnd type="none" len="sm" w="sm"/>
          </a:ln>
        </p:spPr>
      </p:sp>
      <p:grpSp>
        <p:nvGrpSpPr>
          <p:cNvPr name="Group 8" id="8"/>
          <p:cNvGrpSpPr/>
          <p:nvPr/>
        </p:nvGrpSpPr>
        <p:grpSpPr>
          <a:xfrm rot="0">
            <a:off x="310551" y="1473660"/>
            <a:ext cx="5713017" cy="3679507"/>
            <a:chOff x="0" y="0"/>
            <a:chExt cx="6891706" cy="4438650"/>
          </a:xfrm>
        </p:grpSpPr>
        <p:sp>
          <p:nvSpPr>
            <p:cNvPr name="Freeform 9" id="9"/>
            <p:cNvSpPr/>
            <p:nvPr/>
          </p:nvSpPr>
          <p:spPr>
            <a:xfrm flipH="false" flipV="false" rot="0">
              <a:off x="0" y="0"/>
              <a:ext cx="6891706" cy="4438650"/>
            </a:xfrm>
            <a:custGeom>
              <a:avLst/>
              <a:gdLst/>
              <a:ahLst/>
              <a:cxnLst/>
              <a:rect r="r" b="b" t="t" l="l"/>
              <a:pathLst>
                <a:path h="4438650" w="6891706">
                  <a:moveTo>
                    <a:pt x="0" y="0"/>
                  </a:moveTo>
                  <a:lnTo>
                    <a:pt x="6891706" y="0"/>
                  </a:lnTo>
                  <a:lnTo>
                    <a:pt x="6891706" y="4438650"/>
                  </a:lnTo>
                  <a:lnTo>
                    <a:pt x="0" y="4438650"/>
                  </a:lnTo>
                  <a:lnTo>
                    <a:pt x="0" y="0"/>
                  </a:lnTo>
                  <a:close/>
                </a:path>
              </a:pathLst>
            </a:custGeom>
            <a:blipFill>
              <a:blip r:embed="rId3"/>
              <a:stretch>
                <a:fillRect l="0" t="-922" r="0" b="-922"/>
              </a:stretch>
            </a:blipFill>
          </p:spPr>
        </p:sp>
      </p:grpSp>
      <p:grpSp>
        <p:nvGrpSpPr>
          <p:cNvPr name="Group 10" id="10"/>
          <p:cNvGrpSpPr/>
          <p:nvPr/>
        </p:nvGrpSpPr>
        <p:grpSpPr>
          <a:xfrm rot="0">
            <a:off x="6156282" y="1473660"/>
            <a:ext cx="5713017" cy="3679507"/>
            <a:chOff x="0" y="0"/>
            <a:chExt cx="6891706" cy="4438650"/>
          </a:xfrm>
        </p:grpSpPr>
        <p:sp>
          <p:nvSpPr>
            <p:cNvPr name="Freeform 11" id="11"/>
            <p:cNvSpPr/>
            <p:nvPr/>
          </p:nvSpPr>
          <p:spPr>
            <a:xfrm flipH="false" flipV="false" rot="0">
              <a:off x="0" y="0"/>
              <a:ext cx="6891706" cy="4438650"/>
            </a:xfrm>
            <a:custGeom>
              <a:avLst/>
              <a:gdLst/>
              <a:ahLst/>
              <a:cxnLst/>
              <a:rect r="r" b="b" t="t" l="l"/>
              <a:pathLst>
                <a:path h="4438650" w="6891706">
                  <a:moveTo>
                    <a:pt x="0" y="0"/>
                  </a:moveTo>
                  <a:lnTo>
                    <a:pt x="6891706" y="0"/>
                  </a:lnTo>
                  <a:lnTo>
                    <a:pt x="6891706" y="4438650"/>
                  </a:lnTo>
                  <a:lnTo>
                    <a:pt x="0" y="4438650"/>
                  </a:lnTo>
                  <a:lnTo>
                    <a:pt x="0" y="0"/>
                  </a:lnTo>
                  <a:close/>
                </a:path>
              </a:pathLst>
            </a:custGeom>
            <a:blipFill>
              <a:blip r:embed="rId4"/>
              <a:stretch>
                <a:fillRect l="0" t="-759" r="0" b="-759"/>
              </a:stretch>
            </a:blipFill>
          </p:spPr>
        </p:sp>
      </p:grpSp>
      <p:grpSp>
        <p:nvGrpSpPr>
          <p:cNvPr name="Group 12" id="12"/>
          <p:cNvGrpSpPr/>
          <p:nvPr/>
        </p:nvGrpSpPr>
        <p:grpSpPr>
          <a:xfrm rot="0">
            <a:off x="12095438" y="1473660"/>
            <a:ext cx="5713017" cy="3679507"/>
            <a:chOff x="0" y="0"/>
            <a:chExt cx="6891706" cy="4438650"/>
          </a:xfrm>
        </p:grpSpPr>
        <p:sp>
          <p:nvSpPr>
            <p:cNvPr name="Freeform 13" id="13"/>
            <p:cNvSpPr/>
            <p:nvPr/>
          </p:nvSpPr>
          <p:spPr>
            <a:xfrm flipH="false" flipV="false" rot="0">
              <a:off x="0" y="0"/>
              <a:ext cx="6891706" cy="4438650"/>
            </a:xfrm>
            <a:custGeom>
              <a:avLst/>
              <a:gdLst/>
              <a:ahLst/>
              <a:cxnLst/>
              <a:rect r="r" b="b" t="t" l="l"/>
              <a:pathLst>
                <a:path h="4438650" w="6891706">
                  <a:moveTo>
                    <a:pt x="0" y="0"/>
                  </a:moveTo>
                  <a:lnTo>
                    <a:pt x="6891706" y="0"/>
                  </a:lnTo>
                  <a:lnTo>
                    <a:pt x="6891706" y="4438650"/>
                  </a:lnTo>
                  <a:lnTo>
                    <a:pt x="0" y="4438650"/>
                  </a:lnTo>
                  <a:lnTo>
                    <a:pt x="0" y="0"/>
                  </a:lnTo>
                  <a:close/>
                </a:path>
              </a:pathLst>
            </a:custGeom>
            <a:blipFill>
              <a:blip r:embed="rId5"/>
              <a:stretch>
                <a:fillRect l="0" t="-2502" r="0" b="-2502"/>
              </a:stretch>
            </a:blipFill>
          </p:spPr>
        </p:sp>
      </p:grpSp>
      <p:sp>
        <p:nvSpPr>
          <p:cNvPr name="TextBox 14" id="14"/>
          <p:cNvSpPr txBox="true"/>
          <p:nvPr/>
        </p:nvSpPr>
        <p:spPr>
          <a:xfrm rot="0">
            <a:off x="864922" y="5486452"/>
            <a:ext cx="16570856" cy="4379216"/>
          </a:xfrm>
          <a:prstGeom prst="rect">
            <a:avLst/>
          </a:prstGeom>
        </p:spPr>
        <p:txBody>
          <a:bodyPr anchor="t" rtlCol="false" tIns="0" lIns="0" bIns="0" rIns="0">
            <a:spAutoFit/>
          </a:bodyPr>
          <a:lstStyle/>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Hai median chênh không nhiều, chồng lấn mạnh. SkinThickness không tách biệt rõ rệt giữa người có và không có tiểu - đường.</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Huyết áp trung bình không có sự khác biệt rõ rệt giữa người tiểu đường và không tiểu đường</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Nhóm mắc bệnh có giá trị DiabetesPedigreeFunction nhỉnh hơn một chút, nhưng phân bố vẫn khá chồng lấn. Như vậy, chỉ số này có ảnh hưởng nhưng không mạnh bằng Glucose hay BMI.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kết quả</a:t>
              </a:r>
            </a:p>
          </p:txBody>
        </p:sp>
      </p:grpSp>
      <p:sp>
        <p:nvSpPr>
          <p:cNvPr name="TextBox 7" id="7"/>
          <p:cNvSpPr txBox="true"/>
          <p:nvPr/>
        </p:nvSpPr>
        <p:spPr>
          <a:xfrm rot="0">
            <a:off x="1839278" y="1866900"/>
            <a:ext cx="14470380" cy="4463740"/>
          </a:xfrm>
          <a:prstGeom prst="rect">
            <a:avLst/>
          </a:prstGeom>
        </p:spPr>
        <p:txBody>
          <a:bodyPr anchor="t" rtlCol="false" tIns="0" lIns="0" bIns="0" rIns="0">
            <a:spAutoFit/>
          </a:bodyPr>
          <a:lstStyle/>
          <a:p>
            <a:pPr algn="l" marL="597216" indent="-298608" lvl="1">
              <a:lnSpc>
                <a:spcPts val="5939"/>
              </a:lnSpc>
              <a:buFont typeface="Arial"/>
              <a:buChar char="•"/>
            </a:pPr>
            <a:r>
              <a:rPr lang="en-US" sz="3299">
                <a:solidFill>
                  <a:srgbClr val="000000"/>
                </a:solidFill>
                <a:latin typeface="Public Sans"/>
                <a:ea typeface="Public Sans"/>
                <a:cs typeface="Public Sans"/>
                <a:sym typeface="Public Sans"/>
              </a:rPr>
              <a:t>Các biến quan trọng nhất khi so sánh với Outcome: </a:t>
            </a:r>
            <a:r>
              <a:rPr lang="en-US" b="true" sz="3299">
                <a:solidFill>
                  <a:srgbClr val="000000"/>
                </a:solidFill>
                <a:latin typeface="Public Sans Bold"/>
                <a:ea typeface="Public Sans Bold"/>
                <a:cs typeface="Public Sans Bold"/>
                <a:sym typeface="Public Sans Bold"/>
              </a:rPr>
              <a:t>Glucose, BMI, Age, Pregnancies</a:t>
            </a:r>
            <a:r>
              <a:rPr lang="en-US" sz="3299">
                <a:solidFill>
                  <a:srgbClr val="000000"/>
                </a:solidFill>
                <a:latin typeface="Public Sans"/>
                <a:ea typeface="Public Sans"/>
                <a:cs typeface="Public Sans"/>
                <a:sym typeface="Public Sans"/>
              </a:rPr>
              <a:t>.</a:t>
            </a:r>
          </a:p>
          <a:p>
            <a:pPr algn="l" marL="597216" indent="-298608" lvl="1">
              <a:lnSpc>
                <a:spcPts val="5939"/>
              </a:lnSpc>
              <a:buFont typeface="Arial"/>
              <a:buChar char="•"/>
            </a:pPr>
            <a:r>
              <a:rPr lang="en-US" sz="3299">
                <a:solidFill>
                  <a:srgbClr val="000000"/>
                </a:solidFill>
                <a:latin typeface="Public Sans"/>
                <a:ea typeface="Public Sans"/>
                <a:cs typeface="Public Sans"/>
                <a:sym typeface="Public Sans"/>
              </a:rPr>
              <a:t>Các biến yếu hơn hoặc ít khác biệt: </a:t>
            </a:r>
            <a:r>
              <a:rPr lang="en-US" b="true" sz="3299">
                <a:solidFill>
                  <a:srgbClr val="000000"/>
                </a:solidFill>
                <a:latin typeface="Public Sans Bold"/>
                <a:ea typeface="Public Sans Bold"/>
                <a:cs typeface="Public Sans Bold"/>
                <a:sym typeface="Public Sans Bold"/>
              </a:rPr>
              <a:t>BloodPressure, SkinThickness, Insulin, DiabetesPedigreeFunction.</a:t>
            </a:r>
          </a:p>
          <a:p>
            <a:pPr algn="l" marL="597216" indent="-298608" lvl="1">
              <a:lnSpc>
                <a:spcPts val="5939"/>
              </a:lnSpc>
              <a:buFont typeface="Arial"/>
              <a:buChar char="•"/>
            </a:pPr>
            <a:r>
              <a:rPr lang="en-US" sz="3299">
                <a:solidFill>
                  <a:srgbClr val="000000"/>
                </a:solidFill>
                <a:latin typeface="Public Sans"/>
                <a:ea typeface="Public Sans"/>
                <a:cs typeface="Public Sans"/>
                <a:sym typeface="Public Sans"/>
              </a:rPr>
              <a:t>Điều này phù hợp với y học: đường huyết cao, thừa cân, tuổi cao là yếu tố nguy cơ chính gây tiểu đường type 2.</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667"/>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44191" y="424821"/>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kết quả</a:t>
              </a:r>
            </a:p>
          </p:txBody>
        </p:sp>
      </p:grpSp>
      <p:sp>
        <p:nvSpPr>
          <p:cNvPr name="AutoShape 7" id="7"/>
          <p:cNvSpPr/>
          <p:nvPr/>
        </p:nvSpPr>
        <p:spPr>
          <a:xfrm flipH="true">
            <a:off x="9087402" y="1512947"/>
            <a:ext cx="58102" cy="7451407"/>
          </a:xfrm>
          <a:prstGeom prst="line">
            <a:avLst/>
          </a:prstGeom>
          <a:ln cap="rnd" w="28575">
            <a:solidFill>
              <a:srgbClr val="FFFFFF"/>
            </a:solidFill>
            <a:prstDash val="solid"/>
            <a:headEnd type="none" len="sm" w="sm"/>
            <a:tailEnd type="none" len="sm" w="sm"/>
          </a:ln>
        </p:spPr>
      </p:sp>
      <p:grpSp>
        <p:nvGrpSpPr>
          <p:cNvPr name="Group 8" id="8"/>
          <p:cNvGrpSpPr/>
          <p:nvPr/>
        </p:nvGrpSpPr>
        <p:grpSpPr>
          <a:xfrm rot="0">
            <a:off x="844191" y="1473660"/>
            <a:ext cx="12492205" cy="8306072"/>
            <a:chOff x="0" y="0"/>
            <a:chExt cx="13554740" cy="9012553"/>
          </a:xfrm>
        </p:grpSpPr>
        <p:sp>
          <p:nvSpPr>
            <p:cNvPr name="Freeform 9" id="9"/>
            <p:cNvSpPr/>
            <p:nvPr/>
          </p:nvSpPr>
          <p:spPr>
            <a:xfrm flipH="false" flipV="false" rot="0">
              <a:off x="0" y="0"/>
              <a:ext cx="13554740" cy="9012553"/>
            </a:xfrm>
            <a:custGeom>
              <a:avLst/>
              <a:gdLst/>
              <a:ahLst/>
              <a:cxnLst/>
              <a:rect r="r" b="b" t="t" l="l"/>
              <a:pathLst>
                <a:path h="9012553" w="13554740">
                  <a:moveTo>
                    <a:pt x="0" y="0"/>
                  </a:moveTo>
                  <a:lnTo>
                    <a:pt x="13554740" y="0"/>
                  </a:lnTo>
                  <a:lnTo>
                    <a:pt x="13554740" y="9012553"/>
                  </a:lnTo>
                  <a:lnTo>
                    <a:pt x="0" y="9012553"/>
                  </a:lnTo>
                  <a:lnTo>
                    <a:pt x="0" y="0"/>
                  </a:lnTo>
                  <a:close/>
                </a:path>
              </a:pathLst>
            </a:custGeom>
            <a:blipFill>
              <a:blip r:embed="rId3"/>
              <a:stretch>
                <a:fillRect l="-86" t="0" r="-86" b="0"/>
              </a:stretch>
            </a:blipFill>
          </p:spPr>
        </p:sp>
      </p:grpSp>
      <p:sp>
        <p:nvSpPr>
          <p:cNvPr name="TextBox 10" id="10"/>
          <p:cNvSpPr txBox="true"/>
          <p:nvPr/>
        </p:nvSpPr>
        <p:spPr>
          <a:xfrm rot="0">
            <a:off x="7327388" y="5982868"/>
            <a:ext cx="9227176" cy="2981487"/>
          </a:xfrm>
          <a:prstGeom prst="rect">
            <a:avLst/>
          </a:prstGeom>
        </p:spPr>
        <p:txBody>
          <a:bodyPr anchor="t" rtlCol="false" tIns="0" lIns="0" bIns="0" rIns="0">
            <a:spAutoFit/>
          </a:bodyPr>
          <a:lstStyle/>
          <a:p>
            <a:pPr algn="l" marL="712470" indent="-356235" lvl="1">
              <a:lnSpc>
                <a:spcPts val="3960"/>
              </a:lnSpc>
              <a:buFont typeface="Arial"/>
              <a:buChar char="•"/>
            </a:pPr>
            <a:r>
              <a:rPr lang="en-US" sz="3300">
                <a:solidFill>
                  <a:srgbClr val="000000"/>
                </a:solidFill>
                <a:latin typeface="Public Sans"/>
                <a:ea typeface="Public Sans"/>
                <a:cs typeface="Public Sans"/>
                <a:sym typeface="Public Sans"/>
              </a:rPr>
              <a:t>Trung bình Glucose, BMI, Insulin khác nhau thế nào giữa Outcome=0 và 1?</a:t>
            </a:r>
          </a:p>
          <a:p>
            <a:pPr algn="l" marL="712470" indent="-356235" lvl="1">
              <a:lnSpc>
                <a:spcPts val="3960"/>
              </a:lnSpc>
              <a:buFont typeface="Arial"/>
              <a:buChar char="•"/>
            </a:pPr>
            <a:r>
              <a:rPr lang="en-US" sz="3300">
                <a:solidFill>
                  <a:srgbClr val="000000"/>
                </a:solidFill>
                <a:latin typeface="Public Sans"/>
                <a:ea typeface="Public Sans"/>
                <a:cs typeface="Public Sans"/>
                <a:sym typeface="Public Sans"/>
              </a:rPr>
              <a:t>Người mắc tiểu đường có số lần mang thai cao hơn không?</a:t>
            </a:r>
          </a:p>
          <a:p>
            <a:pPr algn="l" marL="712470" indent="-356235" lvl="1">
              <a:lnSpc>
                <a:spcPts val="3960"/>
              </a:lnSpc>
              <a:buFont typeface="Arial"/>
              <a:buChar char="•"/>
            </a:pPr>
            <a:r>
              <a:rPr lang="en-US" sz="3300">
                <a:solidFill>
                  <a:srgbClr val="000000"/>
                </a:solidFill>
                <a:latin typeface="Public Sans"/>
                <a:ea typeface="Public Sans"/>
                <a:cs typeface="Public Sans"/>
                <a:sym typeface="Public Sans"/>
              </a:rPr>
              <a:t>Tuổi trung bình của nhóm mắc bệnh và không mắc bệnh khác nhau bao nhiêu?</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667"/>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44191" y="424821"/>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kết quả</a:t>
              </a:r>
            </a:p>
          </p:txBody>
        </p:sp>
      </p:grpSp>
      <p:sp>
        <p:nvSpPr>
          <p:cNvPr name="AutoShape 7" id="7"/>
          <p:cNvSpPr/>
          <p:nvPr/>
        </p:nvSpPr>
        <p:spPr>
          <a:xfrm flipH="true">
            <a:off x="9087402" y="1512947"/>
            <a:ext cx="58102" cy="7451407"/>
          </a:xfrm>
          <a:prstGeom prst="line">
            <a:avLst/>
          </a:prstGeom>
          <a:ln cap="rnd" w="28575">
            <a:solidFill>
              <a:srgbClr val="FFFFFF"/>
            </a:solidFill>
            <a:prstDash val="solid"/>
            <a:headEnd type="none" len="sm" w="sm"/>
            <a:tailEnd type="none" len="sm" w="sm"/>
          </a:ln>
        </p:spPr>
      </p:sp>
      <p:sp>
        <p:nvSpPr>
          <p:cNvPr name="TextBox 8" id="8"/>
          <p:cNvSpPr txBox="true"/>
          <p:nvPr/>
        </p:nvSpPr>
        <p:spPr>
          <a:xfrm rot="0">
            <a:off x="844191" y="1783123"/>
            <a:ext cx="16074300" cy="5350727"/>
          </a:xfrm>
          <a:prstGeom prst="rect">
            <a:avLst/>
          </a:prstGeom>
        </p:spPr>
        <p:txBody>
          <a:bodyPr anchor="t" rtlCol="false" tIns="0" lIns="0" bIns="0" rIns="0">
            <a:spAutoFit/>
          </a:bodyPr>
          <a:lstStyle/>
          <a:p>
            <a:pPr algn="l" marL="734171" indent="-367086" lvl="1">
              <a:lnSpc>
                <a:spcPts val="6120"/>
              </a:lnSpc>
              <a:buFont typeface="Arial"/>
              <a:buChar char="•"/>
            </a:pPr>
            <a:r>
              <a:rPr lang="en-US" sz="3400">
                <a:solidFill>
                  <a:srgbClr val="000000"/>
                </a:solidFill>
                <a:latin typeface="Public Sans"/>
                <a:ea typeface="Public Sans"/>
                <a:cs typeface="Public Sans"/>
                <a:sym typeface="Public Sans"/>
              </a:rPr>
              <a:t>Người mắc tiểu đường (Outcome=1) có Glucose trung bình cao hơn hẳn so với người không mắc. BMI trung bình của nhóm Outcome=1 cũng cao hơn một chút. Insulin trung bình ở nhóm Outcome=1 cao hơn so với nhóm Outcome=0.</a:t>
            </a:r>
          </a:p>
          <a:p>
            <a:pPr algn="l" marL="734171" indent="-367086" lvl="1">
              <a:lnSpc>
                <a:spcPts val="6120"/>
              </a:lnSpc>
              <a:buFont typeface="Arial"/>
              <a:buChar char="•"/>
            </a:pPr>
            <a:r>
              <a:rPr lang="en-US" sz="3400">
                <a:solidFill>
                  <a:srgbClr val="000000"/>
                </a:solidFill>
                <a:latin typeface="Public Sans"/>
                <a:ea typeface="Public Sans"/>
                <a:cs typeface="Public Sans"/>
                <a:sym typeface="Public Sans"/>
              </a:rPr>
              <a:t>Boxplot cho thấy nhóm Outcome=1 có median số lần mang thai cao hơn so với nhóm Outcome=0. Có xu hướng rằng người mắc tiểu đường thường có nhiều lần mang thai hơn.</a:t>
            </a:r>
          </a:p>
          <a:p>
            <a:pPr algn="l" marL="734171" indent="-367086" lvl="1">
              <a:lnSpc>
                <a:spcPts val="6120"/>
              </a:lnSpc>
              <a:buFont typeface="Arial"/>
              <a:buChar char="•"/>
            </a:pPr>
            <a:r>
              <a:rPr lang="en-US" sz="3400">
                <a:solidFill>
                  <a:srgbClr val="000000"/>
                </a:solidFill>
                <a:latin typeface="Public Sans"/>
                <a:ea typeface="Public Sans"/>
                <a:cs typeface="Public Sans"/>
                <a:sym typeface="Public Sans"/>
              </a:rPr>
              <a:t>Người mắc tiểu đường lớn tuổi hơn trung bình 6 năm so với người không mắc.</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độ tuổi</a:t>
              </a:r>
            </a:p>
          </p:txBody>
        </p:sp>
      </p:grpSp>
      <p:sp>
        <p:nvSpPr>
          <p:cNvPr name="TextBox 7" id="7"/>
          <p:cNvSpPr txBox="true"/>
          <p:nvPr/>
        </p:nvSpPr>
        <p:spPr>
          <a:xfrm rot="0">
            <a:off x="908050" y="1743562"/>
            <a:ext cx="16459200" cy="4463740"/>
          </a:xfrm>
          <a:prstGeom prst="rect">
            <a:avLst/>
          </a:prstGeom>
        </p:spPr>
        <p:txBody>
          <a:bodyPr anchor="t" rtlCol="false" tIns="0" lIns="0" bIns="0" rIns="0">
            <a:spAutoFit/>
          </a:bodyPr>
          <a:lstStyle/>
          <a:p>
            <a:pPr algn="l" marL="597218" indent="-298609" lvl="1">
              <a:lnSpc>
                <a:spcPts val="5940"/>
              </a:lnSpc>
              <a:buFont typeface="Arial"/>
              <a:buChar char="•"/>
            </a:pPr>
            <a:r>
              <a:rPr lang="en-US" sz="3300">
                <a:solidFill>
                  <a:srgbClr val="000000"/>
                </a:solidFill>
                <a:latin typeface="Public Sans"/>
                <a:ea typeface="Public Sans"/>
                <a:cs typeface="Public Sans"/>
                <a:sym typeface="Public Sans"/>
              </a:rPr>
              <a:t>Nhóm</a:t>
            </a:r>
            <a:r>
              <a:rPr lang="en-US" sz="3300">
                <a:solidFill>
                  <a:srgbClr val="000000"/>
                </a:solidFill>
                <a:latin typeface="Public Sans"/>
                <a:ea typeface="Public Sans"/>
                <a:cs typeface="Public Sans"/>
                <a:sym typeface="Public Sans"/>
              </a:rPr>
              <a:t> tuổi nào có tỷ lệ tiểu đường cao nhất?</a:t>
            </a:r>
          </a:p>
          <a:p>
            <a:pPr algn="l" marL="597218" indent="-298609" lvl="1">
              <a:lnSpc>
                <a:spcPts val="5940"/>
              </a:lnSpc>
              <a:buFont typeface="Arial"/>
              <a:buChar char="•"/>
            </a:pPr>
            <a:r>
              <a:rPr lang="en-US" sz="3300">
                <a:solidFill>
                  <a:srgbClr val="000000"/>
                </a:solidFill>
                <a:latin typeface="Public Sans"/>
                <a:ea typeface="Public Sans"/>
                <a:cs typeface="Public Sans"/>
                <a:sym typeface="Public Sans"/>
              </a:rPr>
              <a:t>Tỷ lệ mắc tiểu đường tăng dần theo tuổi như thế nào?</a:t>
            </a:r>
          </a:p>
          <a:p>
            <a:pPr algn="l" marL="597218" indent="-298609" lvl="1">
              <a:lnSpc>
                <a:spcPts val="5940"/>
              </a:lnSpc>
              <a:buFont typeface="Arial"/>
              <a:buChar char="•"/>
            </a:pPr>
            <a:r>
              <a:rPr lang="en-US" sz="3300">
                <a:solidFill>
                  <a:srgbClr val="000000"/>
                </a:solidFill>
                <a:latin typeface="Public Sans"/>
                <a:ea typeface="Public Sans"/>
                <a:cs typeface="Public Sans"/>
                <a:sym typeface="Public Sans"/>
              </a:rPr>
              <a:t>Trong nhóm tuổi 40–50, BMI &gt; 30 thì nguy cơ cao hơn BMI &lt; 25 bao nhiêu?</a:t>
            </a:r>
          </a:p>
          <a:p>
            <a:pPr algn="l" marL="597218" indent="-298609" lvl="1">
              <a:lnSpc>
                <a:spcPts val="5940"/>
              </a:lnSpc>
              <a:buFont typeface="Arial"/>
              <a:buChar char="•"/>
            </a:pPr>
            <a:r>
              <a:rPr lang="en-US" sz="3300">
                <a:solidFill>
                  <a:srgbClr val="000000"/>
                </a:solidFill>
                <a:latin typeface="Public Sans"/>
                <a:ea typeface="Public Sans"/>
                <a:cs typeface="Public Sans"/>
                <a:sym typeface="Public Sans"/>
              </a:rPr>
              <a:t>Có mối quan hệ nào giữa tuổi và số lần mang thai không?</a:t>
            </a:r>
          </a:p>
          <a:p>
            <a:pPr algn="l">
              <a:lnSpc>
                <a:spcPts val="5940"/>
              </a:lnSpc>
            </a:pPr>
          </a:p>
          <a:p>
            <a:pPr algn="l">
              <a:lnSpc>
                <a:spcPts val="5940"/>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độ tuổi</a:t>
              </a:r>
            </a:p>
          </p:txBody>
        </p:sp>
      </p:grpSp>
      <p:sp>
        <p:nvSpPr>
          <p:cNvPr name="TextBox 7" id="7"/>
          <p:cNvSpPr txBox="true"/>
          <p:nvPr/>
        </p:nvSpPr>
        <p:spPr>
          <a:xfrm rot="0">
            <a:off x="11174294" y="2843533"/>
            <a:ext cx="6913958" cy="4418959"/>
          </a:xfrm>
          <a:prstGeom prst="rect">
            <a:avLst/>
          </a:prstGeom>
        </p:spPr>
        <p:txBody>
          <a:bodyPr anchor="t" rtlCol="false" tIns="0" lIns="0" bIns="0" rIns="0">
            <a:spAutoFit/>
          </a:bodyPr>
          <a:lstStyle/>
          <a:p>
            <a:pPr algn="l" marL="625728" indent="-312864" lvl="1">
              <a:lnSpc>
                <a:spcPts val="5877"/>
              </a:lnSpc>
              <a:buFont typeface="Arial"/>
              <a:buChar char="•"/>
            </a:pPr>
            <a:r>
              <a:rPr lang="en-US" sz="3457">
                <a:solidFill>
                  <a:srgbClr val="000000"/>
                </a:solidFill>
                <a:latin typeface="Public Sans"/>
                <a:ea typeface="Public Sans"/>
                <a:cs typeface="Public Sans"/>
                <a:sym typeface="Public Sans"/>
              </a:rPr>
              <a:t>Nhóm</a:t>
            </a:r>
            <a:r>
              <a:rPr lang="en-US" sz="3457">
                <a:solidFill>
                  <a:srgbClr val="000000"/>
                </a:solidFill>
                <a:latin typeface="Public Sans"/>
                <a:ea typeface="Public Sans"/>
                <a:cs typeface="Public Sans"/>
                <a:sym typeface="Public Sans"/>
              </a:rPr>
              <a:t> tuổi có tỷ lệ tiểu đường cao nhất là: 51- 60 tuổi</a:t>
            </a:r>
          </a:p>
          <a:p>
            <a:pPr algn="l" marL="625728" indent="-312864" lvl="1">
              <a:lnSpc>
                <a:spcPts val="5877"/>
              </a:lnSpc>
              <a:buFont typeface="Arial"/>
              <a:buChar char="•"/>
            </a:pPr>
            <a:r>
              <a:rPr lang="en-US" sz="3457">
                <a:solidFill>
                  <a:srgbClr val="000000"/>
                </a:solidFill>
                <a:latin typeface="Public Sans"/>
                <a:ea typeface="Public Sans"/>
                <a:cs typeface="Public Sans"/>
                <a:sym typeface="Public Sans"/>
              </a:rPr>
              <a:t>Tỷ lệ mắc tiểu đường tăng dần theo tuổi cho đển khoản 60 tuổi trở đi thì bắt đầu giảm</a:t>
            </a:r>
          </a:p>
          <a:p>
            <a:pPr algn="l">
              <a:lnSpc>
                <a:spcPts val="5877"/>
              </a:lnSpc>
            </a:pPr>
          </a:p>
        </p:txBody>
      </p:sp>
      <p:grpSp>
        <p:nvGrpSpPr>
          <p:cNvPr name="Group 8" id="8"/>
          <p:cNvGrpSpPr/>
          <p:nvPr/>
        </p:nvGrpSpPr>
        <p:grpSpPr>
          <a:xfrm rot="0">
            <a:off x="689129" y="1771178"/>
            <a:ext cx="10710636" cy="6744645"/>
            <a:chOff x="0" y="0"/>
            <a:chExt cx="14312120" cy="9012553"/>
          </a:xfrm>
        </p:grpSpPr>
        <p:sp>
          <p:nvSpPr>
            <p:cNvPr name="Freeform 9" id="9"/>
            <p:cNvSpPr/>
            <p:nvPr/>
          </p:nvSpPr>
          <p:spPr>
            <a:xfrm flipH="false" flipV="false" rot="0">
              <a:off x="0" y="0"/>
              <a:ext cx="14312120" cy="9012553"/>
            </a:xfrm>
            <a:custGeom>
              <a:avLst/>
              <a:gdLst/>
              <a:ahLst/>
              <a:cxnLst/>
              <a:rect r="r" b="b" t="t" l="l"/>
              <a:pathLst>
                <a:path h="9012553" w="14312120">
                  <a:moveTo>
                    <a:pt x="0" y="0"/>
                  </a:moveTo>
                  <a:lnTo>
                    <a:pt x="14312120" y="0"/>
                  </a:lnTo>
                  <a:lnTo>
                    <a:pt x="14312120" y="9012553"/>
                  </a:lnTo>
                  <a:lnTo>
                    <a:pt x="0" y="9012553"/>
                  </a:lnTo>
                  <a:lnTo>
                    <a:pt x="0" y="0"/>
                  </a:lnTo>
                  <a:close/>
                </a:path>
              </a:pathLst>
            </a:custGeom>
            <a:blipFill>
              <a:blip r:embed="rId3"/>
              <a:stretch>
                <a:fillRect l="-276" t="0" r="-276" b="0"/>
              </a:stretch>
            </a:blipFill>
          </p:spPr>
        </p:sp>
      </p:gr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độ tuổi</a:t>
              </a:r>
            </a:p>
          </p:txBody>
        </p:sp>
      </p:grpSp>
      <p:sp>
        <p:nvSpPr>
          <p:cNvPr name="Freeform 7" id="7"/>
          <p:cNvSpPr/>
          <p:nvPr/>
        </p:nvSpPr>
        <p:spPr>
          <a:xfrm flipH="false" flipV="false" rot="0">
            <a:off x="914400" y="1334643"/>
            <a:ext cx="10525708" cy="7762710"/>
          </a:xfrm>
          <a:custGeom>
            <a:avLst/>
            <a:gdLst/>
            <a:ahLst/>
            <a:cxnLst/>
            <a:rect r="r" b="b" t="t" l="l"/>
            <a:pathLst>
              <a:path h="7762710" w="10525708">
                <a:moveTo>
                  <a:pt x="0" y="0"/>
                </a:moveTo>
                <a:lnTo>
                  <a:pt x="10525708" y="0"/>
                </a:lnTo>
                <a:lnTo>
                  <a:pt x="10525708" y="7762710"/>
                </a:lnTo>
                <a:lnTo>
                  <a:pt x="0" y="7762710"/>
                </a:lnTo>
                <a:lnTo>
                  <a:pt x="0" y="0"/>
                </a:lnTo>
                <a:close/>
              </a:path>
            </a:pathLst>
          </a:custGeom>
          <a:blipFill>
            <a:blip r:embed="rId3"/>
            <a:stretch>
              <a:fillRect l="0" t="0" r="0" b="0"/>
            </a:stretch>
          </a:blipFill>
        </p:spPr>
      </p:sp>
      <p:sp>
        <p:nvSpPr>
          <p:cNvPr name="TextBox 8" id="8"/>
          <p:cNvSpPr txBox="true"/>
          <p:nvPr/>
        </p:nvSpPr>
        <p:spPr>
          <a:xfrm rot="0">
            <a:off x="11440108" y="1423777"/>
            <a:ext cx="6625952" cy="8226385"/>
          </a:xfrm>
          <a:prstGeom prst="rect">
            <a:avLst/>
          </a:prstGeom>
        </p:spPr>
        <p:txBody>
          <a:bodyPr anchor="t" rtlCol="false" tIns="0" lIns="0" bIns="0" rIns="0">
            <a:spAutoFit/>
          </a:bodyPr>
          <a:lstStyle/>
          <a:p>
            <a:pPr algn="l">
              <a:lnSpc>
                <a:spcPts val="5940"/>
              </a:lnSpc>
            </a:pPr>
          </a:p>
          <a:p>
            <a:pPr algn="l" marL="597218" indent="-298609" lvl="1">
              <a:lnSpc>
                <a:spcPts val="5940"/>
              </a:lnSpc>
              <a:buFont typeface="Arial"/>
              <a:buChar char="•"/>
            </a:pPr>
            <a:r>
              <a:rPr lang="en-US" sz="3300">
                <a:solidFill>
                  <a:srgbClr val="000000"/>
                </a:solidFill>
                <a:latin typeface="Public Sans"/>
                <a:ea typeface="Public Sans"/>
                <a:cs typeface="Public Sans"/>
                <a:sym typeface="Public Sans"/>
              </a:rPr>
              <a:t>Trong nhóm tuổi 40–50, người có BMI&gt;30 có nguy cơ tiểu đường cao hơn hẳn so với BMI&lt;25.</a:t>
            </a:r>
          </a:p>
          <a:p>
            <a:pPr algn="l" marL="597218" indent="-298609" lvl="1">
              <a:lnSpc>
                <a:spcPts val="5940"/>
              </a:lnSpc>
              <a:buFont typeface="Arial"/>
              <a:buChar char="•"/>
            </a:pPr>
            <a:r>
              <a:rPr lang="en-US" b="true" sz="3300">
                <a:solidFill>
                  <a:srgbClr val="000000"/>
                </a:solidFill>
                <a:latin typeface="Public Sans Bold"/>
                <a:ea typeface="Public Sans Bold"/>
                <a:cs typeface="Public Sans Bold"/>
                <a:sym typeface="Public Sans Bold"/>
              </a:rPr>
              <a:t>Kết luận</a:t>
            </a:r>
            <a:r>
              <a:rPr lang="en-US" sz="3300">
                <a:solidFill>
                  <a:srgbClr val="000000"/>
                </a:solidFill>
                <a:latin typeface="Public Sans"/>
                <a:ea typeface="Public Sans"/>
                <a:cs typeface="Public Sans"/>
                <a:sym typeface="Public Sans"/>
              </a:rPr>
              <a:t>: BMI cao là yếu tố mạnh quyết định nguy cơ tiểu đường, ngay cả khi tuổi giống nhau.</a:t>
            </a:r>
          </a:p>
          <a:p>
            <a:pPr algn="l">
              <a:lnSpc>
                <a:spcPts val="5940"/>
              </a:lnSpc>
            </a:pPr>
          </a:p>
          <a:p>
            <a:pPr algn="l">
              <a:lnSpc>
                <a:spcPts val="5940"/>
              </a:lnSpc>
            </a:pP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tuổi</a:t>
              </a:r>
            </a:p>
          </p:txBody>
        </p:sp>
      </p:grpSp>
      <p:grpSp>
        <p:nvGrpSpPr>
          <p:cNvPr name="Group 7" id="7"/>
          <p:cNvGrpSpPr/>
          <p:nvPr/>
        </p:nvGrpSpPr>
        <p:grpSpPr>
          <a:xfrm rot="0">
            <a:off x="2781686" y="1494441"/>
            <a:ext cx="12711928" cy="8306072"/>
            <a:chOff x="0" y="0"/>
            <a:chExt cx="13793152" cy="9012553"/>
          </a:xfrm>
        </p:grpSpPr>
        <p:sp>
          <p:nvSpPr>
            <p:cNvPr name="Freeform 8" id="8"/>
            <p:cNvSpPr/>
            <p:nvPr/>
          </p:nvSpPr>
          <p:spPr>
            <a:xfrm flipH="false" flipV="false" rot="0">
              <a:off x="0" y="0"/>
              <a:ext cx="13793152" cy="9012553"/>
            </a:xfrm>
            <a:custGeom>
              <a:avLst/>
              <a:gdLst/>
              <a:ahLst/>
              <a:cxnLst/>
              <a:rect r="r" b="b" t="t" l="l"/>
              <a:pathLst>
                <a:path h="9012553" w="13793152">
                  <a:moveTo>
                    <a:pt x="0" y="0"/>
                  </a:moveTo>
                  <a:lnTo>
                    <a:pt x="13793152" y="0"/>
                  </a:lnTo>
                  <a:lnTo>
                    <a:pt x="13793152" y="9012553"/>
                  </a:lnTo>
                  <a:lnTo>
                    <a:pt x="0" y="9012553"/>
                  </a:lnTo>
                  <a:lnTo>
                    <a:pt x="0" y="0"/>
                  </a:lnTo>
                  <a:close/>
                </a:path>
              </a:pathLst>
            </a:custGeom>
            <a:blipFill>
              <a:blip r:embed="rId3"/>
              <a:stretch>
                <a:fillRect l="0" t="-695" r="0" b="-695"/>
              </a:stretch>
            </a:blipFill>
          </p:spPr>
        </p:sp>
      </p:gr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tuổi</a:t>
              </a:r>
            </a:p>
          </p:txBody>
        </p:sp>
      </p:grpSp>
      <p:sp>
        <p:nvSpPr>
          <p:cNvPr name="TextBox 7" id="7"/>
          <p:cNvSpPr txBox="true"/>
          <p:nvPr/>
        </p:nvSpPr>
        <p:spPr>
          <a:xfrm rot="0">
            <a:off x="914400" y="1944502"/>
            <a:ext cx="15995369" cy="5270954"/>
          </a:xfrm>
          <a:prstGeom prst="rect">
            <a:avLst/>
          </a:prstGeom>
        </p:spPr>
        <p:txBody>
          <a:bodyPr anchor="t" rtlCol="false" tIns="0" lIns="0" bIns="0" rIns="0">
            <a:spAutoFit/>
          </a:bodyPr>
          <a:lstStyle/>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Một số phụ</a:t>
            </a:r>
            <a:r>
              <a:rPr lang="en-US" sz="3316">
                <a:solidFill>
                  <a:srgbClr val="000000"/>
                </a:solidFill>
                <a:latin typeface="Public Sans"/>
                <a:ea typeface="Public Sans"/>
                <a:cs typeface="Public Sans"/>
                <a:sym typeface="Public Sans"/>
              </a:rPr>
              <a:t> nữ trẻ (~20–30 tuổi) đã có nhiều lần mang thai (5–10 lần), nhưng phần lớn nằm ở 0–5 lần.</a:t>
            </a:r>
          </a:p>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Phụ nữ lớn tuổi (~50–60 tuổi) có số lần mang thai khá đa dạng, nhưng trung bình vẫn cao hơn nhóm trẻ.</a:t>
            </a:r>
          </a:p>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Ảnh hưởng của Outcome: Không có sự phân tách rõ ràng giữa Outcome=0 và Outcome=1 theo số lần mang thai</a:t>
            </a:r>
          </a:p>
          <a:p>
            <a:pPr algn="l">
              <a:lnSpc>
                <a:spcPts val="6472"/>
              </a:lnSpc>
            </a:pP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1047750" y="504253"/>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số lần mang thai</a:t>
              </a:r>
            </a:p>
          </p:txBody>
        </p:sp>
      </p:grpSp>
      <p:sp>
        <p:nvSpPr>
          <p:cNvPr name="TextBox 7" id="7"/>
          <p:cNvSpPr txBox="true"/>
          <p:nvPr/>
        </p:nvSpPr>
        <p:spPr>
          <a:xfrm rot="0">
            <a:off x="1047750" y="1905597"/>
            <a:ext cx="15995369" cy="4518425"/>
          </a:xfrm>
          <a:prstGeom prst="rect">
            <a:avLst/>
          </a:prstGeom>
        </p:spPr>
        <p:txBody>
          <a:bodyPr anchor="t" rtlCol="false" tIns="0" lIns="0" bIns="0" rIns="0">
            <a:spAutoFit/>
          </a:bodyPr>
          <a:lstStyle/>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Phâ</a:t>
            </a:r>
            <a:r>
              <a:rPr lang="en-US" sz="3316">
                <a:solidFill>
                  <a:srgbClr val="000000"/>
                </a:solidFill>
                <a:latin typeface="Public Sans"/>
                <a:ea typeface="Public Sans"/>
                <a:cs typeface="Public Sans"/>
                <a:sym typeface="Public Sans"/>
              </a:rPr>
              <a:t>n bố số lần mang thai (Pregnancies) trong dataset như thế nào?</a:t>
            </a:r>
          </a:p>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Người có nhiều lần mang thai hơn có nguy cơ tiểu đường cao hơn không?</a:t>
            </a:r>
          </a:p>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Có ngưỡng số lần mang thai nào làm tăng nguy cơ tiểu đường? </a:t>
            </a:r>
          </a:p>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So sánh số lần mang thai trung bình giữa nhóm có tiểu đường (Outcome=1) và nhóm không có tiểu đường (Outcome=0).</a:t>
            </a:r>
          </a:p>
          <a:p>
            <a:pPr algn="l">
              <a:lnSpc>
                <a:spcPts val="6472"/>
              </a:lnSpc>
            </a:pP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00100" y="504253"/>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số lần mang thai</a:t>
              </a:r>
            </a:p>
          </p:txBody>
        </p:sp>
      </p:grpSp>
      <p:sp>
        <p:nvSpPr>
          <p:cNvPr name="Freeform 7" id="7"/>
          <p:cNvSpPr/>
          <p:nvPr/>
        </p:nvSpPr>
        <p:spPr>
          <a:xfrm flipH="false" flipV="false" rot="0">
            <a:off x="800100" y="2132052"/>
            <a:ext cx="9950664" cy="6343548"/>
          </a:xfrm>
          <a:custGeom>
            <a:avLst/>
            <a:gdLst/>
            <a:ahLst/>
            <a:cxnLst/>
            <a:rect r="r" b="b" t="t" l="l"/>
            <a:pathLst>
              <a:path h="6343548" w="9950664">
                <a:moveTo>
                  <a:pt x="0" y="0"/>
                </a:moveTo>
                <a:lnTo>
                  <a:pt x="9950664" y="0"/>
                </a:lnTo>
                <a:lnTo>
                  <a:pt x="9950664" y="6343548"/>
                </a:lnTo>
                <a:lnTo>
                  <a:pt x="0" y="6343548"/>
                </a:lnTo>
                <a:lnTo>
                  <a:pt x="0" y="0"/>
                </a:lnTo>
                <a:close/>
              </a:path>
            </a:pathLst>
          </a:custGeom>
          <a:blipFill>
            <a:blip r:embed="rId3"/>
            <a:stretch>
              <a:fillRect l="0" t="0" r="0" b="0"/>
            </a:stretch>
          </a:blipFill>
        </p:spPr>
      </p:sp>
      <p:sp>
        <p:nvSpPr>
          <p:cNvPr name="TextBox 8" id="8"/>
          <p:cNvSpPr txBox="true"/>
          <p:nvPr/>
        </p:nvSpPr>
        <p:spPr>
          <a:xfrm rot="0">
            <a:off x="10621022" y="1932027"/>
            <a:ext cx="7416182" cy="6720095"/>
          </a:xfrm>
          <a:prstGeom prst="rect">
            <a:avLst/>
          </a:prstGeom>
        </p:spPr>
        <p:txBody>
          <a:bodyPr anchor="t" rtlCol="false" tIns="0" lIns="0" bIns="0" rIns="0">
            <a:spAutoFit/>
          </a:bodyPr>
          <a:lstStyle/>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Nguy cơ tiểu đường tă</a:t>
            </a:r>
            <a:r>
              <a:rPr lang="en-US" sz="3316">
                <a:solidFill>
                  <a:srgbClr val="000000"/>
                </a:solidFill>
                <a:latin typeface="Public Sans"/>
                <a:ea typeface="Public Sans"/>
                <a:cs typeface="Public Sans"/>
                <a:sym typeface="Public Sans"/>
              </a:rPr>
              <a:t>ng theo số lần mang thai:</a:t>
            </a:r>
          </a:p>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Nhóm chưa từng mang thai có nguy cơ thấp</a:t>
            </a:r>
          </a:p>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Nhóm mang thai nhiều lần (6+) có nguy cơ cao nhất</a:t>
            </a:r>
          </a:p>
          <a:p>
            <a:pPr algn="l" marL="600143" indent="-300071" lvl="1">
              <a:lnSpc>
                <a:spcPts val="5969"/>
              </a:lnSpc>
              <a:buFont typeface="Arial"/>
              <a:buChar char="•"/>
            </a:pPr>
            <a:r>
              <a:rPr lang="en-US" sz="3316">
                <a:solidFill>
                  <a:srgbClr val="000000"/>
                </a:solidFill>
                <a:latin typeface="Public Sans"/>
                <a:ea typeface="Public Sans"/>
                <a:cs typeface="Public Sans"/>
                <a:sym typeface="Public Sans"/>
              </a:rPr>
              <a:t>Biểu đồ cho thấy mối quan hệ rõ ràng giữa số lần mang thai và tỷ lệ mắc tiểu đường.</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00100" y="504253"/>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số lần mang thai</a:t>
              </a:r>
            </a:p>
          </p:txBody>
        </p:sp>
      </p:grpSp>
      <p:sp>
        <p:nvSpPr>
          <p:cNvPr name="Freeform 7" id="7"/>
          <p:cNvSpPr/>
          <p:nvPr/>
        </p:nvSpPr>
        <p:spPr>
          <a:xfrm flipH="false" flipV="false" rot="0">
            <a:off x="800100" y="2215228"/>
            <a:ext cx="10522501" cy="6722718"/>
          </a:xfrm>
          <a:custGeom>
            <a:avLst/>
            <a:gdLst/>
            <a:ahLst/>
            <a:cxnLst/>
            <a:rect r="r" b="b" t="t" l="l"/>
            <a:pathLst>
              <a:path h="6722718" w="10522501">
                <a:moveTo>
                  <a:pt x="0" y="0"/>
                </a:moveTo>
                <a:lnTo>
                  <a:pt x="10522501" y="0"/>
                </a:lnTo>
                <a:lnTo>
                  <a:pt x="10522501" y="6722718"/>
                </a:lnTo>
                <a:lnTo>
                  <a:pt x="0" y="6722718"/>
                </a:lnTo>
                <a:lnTo>
                  <a:pt x="0" y="0"/>
                </a:lnTo>
                <a:close/>
              </a:path>
            </a:pathLst>
          </a:custGeom>
          <a:blipFill>
            <a:blip r:embed="rId3"/>
            <a:stretch>
              <a:fillRect l="-907" t="0" r="-907" b="0"/>
            </a:stretch>
          </a:blipFill>
        </p:spPr>
      </p:sp>
      <p:sp>
        <p:nvSpPr>
          <p:cNvPr name="TextBox 8" id="8"/>
          <p:cNvSpPr txBox="true"/>
          <p:nvPr/>
        </p:nvSpPr>
        <p:spPr>
          <a:xfrm rot="0">
            <a:off x="11322601" y="2812192"/>
            <a:ext cx="6788678" cy="4462592"/>
          </a:xfrm>
          <a:prstGeom prst="rect">
            <a:avLst/>
          </a:prstGeom>
        </p:spPr>
        <p:txBody>
          <a:bodyPr anchor="t" rtlCol="false" tIns="0" lIns="0" bIns="0" rIns="0">
            <a:spAutoFit/>
          </a:bodyPr>
          <a:lstStyle/>
          <a:p>
            <a:pPr algn="l">
              <a:lnSpc>
                <a:spcPts val="5967"/>
              </a:lnSpc>
            </a:pPr>
          </a:p>
          <a:p>
            <a:pPr algn="l" marL="599944" indent="-299972" lvl="1">
              <a:lnSpc>
                <a:spcPts val="5967"/>
              </a:lnSpc>
              <a:buFont typeface="Arial"/>
              <a:buChar char="•"/>
            </a:pPr>
            <a:r>
              <a:rPr lang="en-US" sz="3315">
                <a:solidFill>
                  <a:srgbClr val="000000"/>
                </a:solidFill>
                <a:latin typeface="Public Sans"/>
                <a:ea typeface="Public Sans"/>
                <a:cs typeface="Public Sans"/>
                <a:sym typeface="Public Sans"/>
              </a:rPr>
              <a:t>Nhóm 0–2 là nhóm có nguy cơ thấp nhất.</a:t>
            </a:r>
          </a:p>
          <a:p>
            <a:pPr algn="l" marL="599944" indent="-299972" lvl="1">
              <a:lnSpc>
                <a:spcPts val="5967"/>
              </a:lnSpc>
              <a:buFont typeface="Arial"/>
              <a:buChar char="•"/>
            </a:pPr>
            <a:r>
              <a:rPr lang="en-US" sz="3315">
                <a:solidFill>
                  <a:srgbClr val="000000"/>
                </a:solidFill>
                <a:latin typeface="Public Sans"/>
                <a:ea typeface="Public Sans"/>
                <a:cs typeface="Public Sans"/>
                <a:sym typeface="Public Sans"/>
              </a:rPr>
              <a:t>Từ khoảng 6 lần mang thai trở lên, nguy cơ mắc tiểu đường bắt đầu tăng rõ.</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00100" y="504253"/>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số lần mang thai</a:t>
              </a:r>
            </a:p>
          </p:txBody>
        </p:sp>
      </p:grpSp>
      <p:sp>
        <p:nvSpPr>
          <p:cNvPr name="TextBox 7" id="7"/>
          <p:cNvSpPr txBox="true"/>
          <p:nvPr/>
        </p:nvSpPr>
        <p:spPr>
          <a:xfrm rot="0">
            <a:off x="10310792" y="2265352"/>
            <a:ext cx="6948508" cy="6813006"/>
          </a:xfrm>
          <a:prstGeom prst="rect">
            <a:avLst/>
          </a:prstGeom>
        </p:spPr>
        <p:txBody>
          <a:bodyPr anchor="t" rtlCol="false" tIns="0" lIns="0" bIns="0" rIns="0">
            <a:spAutoFit/>
          </a:bodyPr>
          <a:lstStyle/>
          <a:p>
            <a:pPr algn="l" marL="604542" indent="-302271" lvl="1">
              <a:lnSpc>
                <a:spcPts val="6012"/>
              </a:lnSpc>
              <a:buFont typeface="Arial"/>
              <a:buChar char="•"/>
            </a:pPr>
            <a:r>
              <a:rPr lang="en-US" sz="3340">
                <a:solidFill>
                  <a:srgbClr val="000000"/>
                </a:solidFill>
                <a:latin typeface="Public Sans"/>
                <a:ea typeface="Public Sans"/>
                <a:cs typeface="Public Sans"/>
                <a:sym typeface="Public Sans"/>
              </a:rPr>
              <a:t>Không tiểu đường: trung bình 3.30 lần mang thai</a:t>
            </a:r>
          </a:p>
          <a:p>
            <a:pPr algn="l" marL="604542" indent="-302271" lvl="1">
              <a:lnSpc>
                <a:spcPts val="6012"/>
              </a:lnSpc>
              <a:buFont typeface="Arial"/>
              <a:buChar char="•"/>
            </a:pPr>
            <a:r>
              <a:rPr lang="en-US" sz="3340">
                <a:solidFill>
                  <a:srgbClr val="000000"/>
                </a:solidFill>
                <a:latin typeface="Public Sans"/>
                <a:ea typeface="Public Sans"/>
                <a:cs typeface="Public Sans"/>
                <a:sym typeface="Public Sans"/>
              </a:rPr>
              <a:t> Có tiểu đường: 4.87 trung bình lần mang thai</a:t>
            </a:r>
          </a:p>
          <a:p>
            <a:pPr algn="l">
              <a:lnSpc>
                <a:spcPts val="6012"/>
              </a:lnSpc>
            </a:pPr>
            <a:r>
              <a:rPr lang="en-US" sz="3340">
                <a:solidFill>
                  <a:srgbClr val="000000"/>
                </a:solidFill>
                <a:latin typeface="Public Sans"/>
                <a:ea typeface="Public Sans"/>
                <a:cs typeface="Public Sans"/>
                <a:sym typeface="Public Sans"/>
              </a:rPr>
              <a:t>=&gt;    Pregnancies có thể là yếu tố hỗ trợ phân loại nguy cơ, dù không phải là biến mạnh nhất.</a:t>
            </a:r>
          </a:p>
          <a:p>
            <a:pPr algn="l">
              <a:lnSpc>
                <a:spcPts val="6012"/>
              </a:lnSpc>
            </a:pPr>
          </a:p>
          <a:p>
            <a:pPr algn="l">
              <a:lnSpc>
                <a:spcPts val="6012"/>
              </a:lnSpc>
            </a:pPr>
          </a:p>
        </p:txBody>
      </p:sp>
      <p:grpSp>
        <p:nvGrpSpPr>
          <p:cNvPr name="Group 8" id="8"/>
          <p:cNvGrpSpPr/>
          <p:nvPr/>
        </p:nvGrpSpPr>
        <p:grpSpPr>
          <a:xfrm rot="0">
            <a:off x="800100" y="2214328"/>
            <a:ext cx="8939401" cy="6664282"/>
            <a:chOff x="0" y="0"/>
            <a:chExt cx="13283829" cy="9903034"/>
          </a:xfrm>
        </p:grpSpPr>
        <p:sp>
          <p:nvSpPr>
            <p:cNvPr name="Freeform 9" id="9"/>
            <p:cNvSpPr/>
            <p:nvPr/>
          </p:nvSpPr>
          <p:spPr>
            <a:xfrm flipH="false" flipV="false" rot="0">
              <a:off x="0" y="0"/>
              <a:ext cx="13283829" cy="9903034"/>
            </a:xfrm>
            <a:custGeom>
              <a:avLst/>
              <a:gdLst/>
              <a:ahLst/>
              <a:cxnLst/>
              <a:rect r="r" b="b" t="t" l="l"/>
              <a:pathLst>
                <a:path h="9903034" w="13283829">
                  <a:moveTo>
                    <a:pt x="0" y="0"/>
                  </a:moveTo>
                  <a:lnTo>
                    <a:pt x="13283829" y="0"/>
                  </a:lnTo>
                  <a:lnTo>
                    <a:pt x="13283829" y="9903034"/>
                  </a:lnTo>
                  <a:lnTo>
                    <a:pt x="0" y="9903034"/>
                  </a:lnTo>
                  <a:lnTo>
                    <a:pt x="0" y="0"/>
                  </a:lnTo>
                  <a:close/>
                </a:path>
              </a:pathLst>
            </a:custGeom>
            <a:blipFill>
              <a:blip r:embed="rId3"/>
              <a:stretch>
                <a:fillRect l="0" t="-218" r="0" b="-218"/>
              </a:stretch>
            </a:blipFill>
          </p:spPr>
        </p:sp>
      </p:gr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752475" y="504253"/>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MBI</a:t>
              </a:r>
            </a:p>
          </p:txBody>
        </p:sp>
      </p:grpSp>
      <p:sp>
        <p:nvSpPr>
          <p:cNvPr name="TextBox 7" id="7"/>
          <p:cNvSpPr txBox="true"/>
          <p:nvPr/>
        </p:nvSpPr>
        <p:spPr>
          <a:xfrm rot="0">
            <a:off x="752475" y="1994719"/>
            <a:ext cx="16731136" cy="3290603"/>
          </a:xfrm>
          <a:prstGeom prst="rect">
            <a:avLst/>
          </a:prstGeom>
        </p:spPr>
        <p:txBody>
          <a:bodyPr anchor="t" rtlCol="false" tIns="0" lIns="0" bIns="0" rIns="0">
            <a:spAutoFit/>
          </a:bodyPr>
          <a:lstStyle/>
          <a:p>
            <a:pPr algn="l" marL="667762" indent="-333881" lvl="1">
              <a:lnSpc>
                <a:spcPts val="6641"/>
              </a:lnSpc>
              <a:buFont typeface="Arial"/>
              <a:buChar char="•"/>
            </a:pPr>
            <a:r>
              <a:rPr lang="en-US" sz="3689">
                <a:solidFill>
                  <a:srgbClr val="000000"/>
                </a:solidFill>
                <a:latin typeface="Public Sans"/>
                <a:ea typeface="Public Sans"/>
                <a:cs typeface="Public Sans"/>
                <a:sym typeface="Public Sans"/>
              </a:rPr>
              <a:t>Phân bố chỉ số BMI trong dataset như thế nào? </a:t>
            </a:r>
          </a:p>
          <a:p>
            <a:pPr algn="l" marL="667762" indent="-333881" lvl="1">
              <a:lnSpc>
                <a:spcPts val="6641"/>
              </a:lnSpc>
              <a:buFont typeface="Arial"/>
              <a:buChar char="•"/>
            </a:pPr>
            <a:r>
              <a:rPr lang="en-US" sz="3689">
                <a:solidFill>
                  <a:srgbClr val="000000"/>
                </a:solidFill>
                <a:latin typeface="Public Sans"/>
                <a:ea typeface="Public Sans"/>
                <a:cs typeface="Public Sans"/>
                <a:sym typeface="Public Sans"/>
              </a:rPr>
              <a:t>Nếu phân nhóm (Underweight &lt;18.5, Normal 18.5–24.9, Overweight 25–29.9, Obese &gt;=30), Outcome=1 xuất hiện nhiều ở nhóm nào? </a:t>
            </a:r>
          </a:p>
          <a:p>
            <a:pPr algn="l" marL="667762" indent="-333881" lvl="1">
              <a:lnSpc>
                <a:spcPts val="6641"/>
              </a:lnSpc>
              <a:buFont typeface="Arial"/>
              <a:buChar char="•"/>
            </a:pPr>
            <a:r>
              <a:rPr lang="en-US" sz="3689">
                <a:solidFill>
                  <a:srgbClr val="000000"/>
                </a:solidFill>
                <a:latin typeface="Public Sans"/>
                <a:ea typeface="Public Sans"/>
                <a:cs typeface="Public Sans"/>
                <a:sym typeface="Public Sans"/>
              </a:rPr>
              <a:t>BMI cao có đi kèm với Glucose cao không?</a:t>
            </a:r>
          </a:p>
        </p:txBody>
      </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10179717" y="1665754"/>
            <a:ext cx="7329266" cy="1603113"/>
            <a:chOff x="0" y="0"/>
            <a:chExt cx="9772354" cy="2137484"/>
          </a:xfrm>
        </p:grpSpPr>
        <p:sp>
          <p:nvSpPr>
            <p:cNvPr name="Freeform 5" id="5"/>
            <p:cNvSpPr/>
            <p:nvPr/>
          </p:nvSpPr>
          <p:spPr>
            <a:xfrm flipH="false" flipV="false" rot="0">
              <a:off x="0" y="0"/>
              <a:ext cx="9772355" cy="2137484"/>
            </a:xfrm>
            <a:custGeom>
              <a:avLst/>
              <a:gdLst/>
              <a:ahLst/>
              <a:cxnLst/>
              <a:rect r="r" b="b" t="t" l="l"/>
              <a:pathLst>
                <a:path h="2137484" w="9772355">
                  <a:moveTo>
                    <a:pt x="0" y="0"/>
                  </a:moveTo>
                  <a:lnTo>
                    <a:pt x="9772355" y="0"/>
                  </a:lnTo>
                  <a:lnTo>
                    <a:pt x="9772355" y="2137484"/>
                  </a:lnTo>
                  <a:lnTo>
                    <a:pt x="0" y="2137484"/>
                  </a:lnTo>
                  <a:close/>
                </a:path>
              </a:pathLst>
            </a:custGeom>
            <a:solidFill>
              <a:srgbClr val="000000">
                <a:alpha val="0"/>
              </a:srgbClr>
            </a:solidFill>
          </p:spPr>
        </p:sp>
        <p:sp>
          <p:nvSpPr>
            <p:cNvPr name="TextBox 6" id="6"/>
            <p:cNvSpPr txBox="true"/>
            <p:nvPr/>
          </p:nvSpPr>
          <p:spPr>
            <a:xfrm>
              <a:off x="0" y="-9525"/>
              <a:ext cx="9772354" cy="2147009"/>
            </a:xfrm>
            <a:prstGeom prst="rect">
              <a:avLst/>
            </a:prstGeom>
          </p:spPr>
          <p:txBody>
            <a:bodyPr anchor="ctr" rtlCol="false" tIns="0" lIns="0" bIns="0" rIns="0"/>
            <a:lstStyle/>
            <a:p>
              <a:pPr algn="l">
                <a:lnSpc>
                  <a:spcPts val="5400"/>
                </a:lnSpc>
              </a:pPr>
              <a:r>
                <a:rPr lang="en-US" sz="4500" b="true">
                  <a:solidFill>
                    <a:srgbClr val="000000"/>
                  </a:solidFill>
                  <a:latin typeface="Public Sans Bold"/>
                  <a:ea typeface="Public Sans Bold"/>
                  <a:cs typeface="Public Sans Bold"/>
                  <a:sym typeface="Public Sans Bold"/>
                </a:rPr>
                <a:t>Phân bố chỉ số BMI trong dataset như thế nào? </a:t>
              </a:r>
            </a:p>
          </p:txBody>
        </p:sp>
      </p:grpSp>
      <p:sp>
        <p:nvSpPr>
          <p:cNvPr name="TextBox 7" id="7"/>
          <p:cNvSpPr txBox="true"/>
          <p:nvPr/>
        </p:nvSpPr>
        <p:spPr>
          <a:xfrm rot="0">
            <a:off x="9860121" y="3527937"/>
            <a:ext cx="7648862" cy="4966949"/>
          </a:xfrm>
          <a:prstGeom prst="rect">
            <a:avLst/>
          </a:prstGeom>
        </p:spPr>
        <p:txBody>
          <a:bodyPr anchor="t" rtlCol="false" tIns="0" lIns="0" bIns="0" rIns="0">
            <a:spAutoFit/>
          </a:bodyPr>
          <a:lstStyle/>
          <a:p>
            <a:pPr algn="l" marL="667764" indent="-333882" lvl="1">
              <a:lnSpc>
                <a:spcPts val="6641"/>
              </a:lnSpc>
              <a:buFont typeface="Arial"/>
              <a:buChar char="•"/>
            </a:pPr>
            <a:r>
              <a:rPr lang="en-US" sz="3689">
                <a:solidFill>
                  <a:srgbClr val="000000"/>
                </a:solidFill>
                <a:latin typeface="Public Sans"/>
                <a:ea typeface="Public Sans"/>
                <a:cs typeface="Public Sans"/>
                <a:sym typeface="Public Sans"/>
              </a:rPr>
              <a:t>Phân bố gần chuẩn, tập trung nhiều ở khoảng 25–35</a:t>
            </a:r>
          </a:p>
          <a:p>
            <a:pPr algn="l" marL="667764" indent="-333882" lvl="1">
              <a:lnSpc>
                <a:spcPts val="6641"/>
              </a:lnSpc>
              <a:buFont typeface="Arial"/>
              <a:buChar char="•"/>
            </a:pPr>
            <a:r>
              <a:rPr lang="en-US" sz="3689">
                <a:solidFill>
                  <a:srgbClr val="000000"/>
                </a:solidFill>
                <a:latin typeface="Public Sans"/>
                <a:ea typeface="Public Sans"/>
                <a:cs typeface="Public Sans"/>
                <a:sym typeface="Public Sans"/>
              </a:rPr>
              <a:t>Một số giá trị &gt;50 → có thể là outlier </a:t>
            </a:r>
          </a:p>
          <a:p>
            <a:pPr algn="l" marL="667764" indent="-333882" lvl="1">
              <a:lnSpc>
                <a:spcPts val="6641"/>
              </a:lnSpc>
              <a:buFont typeface="Arial"/>
              <a:buChar char="•"/>
            </a:pPr>
            <a:r>
              <a:rPr lang="en-US" sz="3689">
                <a:solidFill>
                  <a:srgbClr val="000000"/>
                </a:solidFill>
                <a:latin typeface="Public Sans"/>
                <a:ea typeface="Public Sans"/>
                <a:cs typeface="Public Sans"/>
                <a:sym typeface="Public Sans"/>
              </a:rPr>
              <a:t>BMI trung bình quanh mức 30</a:t>
            </a:r>
          </a:p>
          <a:p>
            <a:pPr algn="l">
              <a:lnSpc>
                <a:spcPts val="6641"/>
              </a:lnSpc>
            </a:pPr>
          </a:p>
        </p:txBody>
      </p:sp>
      <p:grpSp>
        <p:nvGrpSpPr>
          <p:cNvPr name="Group 8" id="8"/>
          <p:cNvGrpSpPr/>
          <p:nvPr/>
        </p:nvGrpSpPr>
        <p:grpSpPr>
          <a:xfrm rot="0">
            <a:off x="307539" y="1665754"/>
            <a:ext cx="9552582" cy="6235801"/>
            <a:chOff x="0" y="0"/>
            <a:chExt cx="13949125" cy="9105808"/>
          </a:xfrm>
        </p:grpSpPr>
        <p:sp>
          <p:nvSpPr>
            <p:cNvPr name="Freeform 9" id="9"/>
            <p:cNvSpPr/>
            <p:nvPr/>
          </p:nvSpPr>
          <p:spPr>
            <a:xfrm flipH="false" flipV="false" rot="0">
              <a:off x="0" y="0"/>
              <a:ext cx="13949125" cy="9105808"/>
            </a:xfrm>
            <a:custGeom>
              <a:avLst/>
              <a:gdLst/>
              <a:ahLst/>
              <a:cxnLst/>
              <a:rect r="r" b="b" t="t" l="l"/>
              <a:pathLst>
                <a:path h="9105808" w="13949125">
                  <a:moveTo>
                    <a:pt x="0" y="0"/>
                  </a:moveTo>
                  <a:lnTo>
                    <a:pt x="13949125" y="0"/>
                  </a:lnTo>
                  <a:lnTo>
                    <a:pt x="13949125" y="9105808"/>
                  </a:lnTo>
                  <a:lnTo>
                    <a:pt x="0" y="9105808"/>
                  </a:lnTo>
                  <a:lnTo>
                    <a:pt x="0" y="0"/>
                  </a:lnTo>
                  <a:close/>
                </a:path>
              </a:pathLst>
            </a:custGeom>
            <a:blipFill>
              <a:blip r:embed="rId3"/>
              <a:stretch>
                <a:fillRect l="-21" t="0" r="-21" b="0"/>
              </a:stretch>
            </a:blipFill>
          </p:spPr>
        </p:sp>
      </p:grpSp>
    </p:spTree>
  </p:cSld>
  <p:clrMapOvr>
    <a:masterClrMapping/>
  </p:clrMapOvr>
  <p:transition spd="fast">
    <p:fade/>
  </p:transition>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928276" y="1438190"/>
            <a:ext cx="8331024" cy="1637156"/>
            <a:chOff x="0" y="0"/>
            <a:chExt cx="11050741" cy="2171616"/>
          </a:xfrm>
        </p:grpSpPr>
        <p:sp>
          <p:nvSpPr>
            <p:cNvPr name="Freeform 5" id="5"/>
            <p:cNvSpPr/>
            <p:nvPr/>
          </p:nvSpPr>
          <p:spPr>
            <a:xfrm flipH="false" flipV="false" rot="0">
              <a:off x="0" y="0"/>
              <a:ext cx="11050741" cy="2171616"/>
            </a:xfrm>
            <a:custGeom>
              <a:avLst/>
              <a:gdLst/>
              <a:ahLst/>
              <a:cxnLst/>
              <a:rect r="r" b="b" t="t" l="l"/>
              <a:pathLst>
                <a:path h="2171616" w="11050741">
                  <a:moveTo>
                    <a:pt x="0" y="0"/>
                  </a:moveTo>
                  <a:lnTo>
                    <a:pt x="11050741" y="0"/>
                  </a:lnTo>
                  <a:lnTo>
                    <a:pt x="11050741" y="2171616"/>
                  </a:lnTo>
                  <a:lnTo>
                    <a:pt x="0" y="2171616"/>
                  </a:lnTo>
                  <a:close/>
                </a:path>
              </a:pathLst>
            </a:custGeom>
            <a:solidFill>
              <a:srgbClr val="000000">
                <a:alpha val="0"/>
              </a:srgbClr>
            </a:solidFill>
          </p:spPr>
        </p:sp>
        <p:sp>
          <p:nvSpPr>
            <p:cNvPr name="TextBox 6" id="6"/>
            <p:cNvSpPr txBox="true"/>
            <p:nvPr/>
          </p:nvSpPr>
          <p:spPr>
            <a:xfrm>
              <a:off x="0" y="-9525"/>
              <a:ext cx="11050741" cy="2181141"/>
            </a:xfrm>
            <a:prstGeom prst="rect">
              <a:avLst/>
            </a:prstGeom>
          </p:spPr>
          <p:txBody>
            <a:bodyPr anchor="ctr" rtlCol="false" tIns="0" lIns="0" bIns="0" rIns="0"/>
            <a:lstStyle/>
            <a:p>
              <a:pPr algn="l">
                <a:lnSpc>
                  <a:spcPts val="5400"/>
                </a:lnSpc>
              </a:pPr>
              <a:r>
                <a:rPr lang="en-US" sz="4500" b="true">
                  <a:solidFill>
                    <a:srgbClr val="000000"/>
                  </a:solidFill>
                  <a:latin typeface="Public Sans Bold"/>
                  <a:ea typeface="Public Sans Bold"/>
                  <a:cs typeface="Public Sans Bold"/>
                  <a:sym typeface="Public Sans Bold"/>
                </a:rPr>
                <a:t>Nguy cơ tiểu đường xuất hiện nhiều ở nhóm BMI nào?</a:t>
              </a:r>
            </a:p>
          </p:txBody>
        </p:sp>
      </p:grpSp>
      <p:sp>
        <p:nvSpPr>
          <p:cNvPr name="TextBox 7" id="7"/>
          <p:cNvSpPr txBox="true"/>
          <p:nvPr/>
        </p:nvSpPr>
        <p:spPr>
          <a:xfrm rot="0">
            <a:off x="8928276" y="3412773"/>
            <a:ext cx="8245543" cy="5669677"/>
          </a:xfrm>
          <a:prstGeom prst="rect">
            <a:avLst/>
          </a:prstGeom>
        </p:spPr>
        <p:txBody>
          <a:bodyPr anchor="t" rtlCol="false" tIns="0" lIns="0" bIns="0" rIns="0">
            <a:spAutoFit/>
          </a:bodyPr>
          <a:lstStyle/>
          <a:p>
            <a:pPr algn="l" marL="649667" indent="-324833" lvl="1">
              <a:lnSpc>
                <a:spcPts val="6461"/>
              </a:lnSpc>
              <a:buFont typeface="Arial"/>
              <a:buChar char="•"/>
            </a:pPr>
            <a:r>
              <a:rPr lang="en-US" sz="3589">
                <a:solidFill>
                  <a:srgbClr val="000000"/>
                </a:solidFill>
                <a:latin typeface="Public Sans"/>
                <a:ea typeface="Public Sans"/>
                <a:cs typeface="Public Sans"/>
                <a:sym typeface="Public Sans"/>
              </a:rPr>
              <a:t> Nhóm Obese (BMI ≥ 30) có số lượng Outcome = 1 cao nhất  </a:t>
            </a:r>
          </a:p>
          <a:p>
            <a:pPr algn="l" marL="649667" indent="-324833" lvl="1">
              <a:lnSpc>
                <a:spcPts val="6461"/>
              </a:lnSpc>
              <a:buFont typeface="Arial"/>
              <a:buChar char="•"/>
            </a:pPr>
            <a:r>
              <a:rPr lang="en-US" sz="3589">
                <a:solidFill>
                  <a:srgbClr val="000000"/>
                </a:solidFill>
                <a:latin typeface="Public Sans"/>
                <a:ea typeface="Public Sans"/>
                <a:cs typeface="Public Sans"/>
                <a:sym typeface="Public Sans"/>
              </a:rPr>
              <a:t> Nhóm Underweight ít người, không ảnh hưởng nhiều đến phân tích</a:t>
            </a:r>
          </a:p>
          <a:p>
            <a:pPr algn="l" marL="649667" indent="-324833" lvl="1">
              <a:lnSpc>
                <a:spcPts val="6461"/>
              </a:lnSpc>
              <a:buFont typeface="Arial"/>
              <a:buChar char="•"/>
            </a:pPr>
            <a:r>
              <a:rPr lang="en-US" sz="3589">
                <a:solidFill>
                  <a:srgbClr val="000000"/>
                </a:solidFill>
                <a:latin typeface="Public Sans"/>
                <a:ea typeface="Public Sans"/>
                <a:cs typeface="Public Sans"/>
                <a:sym typeface="Public Sans"/>
              </a:rPr>
              <a:t> BMI cao là yếu tố nguy cơ rõ rệt → cần theo dõi trong mô hình</a:t>
            </a:r>
          </a:p>
          <a:p>
            <a:pPr algn="l">
              <a:lnSpc>
                <a:spcPts val="6461"/>
              </a:lnSpc>
            </a:pPr>
          </a:p>
        </p:txBody>
      </p:sp>
      <p:grpSp>
        <p:nvGrpSpPr>
          <p:cNvPr name="Group 8" id="8"/>
          <p:cNvGrpSpPr/>
          <p:nvPr/>
        </p:nvGrpSpPr>
        <p:grpSpPr>
          <a:xfrm rot="0">
            <a:off x="1158536" y="414723"/>
            <a:ext cx="7124264" cy="4767162"/>
            <a:chOff x="0" y="0"/>
            <a:chExt cx="13663109" cy="9142595"/>
          </a:xfrm>
        </p:grpSpPr>
        <p:sp>
          <p:nvSpPr>
            <p:cNvPr name="Freeform 9" id="9"/>
            <p:cNvSpPr/>
            <p:nvPr/>
          </p:nvSpPr>
          <p:spPr>
            <a:xfrm flipH="false" flipV="false" rot="0">
              <a:off x="0" y="0"/>
              <a:ext cx="13663109" cy="9142595"/>
            </a:xfrm>
            <a:custGeom>
              <a:avLst/>
              <a:gdLst/>
              <a:ahLst/>
              <a:cxnLst/>
              <a:rect r="r" b="b" t="t" l="l"/>
              <a:pathLst>
                <a:path h="9142595" w="13663109">
                  <a:moveTo>
                    <a:pt x="0" y="0"/>
                  </a:moveTo>
                  <a:lnTo>
                    <a:pt x="13663109" y="0"/>
                  </a:lnTo>
                  <a:lnTo>
                    <a:pt x="13663109" y="9142595"/>
                  </a:lnTo>
                  <a:lnTo>
                    <a:pt x="0" y="9142595"/>
                  </a:lnTo>
                  <a:lnTo>
                    <a:pt x="0" y="0"/>
                  </a:lnTo>
                  <a:close/>
                </a:path>
              </a:pathLst>
            </a:custGeom>
            <a:blipFill>
              <a:blip r:embed="rId3"/>
              <a:stretch>
                <a:fillRect l="-1472" t="0" r="-1472" b="0"/>
              </a:stretch>
            </a:blipFill>
          </p:spPr>
        </p:sp>
      </p:grpSp>
      <p:grpSp>
        <p:nvGrpSpPr>
          <p:cNvPr name="Group 10" id="10"/>
          <p:cNvGrpSpPr/>
          <p:nvPr/>
        </p:nvGrpSpPr>
        <p:grpSpPr>
          <a:xfrm rot="0">
            <a:off x="1158536" y="5523028"/>
            <a:ext cx="7124264" cy="4346949"/>
            <a:chOff x="0" y="0"/>
            <a:chExt cx="14262960" cy="8702705"/>
          </a:xfrm>
        </p:grpSpPr>
        <p:sp>
          <p:nvSpPr>
            <p:cNvPr name="Freeform 11" id="11"/>
            <p:cNvSpPr/>
            <p:nvPr/>
          </p:nvSpPr>
          <p:spPr>
            <a:xfrm flipH="false" flipV="false" rot="0">
              <a:off x="0" y="0"/>
              <a:ext cx="14262960" cy="8702704"/>
            </a:xfrm>
            <a:custGeom>
              <a:avLst/>
              <a:gdLst/>
              <a:ahLst/>
              <a:cxnLst/>
              <a:rect r="r" b="b" t="t" l="l"/>
              <a:pathLst>
                <a:path h="8702704" w="14262960">
                  <a:moveTo>
                    <a:pt x="0" y="0"/>
                  </a:moveTo>
                  <a:lnTo>
                    <a:pt x="14262960" y="0"/>
                  </a:lnTo>
                  <a:lnTo>
                    <a:pt x="14262960" y="8702704"/>
                  </a:lnTo>
                  <a:lnTo>
                    <a:pt x="0" y="8702704"/>
                  </a:lnTo>
                  <a:lnTo>
                    <a:pt x="0" y="0"/>
                  </a:lnTo>
                  <a:close/>
                </a:path>
              </a:pathLst>
            </a:custGeom>
            <a:blipFill>
              <a:blip r:embed="rId4"/>
              <a:stretch>
                <a:fillRect l="-741" t="0" r="-741" b="0"/>
              </a:stretch>
            </a:blipFill>
          </p:spPr>
        </p:sp>
      </p:gr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662082" y="232169"/>
            <a:ext cx="9467666" cy="1628712"/>
            <a:chOff x="0" y="0"/>
            <a:chExt cx="12558448" cy="2160416"/>
          </a:xfrm>
        </p:grpSpPr>
        <p:sp>
          <p:nvSpPr>
            <p:cNvPr name="Freeform 5" id="5"/>
            <p:cNvSpPr/>
            <p:nvPr/>
          </p:nvSpPr>
          <p:spPr>
            <a:xfrm flipH="false" flipV="false" rot="0">
              <a:off x="0" y="0"/>
              <a:ext cx="12558447" cy="2160416"/>
            </a:xfrm>
            <a:custGeom>
              <a:avLst/>
              <a:gdLst/>
              <a:ahLst/>
              <a:cxnLst/>
              <a:rect r="r" b="b" t="t" l="l"/>
              <a:pathLst>
                <a:path h="2160416" w="12558447">
                  <a:moveTo>
                    <a:pt x="0" y="0"/>
                  </a:moveTo>
                  <a:lnTo>
                    <a:pt x="12558447" y="0"/>
                  </a:lnTo>
                  <a:lnTo>
                    <a:pt x="12558447" y="2160416"/>
                  </a:lnTo>
                  <a:lnTo>
                    <a:pt x="0" y="2160416"/>
                  </a:lnTo>
                  <a:close/>
                </a:path>
              </a:pathLst>
            </a:custGeom>
            <a:solidFill>
              <a:srgbClr val="000000">
                <a:alpha val="0"/>
              </a:srgbClr>
            </a:solidFill>
          </p:spPr>
        </p:sp>
        <p:sp>
          <p:nvSpPr>
            <p:cNvPr name="TextBox 6" id="6"/>
            <p:cNvSpPr txBox="true"/>
            <p:nvPr/>
          </p:nvSpPr>
          <p:spPr>
            <a:xfrm>
              <a:off x="0" y="-9525"/>
              <a:ext cx="12558448" cy="2169941"/>
            </a:xfrm>
            <a:prstGeom prst="rect">
              <a:avLst/>
            </a:prstGeom>
          </p:spPr>
          <p:txBody>
            <a:bodyPr anchor="ctr" rtlCol="false" tIns="0" lIns="0" bIns="0" rIns="0"/>
            <a:lstStyle/>
            <a:p>
              <a:pPr algn="l">
                <a:lnSpc>
                  <a:spcPts val="5640"/>
                </a:lnSpc>
              </a:pPr>
              <a:r>
                <a:rPr lang="en-US" sz="4700" b="true">
                  <a:solidFill>
                    <a:srgbClr val="000000"/>
                  </a:solidFill>
                  <a:latin typeface="Public Sans Bold"/>
                  <a:ea typeface="Public Sans Bold"/>
                  <a:cs typeface="Public Sans Bold"/>
                  <a:sym typeface="Public Sans Bold"/>
                </a:rPr>
                <a:t>Mối liên hệ giữa BMI và Glucose</a:t>
              </a:r>
            </a:p>
          </p:txBody>
        </p:sp>
      </p:grpSp>
      <p:sp>
        <p:nvSpPr>
          <p:cNvPr name="TextBox 7" id="7"/>
          <p:cNvSpPr txBox="true"/>
          <p:nvPr/>
        </p:nvSpPr>
        <p:spPr>
          <a:xfrm rot="0">
            <a:off x="9897123" y="1879931"/>
            <a:ext cx="7826072" cy="5968798"/>
          </a:xfrm>
          <a:prstGeom prst="rect">
            <a:avLst/>
          </a:prstGeom>
        </p:spPr>
        <p:txBody>
          <a:bodyPr anchor="t" rtlCol="false" tIns="0" lIns="0" bIns="0" rIns="0">
            <a:spAutoFit/>
          </a:bodyPr>
          <a:lstStyle/>
          <a:p>
            <a:pPr algn="l" marL="597218" indent="-298609" lvl="1">
              <a:lnSpc>
                <a:spcPts val="5940"/>
              </a:lnSpc>
              <a:buFont typeface="Arial"/>
              <a:buChar char="•"/>
            </a:pPr>
            <a:r>
              <a:rPr lang="en-US" sz="3300">
                <a:solidFill>
                  <a:srgbClr val="000000"/>
                </a:solidFill>
                <a:latin typeface="Public Sans"/>
                <a:ea typeface="Public Sans"/>
                <a:cs typeface="Public Sans"/>
                <a:sym typeface="Public Sans"/>
              </a:rPr>
              <a:t>Các điểm dữ liệu rải rác, không tạo thành đường xu hướng rõ rệt</a:t>
            </a:r>
          </a:p>
          <a:p>
            <a:pPr algn="l" marL="597218" indent="-298609" lvl="1">
              <a:lnSpc>
                <a:spcPts val="5940"/>
              </a:lnSpc>
              <a:buFont typeface="Arial"/>
              <a:buChar char="•"/>
            </a:pPr>
            <a:r>
              <a:rPr lang="en-US" sz="3300">
                <a:solidFill>
                  <a:srgbClr val="000000"/>
                </a:solidFill>
                <a:latin typeface="Public Sans"/>
                <a:ea typeface="Public Sans"/>
                <a:cs typeface="Public Sans"/>
                <a:sym typeface="Public Sans"/>
              </a:rPr>
              <a:t>Có một số cụm người BMI cao – Glucose cao, nhưng không phổ biến</a:t>
            </a:r>
          </a:p>
          <a:p>
            <a:pPr algn="l" marL="597218" indent="-298609" lvl="1">
              <a:lnSpc>
                <a:spcPts val="5940"/>
              </a:lnSpc>
              <a:buFont typeface="Arial"/>
              <a:buChar char="•"/>
            </a:pPr>
            <a:r>
              <a:rPr lang="en-US" sz="3300">
                <a:solidFill>
                  <a:srgbClr val="000000"/>
                </a:solidFill>
                <a:latin typeface="Public Sans"/>
                <a:ea typeface="Public Sans"/>
                <a:cs typeface="Public Sans"/>
                <a:sym typeface="Public Sans"/>
              </a:rPr>
              <a:t>Nhóm Outcome = 1 (cam) có xu hướng tập trung ở vùng Glucose cao, nhưng không nhất thiết BMI cao</a:t>
            </a:r>
          </a:p>
          <a:p>
            <a:pPr algn="l">
              <a:lnSpc>
                <a:spcPts val="5940"/>
              </a:lnSpc>
            </a:pPr>
          </a:p>
        </p:txBody>
      </p:sp>
      <p:grpSp>
        <p:nvGrpSpPr>
          <p:cNvPr name="Group 8" id="8"/>
          <p:cNvGrpSpPr/>
          <p:nvPr/>
        </p:nvGrpSpPr>
        <p:grpSpPr>
          <a:xfrm rot="0">
            <a:off x="662082" y="2079956"/>
            <a:ext cx="9235040" cy="2234637"/>
            <a:chOff x="0" y="0"/>
            <a:chExt cx="37783429" cy="9142595"/>
          </a:xfrm>
        </p:grpSpPr>
        <p:sp>
          <p:nvSpPr>
            <p:cNvPr name="Freeform 9" id="9"/>
            <p:cNvSpPr/>
            <p:nvPr/>
          </p:nvSpPr>
          <p:spPr>
            <a:xfrm flipH="false" flipV="false" rot="0">
              <a:off x="0" y="0"/>
              <a:ext cx="37783430" cy="9142595"/>
            </a:xfrm>
            <a:custGeom>
              <a:avLst/>
              <a:gdLst/>
              <a:ahLst/>
              <a:cxnLst/>
              <a:rect r="r" b="b" t="t" l="l"/>
              <a:pathLst>
                <a:path h="9142595" w="37783430">
                  <a:moveTo>
                    <a:pt x="0" y="0"/>
                  </a:moveTo>
                  <a:lnTo>
                    <a:pt x="37783430" y="0"/>
                  </a:lnTo>
                  <a:lnTo>
                    <a:pt x="37783430" y="9142595"/>
                  </a:lnTo>
                  <a:lnTo>
                    <a:pt x="0" y="9142595"/>
                  </a:lnTo>
                  <a:lnTo>
                    <a:pt x="0" y="0"/>
                  </a:lnTo>
                  <a:close/>
                </a:path>
              </a:pathLst>
            </a:custGeom>
            <a:blipFill>
              <a:blip r:embed="rId3"/>
              <a:stretch>
                <a:fillRect l="-1255" t="0" r="-1255" b="0"/>
              </a:stretch>
            </a:blipFill>
          </p:spPr>
        </p:sp>
      </p:grpSp>
      <p:grpSp>
        <p:nvGrpSpPr>
          <p:cNvPr name="Group 10" id="10"/>
          <p:cNvGrpSpPr/>
          <p:nvPr/>
        </p:nvGrpSpPr>
        <p:grpSpPr>
          <a:xfrm rot="0">
            <a:off x="1632009" y="4533668"/>
            <a:ext cx="7295187" cy="5187119"/>
            <a:chOff x="0" y="0"/>
            <a:chExt cx="13983030" cy="9942396"/>
          </a:xfrm>
        </p:grpSpPr>
        <p:sp>
          <p:nvSpPr>
            <p:cNvPr name="Freeform 11" id="11"/>
            <p:cNvSpPr/>
            <p:nvPr/>
          </p:nvSpPr>
          <p:spPr>
            <a:xfrm flipH="false" flipV="false" rot="0">
              <a:off x="0" y="0"/>
              <a:ext cx="13983030" cy="9942396"/>
            </a:xfrm>
            <a:custGeom>
              <a:avLst/>
              <a:gdLst/>
              <a:ahLst/>
              <a:cxnLst/>
              <a:rect r="r" b="b" t="t" l="l"/>
              <a:pathLst>
                <a:path h="9942396" w="13983030">
                  <a:moveTo>
                    <a:pt x="0" y="0"/>
                  </a:moveTo>
                  <a:lnTo>
                    <a:pt x="13983030" y="0"/>
                  </a:lnTo>
                  <a:lnTo>
                    <a:pt x="13983030" y="9942396"/>
                  </a:lnTo>
                  <a:lnTo>
                    <a:pt x="0" y="9942396"/>
                  </a:lnTo>
                  <a:lnTo>
                    <a:pt x="0" y="0"/>
                  </a:lnTo>
                  <a:close/>
                </a:path>
              </a:pathLst>
            </a:custGeom>
            <a:blipFill>
              <a:blip r:embed="rId4"/>
              <a:stretch>
                <a:fillRect l="0" t="-103" r="0" b="-103"/>
              </a:stretch>
            </a:blipFill>
          </p:spPr>
        </p:sp>
      </p:grpSp>
    </p:spTree>
  </p:cSld>
  <p:clrMapOvr>
    <a:masterClrMapping/>
  </p:clrMapOvr>
  <p:transition spd="fast">
    <p:fade/>
  </p:transition>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5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762000" y="504253"/>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Glucose</a:t>
              </a:r>
            </a:p>
          </p:txBody>
        </p:sp>
      </p:grpSp>
      <p:sp>
        <p:nvSpPr>
          <p:cNvPr name="TextBox 7" id="7"/>
          <p:cNvSpPr txBox="true"/>
          <p:nvPr/>
        </p:nvSpPr>
        <p:spPr>
          <a:xfrm rot="0">
            <a:off x="762000" y="2097131"/>
            <a:ext cx="17789800" cy="3553602"/>
          </a:xfrm>
          <a:prstGeom prst="rect">
            <a:avLst/>
          </a:prstGeom>
        </p:spPr>
        <p:txBody>
          <a:bodyPr anchor="t" rtlCol="false" tIns="0" lIns="0" bIns="0" rIns="0">
            <a:spAutoFit/>
          </a:bodyPr>
          <a:lstStyle/>
          <a:p>
            <a:pPr algn="l" marL="722054" indent="-361027" lvl="1">
              <a:lnSpc>
                <a:spcPts val="7181"/>
              </a:lnSpc>
              <a:buFont typeface="Arial"/>
              <a:buChar char="•"/>
            </a:pPr>
            <a:r>
              <a:rPr lang="en-US" sz="3989">
                <a:solidFill>
                  <a:srgbClr val="000000"/>
                </a:solidFill>
                <a:latin typeface="Public Sans"/>
                <a:ea typeface="Public Sans"/>
                <a:cs typeface="Public Sans"/>
                <a:sym typeface="Public Sans"/>
              </a:rPr>
              <a:t>Phân bố chỉ số Glucose trong dataset như thế nào? </a:t>
            </a:r>
          </a:p>
          <a:p>
            <a:pPr algn="l" marL="722054" indent="-361027" lvl="1">
              <a:lnSpc>
                <a:spcPts val="7181"/>
              </a:lnSpc>
              <a:buFont typeface="Arial"/>
              <a:buChar char="•"/>
            </a:pPr>
            <a:r>
              <a:rPr lang="en-US" sz="3989">
                <a:solidFill>
                  <a:srgbClr val="000000"/>
                </a:solidFill>
                <a:latin typeface="Public Sans"/>
                <a:ea typeface="Public Sans"/>
                <a:cs typeface="Public Sans"/>
                <a:sym typeface="Public Sans"/>
              </a:rPr>
              <a:t>Insulin có mối liên hệ như thế nào với Glucose?</a:t>
            </a:r>
          </a:p>
          <a:p>
            <a:pPr algn="l" marL="722054" indent="-361027" lvl="1">
              <a:lnSpc>
                <a:spcPts val="7181"/>
              </a:lnSpc>
              <a:buFont typeface="Arial"/>
              <a:buChar char="•"/>
            </a:pPr>
            <a:r>
              <a:rPr lang="en-US" sz="3989">
                <a:solidFill>
                  <a:srgbClr val="000000"/>
                </a:solidFill>
                <a:latin typeface="Public Sans"/>
                <a:ea typeface="Public Sans"/>
                <a:cs typeface="Public Sans"/>
                <a:sym typeface="Public Sans"/>
              </a:rPr>
              <a:t>Glucose và Age có mối quan hệ tuyến tính không?</a:t>
            </a:r>
          </a:p>
          <a:p>
            <a:pPr algn="l">
              <a:lnSpc>
                <a:spcPts val="7181"/>
              </a:lnSpc>
            </a:pPr>
          </a:p>
        </p:txBody>
      </p:sp>
    </p:spTree>
  </p:cSld>
  <p:clrMapOvr>
    <a:masterClrMapping/>
  </p:clrMapOvr>
  <p:transition spd="fast">
    <p:fade/>
  </p:transition>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752475" y="504253"/>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Phân tích theo Glucose</a:t>
              </a:r>
            </a:p>
          </p:txBody>
        </p:sp>
      </p:grpSp>
      <p:sp>
        <p:nvSpPr>
          <p:cNvPr name="TextBox 7" id="7"/>
          <p:cNvSpPr txBox="true"/>
          <p:nvPr/>
        </p:nvSpPr>
        <p:spPr>
          <a:xfrm rot="0">
            <a:off x="9840991" y="2454619"/>
            <a:ext cx="7994376" cy="5742495"/>
          </a:xfrm>
          <a:prstGeom prst="rect">
            <a:avLst/>
          </a:prstGeom>
        </p:spPr>
        <p:txBody>
          <a:bodyPr anchor="t" rtlCol="false" tIns="0" lIns="0" bIns="0" rIns="0">
            <a:spAutoFit/>
          </a:bodyPr>
          <a:lstStyle/>
          <a:p>
            <a:pPr algn="l" marL="659047" indent="-329524" lvl="1">
              <a:lnSpc>
                <a:spcPts val="6554"/>
              </a:lnSpc>
              <a:buFont typeface="Arial"/>
              <a:buChar char="•"/>
            </a:pPr>
            <a:r>
              <a:rPr lang="en-US" sz="3641">
                <a:solidFill>
                  <a:srgbClr val="000000"/>
                </a:solidFill>
                <a:latin typeface="Public Sans"/>
                <a:ea typeface="Public Sans"/>
                <a:cs typeface="Public Sans"/>
                <a:sym typeface="Public Sans"/>
              </a:rPr>
              <a:t>Tỷ lệ Outcome = 1 tăng rõ rệt ở nhóm Glucose cao (140–200)</a:t>
            </a:r>
          </a:p>
          <a:p>
            <a:pPr algn="l" marL="659047" indent="-329524" lvl="1">
              <a:lnSpc>
                <a:spcPts val="6554"/>
              </a:lnSpc>
              <a:buFont typeface="Arial"/>
              <a:buChar char="•"/>
            </a:pPr>
            <a:r>
              <a:rPr lang="en-US" sz="3641">
                <a:solidFill>
                  <a:srgbClr val="000000"/>
                </a:solidFill>
                <a:latin typeface="Public Sans"/>
                <a:ea typeface="Public Sans"/>
                <a:cs typeface="Public Sans"/>
                <a:sym typeface="Public Sans"/>
              </a:rPr>
              <a:t>Nhóm (90–120] có tỷ lệ Outcome = 0 cao nhất → vùng “an toàn”</a:t>
            </a:r>
          </a:p>
          <a:p>
            <a:pPr algn="l" marL="659047" indent="-329524" lvl="1">
              <a:lnSpc>
                <a:spcPts val="6554"/>
              </a:lnSpc>
              <a:buFont typeface="Arial"/>
              <a:buChar char="•"/>
            </a:pPr>
            <a:r>
              <a:rPr lang="en-US" sz="3641">
                <a:solidFill>
                  <a:srgbClr val="000000"/>
                </a:solidFill>
                <a:latin typeface="Public Sans"/>
                <a:ea typeface="Public Sans"/>
                <a:cs typeface="Public Sans"/>
                <a:sym typeface="Public Sans"/>
              </a:rPr>
              <a:t>Glucose là biến phân loại mạnh, có thể được chọn làm feature chính</a:t>
            </a:r>
          </a:p>
        </p:txBody>
      </p:sp>
      <p:grpSp>
        <p:nvGrpSpPr>
          <p:cNvPr name="Group 8" id="8"/>
          <p:cNvGrpSpPr/>
          <p:nvPr/>
        </p:nvGrpSpPr>
        <p:grpSpPr>
          <a:xfrm rot="0">
            <a:off x="752475" y="2229178"/>
            <a:ext cx="8888768" cy="6412451"/>
            <a:chOff x="0" y="0"/>
            <a:chExt cx="13781884" cy="9942396"/>
          </a:xfrm>
        </p:grpSpPr>
        <p:sp>
          <p:nvSpPr>
            <p:cNvPr name="Freeform 9" id="9"/>
            <p:cNvSpPr/>
            <p:nvPr/>
          </p:nvSpPr>
          <p:spPr>
            <a:xfrm flipH="false" flipV="false" rot="0">
              <a:off x="0" y="0"/>
              <a:ext cx="13781884" cy="9942396"/>
            </a:xfrm>
            <a:custGeom>
              <a:avLst/>
              <a:gdLst/>
              <a:ahLst/>
              <a:cxnLst/>
              <a:rect r="r" b="b" t="t" l="l"/>
              <a:pathLst>
                <a:path h="9942396" w="13781884">
                  <a:moveTo>
                    <a:pt x="0" y="0"/>
                  </a:moveTo>
                  <a:lnTo>
                    <a:pt x="13781884" y="0"/>
                  </a:lnTo>
                  <a:lnTo>
                    <a:pt x="13781884" y="9942396"/>
                  </a:lnTo>
                  <a:lnTo>
                    <a:pt x="0" y="9942396"/>
                  </a:lnTo>
                  <a:lnTo>
                    <a:pt x="0" y="0"/>
                  </a:lnTo>
                  <a:close/>
                </a:path>
              </a:pathLst>
            </a:custGeom>
            <a:blipFill>
              <a:blip r:embed="rId3"/>
              <a:stretch>
                <a:fillRect l="0" t="-508" r="0" b="-508"/>
              </a:stretch>
            </a:blipFill>
          </p:spPr>
        </p:sp>
      </p:grpSp>
    </p:spTree>
  </p:cSld>
  <p:clrMapOvr>
    <a:masterClrMapping/>
  </p:clrMapOvr>
  <p:transition spd="fast">
    <p:fade/>
  </p:transition>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1"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752475" y="504253"/>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l">
                <a:lnSpc>
                  <a:spcPts val="6480"/>
                </a:lnSpc>
              </a:pPr>
              <a:r>
                <a:rPr lang="en-US" sz="5400" b="true">
                  <a:solidFill>
                    <a:srgbClr val="000000"/>
                  </a:solidFill>
                  <a:latin typeface="Public Sans Bold"/>
                  <a:ea typeface="Public Sans Bold"/>
                  <a:cs typeface="Public Sans Bold"/>
                  <a:sym typeface="Public Sans Bold"/>
                </a:rPr>
                <a:t>Insulin có mối liên hệ như thế nào với Glucose?</a:t>
              </a:r>
            </a:p>
          </p:txBody>
        </p:sp>
      </p:grpSp>
      <p:sp>
        <p:nvSpPr>
          <p:cNvPr name="TextBox 7" id="7"/>
          <p:cNvSpPr txBox="true"/>
          <p:nvPr/>
        </p:nvSpPr>
        <p:spPr>
          <a:xfrm rot="0">
            <a:off x="9642632" y="4943475"/>
            <a:ext cx="8436709" cy="3656304"/>
          </a:xfrm>
          <a:prstGeom prst="rect">
            <a:avLst/>
          </a:prstGeom>
        </p:spPr>
        <p:txBody>
          <a:bodyPr anchor="t" rtlCol="false" tIns="0" lIns="0" bIns="0" rIns="0">
            <a:spAutoFit/>
          </a:bodyPr>
          <a:lstStyle/>
          <a:p>
            <a:pPr algn="l" marL="600744" indent="-300372" lvl="1">
              <a:lnSpc>
                <a:spcPts val="5975"/>
              </a:lnSpc>
              <a:buFont typeface="Arial"/>
              <a:buChar char="•"/>
            </a:pPr>
            <a:r>
              <a:rPr lang="en-US" sz="3319">
                <a:solidFill>
                  <a:srgbClr val="000000"/>
                </a:solidFill>
                <a:latin typeface="Public Sans"/>
                <a:ea typeface="Public Sans"/>
                <a:cs typeface="Public Sans"/>
                <a:sym typeface="Public Sans"/>
              </a:rPr>
              <a:t>Một số cụm Glucose cao – Insulin cao xuất h</a:t>
            </a:r>
            <a:r>
              <a:rPr lang="en-US" sz="3319">
                <a:solidFill>
                  <a:srgbClr val="000000"/>
                </a:solidFill>
                <a:latin typeface="Public Sans"/>
                <a:ea typeface="Public Sans"/>
                <a:cs typeface="Public Sans"/>
                <a:sym typeface="Public Sans"/>
              </a:rPr>
              <a:t>i</a:t>
            </a:r>
            <a:r>
              <a:rPr lang="en-US" sz="3319">
                <a:solidFill>
                  <a:srgbClr val="000000"/>
                </a:solidFill>
                <a:latin typeface="Public Sans"/>
                <a:ea typeface="Public Sans"/>
                <a:cs typeface="Public Sans"/>
                <a:sym typeface="Public Sans"/>
              </a:rPr>
              <a:t>ệ</a:t>
            </a:r>
            <a:r>
              <a:rPr lang="en-US" sz="3319">
                <a:solidFill>
                  <a:srgbClr val="000000"/>
                </a:solidFill>
                <a:latin typeface="Public Sans"/>
                <a:ea typeface="Public Sans"/>
                <a:cs typeface="Public Sans"/>
                <a:sym typeface="Public Sans"/>
              </a:rPr>
              <a:t>n </a:t>
            </a:r>
            <a:r>
              <a:rPr lang="en-US" sz="3319">
                <a:solidFill>
                  <a:srgbClr val="000000"/>
                </a:solidFill>
                <a:latin typeface="Public Sans"/>
                <a:ea typeface="Public Sans"/>
                <a:cs typeface="Public Sans"/>
                <a:sym typeface="Public Sans"/>
              </a:rPr>
              <a:t>ở</a:t>
            </a:r>
            <a:r>
              <a:rPr lang="en-US" sz="3319">
                <a:solidFill>
                  <a:srgbClr val="000000"/>
                </a:solidFill>
                <a:latin typeface="Public Sans"/>
                <a:ea typeface="Public Sans"/>
                <a:cs typeface="Public Sans"/>
                <a:sym typeface="Public Sans"/>
              </a:rPr>
              <a:t> nhó</a:t>
            </a:r>
            <a:r>
              <a:rPr lang="en-US" sz="3319">
                <a:solidFill>
                  <a:srgbClr val="000000"/>
                </a:solidFill>
                <a:latin typeface="Public Sans"/>
                <a:ea typeface="Public Sans"/>
                <a:cs typeface="Public Sans"/>
                <a:sym typeface="Public Sans"/>
              </a:rPr>
              <a:t>m</a:t>
            </a:r>
            <a:r>
              <a:rPr lang="en-US" sz="3319">
                <a:solidFill>
                  <a:srgbClr val="000000"/>
                </a:solidFill>
                <a:latin typeface="Public Sans"/>
                <a:ea typeface="Public Sans"/>
                <a:cs typeface="Public Sans"/>
                <a:sym typeface="Public Sans"/>
              </a:rPr>
              <a:t> </a:t>
            </a:r>
            <a:r>
              <a:rPr lang="en-US" sz="3319">
                <a:solidFill>
                  <a:srgbClr val="000000"/>
                </a:solidFill>
                <a:latin typeface="Public Sans"/>
                <a:ea typeface="Public Sans"/>
                <a:cs typeface="Public Sans"/>
                <a:sym typeface="Public Sans"/>
              </a:rPr>
              <a:t>Ou</a:t>
            </a:r>
            <a:r>
              <a:rPr lang="en-US" sz="3319">
                <a:solidFill>
                  <a:srgbClr val="000000"/>
                </a:solidFill>
                <a:latin typeface="Public Sans"/>
                <a:ea typeface="Public Sans"/>
                <a:cs typeface="Public Sans"/>
                <a:sym typeface="Public Sans"/>
              </a:rPr>
              <a:t>tc</a:t>
            </a:r>
            <a:r>
              <a:rPr lang="en-US" sz="3319">
                <a:solidFill>
                  <a:srgbClr val="000000"/>
                </a:solidFill>
                <a:latin typeface="Public Sans"/>
                <a:ea typeface="Public Sans"/>
                <a:cs typeface="Public Sans"/>
                <a:sym typeface="Public Sans"/>
              </a:rPr>
              <a:t>ome</a:t>
            </a:r>
            <a:r>
              <a:rPr lang="en-US" sz="3319">
                <a:solidFill>
                  <a:srgbClr val="000000"/>
                </a:solidFill>
                <a:latin typeface="Public Sans"/>
                <a:ea typeface="Public Sans"/>
                <a:cs typeface="Public Sans"/>
                <a:sym typeface="Public Sans"/>
              </a:rPr>
              <a:t> </a:t>
            </a:r>
            <a:r>
              <a:rPr lang="en-US" sz="3319">
                <a:solidFill>
                  <a:srgbClr val="000000"/>
                </a:solidFill>
                <a:latin typeface="Public Sans"/>
                <a:ea typeface="Public Sans"/>
                <a:cs typeface="Public Sans"/>
                <a:sym typeface="Public Sans"/>
              </a:rPr>
              <a:t>=</a:t>
            </a:r>
            <a:r>
              <a:rPr lang="en-US" sz="3319">
                <a:solidFill>
                  <a:srgbClr val="000000"/>
                </a:solidFill>
                <a:latin typeface="Public Sans"/>
                <a:ea typeface="Public Sans"/>
                <a:cs typeface="Public Sans"/>
                <a:sym typeface="Public Sans"/>
              </a:rPr>
              <a:t> </a:t>
            </a:r>
            <a:r>
              <a:rPr lang="en-US" sz="3319">
                <a:solidFill>
                  <a:srgbClr val="000000"/>
                </a:solidFill>
                <a:latin typeface="Public Sans"/>
                <a:ea typeface="Public Sans"/>
                <a:cs typeface="Public Sans"/>
                <a:sym typeface="Public Sans"/>
              </a:rPr>
              <a:t>1</a:t>
            </a:r>
            <a:r>
              <a:rPr lang="en-US" sz="3319">
                <a:solidFill>
                  <a:srgbClr val="000000"/>
                </a:solidFill>
                <a:latin typeface="Public Sans"/>
                <a:ea typeface="Public Sans"/>
                <a:cs typeface="Public Sans"/>
                <a:sym typeface="Public Sans"/>
              </a:rPr>
              <a:t> </a:t>
            </a:r>
          </a:p>
          <a:p>
            <a:pPr algn="l" marL="582647" indent="-291323" lvl="1">
              <a:lnSpc>
                <a:spcPts val="5795"/>
              </a:lnSpc>
              <a:buFont typeface="Arial"/>
              <a:buChar char="•"/>
            </a:pPr>
            <a:r>
              <a:rPr lang="en-US" sz="3219">
                <a:solidFill>
                  <a:srgbClr val="000000"/>
                </a:solidFill>
                <a:latin typeface="Public Sans"/>
                <a:ea typeface="Public Sans"/>
                <a:cs typeface="Public Sans"/>
                <a:sym typeface="Public Sans"/>
              </a:rPr>
              <a:t>Mối liên hệ giữa Glucose và Insulin có xu hướng cùng chiều, mức độ trung bình</a:t>
            </a:r>
          </a:p>
          <a:p>
            <a:pPr algn="l">
              <a:lnSpc>
                <a:spcPts val="5795"/>
              </a:lnSpc>
            </a:pPr>
          </a:p>
        </p:txBody>
      </p:sp>
      <p:grpSp>
        <p:nvGrpSpPr>
          <p:cNvPr name="Group 8" id="8"/>
          <p:cNvGrpSpPr/>
          <p:nvPr/>
        </p:nvGrpSpPr>
        <p:grpSpPr>
          <a:xfrm rot="0">
            <a:off x="543271" y="2283471"/>
            <a:ext cx="8594379" cy="6103046"/>
            <a:chOff x="0" y="0"/>
            <a:chExt cx="13663109" cy="9702456"/>
          </a:xfrm>
        </p:grpSpPr>
        <p:sp>
          <p:nvSpPr>
            <p:cNvPr name="Freeform 9" id="9"/>
            <p:cNvSpPr/>
            <p:nvPr/>
          </p:nvSpPr>
          <p:spPr>
            <a:xfrm flipH="false" flipV="false" rot="0">
              <a:off x="0" y="0"/>
              <a:ext cx="13663109" cy="9702456"/>
            </a:xfrm>
            <a:custGeom>
              <a:avLst/>
              <a:gdLst/>
              <a:ahLst/>
              <a:cxnLst/>
              <a:rect r="r" b="b" t="t" l="l"/>
              <a:pathLst>
                <a:path h="9702456" w="13663109">
                  <a:moveTo>
                    <a:pt x="0" y="0"/>
                  </a:moveTo>
                  <a:lnTo>
                    <a:pt x="13663109" y="0"/>
                  </a:lnTo>
                  <a:lnTo>
                    <a:pt x="13663109" y="9702456"/>
                  </a:lnTo>
                  <a:lnTo>
                    <a:pt x="0" y="9702456"/>
                  </a:lnTo>
                  <a:lnTo>
                    <a:pt x="0" y="0"/>
                  </a:lnTo>
                  <a:close/>
                </a:path>
              </a:pathLst>
            </a:custGeom>
            <a:blipFill>
              <a:blip r:embed="rId3"/>
              <a:stretch>
                <a:fillRect l="-1458" t="0" r="-1458" b="0"/>
              </a:stretch>
            </a:blipFill>
          </p:spPr>
        </p:sp>
      </p:grpSp>
      <p:grpSp>
        <p:nvGrpSpPr>
          <p:cNvPr name="Group 10" id="10"/>
          <p:cNvGrpSpPr/>
          <p:nvPr/>
        </p:nvGrpSpPr>
        <p:grpSpPr>
          <a:xfrm rot="0">
            <a:off x="9374210" y="2283471"/>
            <a:ext cx="8705130" cy="2200861"/>
            <a:chOff x="0" y="0"/>
            <a:chExt cx="36161971" cy="9142595"/>
          </a:xfrm>
        </p:grpSpPr>
        <p:sp>
          <p:nvSpPr>
            <p:cNvPr name="Freeform 11" id="11"/>
            <p:cNvSpPr/>
            <p:nvPr/>
          </p:nvSpPr>
          <p:spPr>
            <a:xfrm flipH="false" flipV="false" rot="0">
              <a:off x="0" y="0"/>
              <a:ext cx="36161969" cy="9142595"/>
            </a:xfrm>
            <a:custGeom>
              <a:avLst/>
              <a:gdLst/>
              <a:ahLst/>
              <a:cxnLst/>
              <a:rect r="r" b="b" t="t" l="l"/>
              <a:pathLst>
                <a:path h="9142595" w="36161969">
                  <a:moveTo>
                    <a:pt x="0" y="0"/>
                  </a:moveTo>
                  <a:lnTo>
                    <a:pt x="36161969" y="0"/>
                  </a:lnTo>
                  <a:lnTo>
                    <a:pt x="36161969" y="9142595"/>
                  </a:lnTo>
                  <a:lnTo>
                    <a:pt x="0" y="9142595"/>
                  </a:lnTo>
                  <a:lnTo>
                    <a:pt x="0" y="0"/>
                  </a:lnTo>
                  <a:close/>
                </a:path>
              </a:pathLst>
            </a:custGeom>
            <a:blipFill>
              <a:blip r:embed="rId4"/>
              <a:stretch>
                <a:fillRect l="-1517" t="0" r="-1517" b="0"/>
              </a:stretch>
            </a:blipFill>
          </p:spPr>
        </p:sp>
      </p:grpSp>
    </p:spTree>
  </p:cSld>
  <p:clrMapOvr>
    <a:masterClrMapping/>
  </p:clrMapOvr>
  <p:transition spd="fast">
    <p:fade/>
  </p:transition>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Một số câu hỏi quan trọng</a:t>
              </a:r>
            </a:p>
          </p:txBody>
        </p:sp>
      </p:grpSp>
      <p:sp>
        <p:nvSpPr>
          <p:cNvPr name="TextBox 7" id="7"/>
          <p:cNvSpPr txBox="true"/>
          <p:nvPr/>
        </p:nvSpPr>
        <p:spPr>
          <a:xfrm rot="0">
            <a:off x="1942147" y="1494340"/>
            <a:ext cx="14403705" cy="6170295"/>
          </a:xfrm>
          <a:prstGeom prst="rect">
            <a:avLst/>
          </a:prstGeom>
        </p:spPr>
        <p:txBody>
          <a:bodyPr anchor="t" rtlCol="false" tIns="0" lIns="0" bIns="0" rIns="0">
            <a:spAutoFit/>
          </a:bodyPr>
          <a:lstStyle/>
          <a:p>
            <a:pPr algn="l" marL="597216" indent="-298608" lvl="1">
              <a:lnSpc>
                <a:spcPts val="4949"/>
              </a:lnSpc>
              <a:buFont typeface="Arial"/>
              <a:buChar char="•"/>
            </a:pPr>
            <a:r>
              <a:rPr lang="en-US" sz="3299">
                <a:solidFill>
                  <a:srgbClr val="000000"/>
                </a:solidFill>
                <a:latin typeface="Public Sans"/>
                <a:ea typeface="Public Sans"/>
                <a:cs typeface="Public Sans"/>
                <a:sym typeface="Public Sans"/>
              </a:rPr>
              <a:t>Glucose + BMI: Kết hợp 2 biến này thì nhóm mắc tiểu đường phân bố ở đâu?</a:t>
            </a:r>
          </a:p>
          <a:p>
            <a:pPr algn="l" marL="597216" indent="-298608" lvl="1">
              <a:lnSpc>
                <a:spcPts val="4949"/>
              </a:lnSpc>
              <a:buFont typeface="Arial"/>
              <a:buChar char="•"/>
            </a:pPr>
            <a:r>
              <a:rPr lang="en-US" sz="3299">
                <a:solidFill>
                  <a:srgbClr val="000000"/>
                </a:solidFill>
                <a:latin typeface="Public Sans"/>
                <a:ea typeface="Public Sans"/>
                <a:cs typeface="Public Sans"/>
                <a:sym typeface="Public Sans"/>
              </a:rPr>
              <a:t>Insulin + Glucose: Hai biến này có quan hệ tuyến tính không? Outcome=1 nằm tập trung ở vùng nào?</a:t>
            </a:r>
          </a:p>
          <a:p>
            <a:pPr algn="l" marL="597216" indent="-298608" lvl="1">
              <a:lnSpc>
                <a:spcPts val="4949"/>
              </a:lnSpc>
              <a:buFont typeface="Arial"/>
              <a:buChar char="•"/>
            </a:pPr>
            <a:r>
              <a:rPr lang="en-US" sz="3299">
                <a:solidFill>
                  <a:srgbClr val="000000"/>
                </a:solidFill>
                <a:latin typeface="Public Sans"/>
                <a:ea typeface="Public Sans"/>
                <a:cs typeface="Public Sans"/>
                <a:sym typeface="Public Sans"/>
              </a:rPr>
              <a:t>Pregnancies + Age: Phụ nữ nhiều lần mang thai và lớn tuổi có nguy cơ cao hơn không?</a:t>
            </a:r>
          </a:p>
          <a:p>
            <a:pPr algn="l" marL="597216" indent="-298608" lvl="1">
              <a:lnSpc>
                <a:spcPts val="4949"/>
              </a:lnSpc>
              <a:buFont typeface="Arial"/>
              <a:buChar char="•"/>
            </a:pPr>
            <a:r>
              <a:rPr lang="en-US" sz="3299">
                <a:solidFill>
                  <a:srgbClr val="000000"/>
                </a:solidFill>
                <a:latin typeface="Public Sans"/>
                <a:ea typeface="Public Sans"/>
                <a:cs typeface="Public Sans"/>
                <a:sym typeface="Public Sans"/>
              </a:rPr>
              <a:t>BMI + DPF: Người có BMI cao và DPF cao thì tỉ lệ mắc bệnh ra sao?</a:t>
            </a:r>
          </a:p>
          <a:p>
            <a:pPr algn="l" marL="597216" indent="-298608" lvl="1">
              <a:lnSpc>
                <a:spcPts val="4949"/>
              </a:lnSpc>
              <a:buFont typeface="Arial"/>
              <a:buChar char="•"/>
            </a:pPr>
            <a:r>
              <a:rPr lang="en-US" sz="3299">
                <a:solidFill>
                  <a:srgbClr val="000000"/>
                </a:solidFill>
                <a:latin typeface="Public Sans"/>
                <a:ea typeface="Public Sans"/>
                <a:cs typeface="Public Sans"/>
                <a:sym typeface="Public Sans"/>
              </a:rPr>
              <a:t>Glucose + Age: Người lớn tuổi với Glucose cao có nguy cơ cao nhất không?</a:t>
            </a:r>
          </a:p>
          <a:p>
            <a:pPr algn="l" marL="597216" indent="-298608" lvl="1">
              <a:lnSpc>
                <a:spcPts val="4949"/>
              </a:lnSpc>
            </a:pPr>
          </a:p>
        </p:txBody>
      </p:sp>
    </p:spTree>
  </p:cSld>
  <p:clrMapOvr>
    <a:masterClrMapping/>
  </p:clrMapOvr>
  <p:transition spd="fast">
    <p:fade/>
  </p:transition>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Một số câu hỏi quan trọng</a:t>
              </a:r>
            </a:p>
          </p:txBody>
        </p:sp>
      </p:grpSp>
      <p:sp>
        <p:nvSpPr>
          <p:cNvPr name="TextBox 7" id="7"/>
          <p:cNvSpPr txBox="true"/>
          <p:nvPr/>
        </p:nvSpPr>
        <p:spPr>
          <a:xfrm rot="0">
            <a:off x="3278170" y="7216785"/>
            <a:ext cx="13519837" cy="3299297"/>
          </a:xfrm>
          <a:prstGeom prst="rect">
            <a:avLst/>
          </a:prstGeom>
        </p:spPr>
        <p:txBody>
          <a:bodyPr anchor="t" rtlCol="false" tIns="0" lIns="0" bIns="0" rIns="0">
            <a:spAutoFit/>
          </a:bodyPr>
          <a:lstStyle/>
          <a:p>
            <a:pPr algn="l" marL="524828" indent="-262414" lvl="1">
              <a:lnSpc>
                <a:spcPts val="4350"/>
              </a:lnSpc>
              <a:buFont typeface="Arial"/>
              <a:buChar char="•"/>
            </a:pPr>
            <a:r>
              <a:rPr lang="en-US" sz="2900">
                <a:solidFill>
                  <a:srgbClr val="000000"/>
                </a:solidFill>
                <a:latin typeface="Public Sans"/>
                <a:ea typeface="Public Sans"/>
                <a:cs typeface="Public Sans"/>
                <a:sym typeface="Public Sans"/>
              </a:rPr>
              <a:t>Glucose &amp; BMI: N</a:t>
            </a:r>
            <a:r>
              <a:rPr lang="en-US" sz="2900">
                <a:solidFill>
                  <a:srgbClr val="000000"/>
                </a:solidFill>
                <a:latin typeface="Public Sans"/>
                <a:ea typeface="Public Sans"/>
                <a:cs typeface="Public Sans"/>
                <a:sym typeface="Public Sans"/>
              </a:rPr>
              <a:t>hóm Outcome=1 tập trung ở Glucose ≥120 và BMI ≥30.</a:t>
            </a:r>
          </a:p>
          <a:p>
            <a:pPr algn="l" marL="524828" indent="-262414" lvl="1">
              <a:lnSpc>
                <a:spcPts val="4350"/>
              </a:lnSpc>
              <a:buFont typeface="Arial"/>
              <a:buChar char="•"/>
            </a:pPr>
            <a:r>
              <a:rPr lang="en-US" sz="2900">
                <a:solidFill>
                  <a:srgbClr val="000000"/>
                </a:solidFill>
                <a:latin typeface="Public Sans"/>
                <a:ea typeface="Public Sans"/>
                <a:cs typeface="Public Sans"/>
                <a:sym typeface="Public Sans"/>
              </a:rPr>
              <a:t>Insulin: Outcome=1 có Insulin rải rác nhưng thường cao hơn nhóm 0.</a:t>
            </a:r>
          </a:p>
          <a:p>
            <a:pPr algn="l" marL="524828" indent="-262414" lvl="1">
              <a:lnSpc>
                <a:spcPts val="4350"/>
              </a:lnSpc>
              <a:buFont typeface="Arial"/>
              <a:buChar char="•"/>
            </a:pPr>
            <a:r>
              <a:rPr lang="en-US" sz="2900">
                <a:solidFill>
                  <a:srgbClr val="000000"/>
                </a:solidFill>
                <a:latin typeface="Public Sans"/>
                <a:ea typeface="Public Sans"/>
                <a:cs typeface="Public Sans"/>
                <a:sym typeface="Public Sans"/>
              </a:rPr>
              <a:t>Pregnancies &amp; Age: Nguy cơ tăng rõ ở phụ nữ &gt;35 tuổi và mang thai &gt;5 lần.</a:t>
            </a:r>
          </a:p>
          <a:p>
            <a:pPr algn="l" marL="524828" indent="-262414" lvl="1">
              <a:lnSpc>
                <a:spcPts val="4350"/>
              </a:lnSpc>
              <a:buFont typeface="Arial"/>
              <a:buChar char="•"/>
            </a:pPr>
            <a:r>
              <a:rPr lang="en-US" sz="2900">
                <a:solidFill>
                  <a:srgbClr val="000000"/>
                </a:solidFill>
                <a:latin typeface="Public Sans"/>
                <a:ea typeface="Public Sans"/>
                <a:cs typeface="Public Sans"/>
                <a:sym typeface="Public Sans"/>
              </a:rPr>
              <a:t>BMI &amp; DPF: Cùng cao (BMI&gt;30 &amp; DPF&gt;1.0) → nguy cơ mắc bệnh cao nhất.</a:t>
            </a:r>
          </a:p>
          <a:p>
            <a:pPr algn="l" marL="524828" indent="-262414" lvl="1">
              <a:lnSpc>
                <a:spcPts val="4350"/>
              </a:lnSpc>
              <a:buFont typeface="Arial"/>
              <a:buChar char="•"/>
            </a:pPr>
            <a:r>
              <a:rPr lang="en-US" sz="2900">
                <a:solidFill>
                  <a:srgbClr val="000000"/>
                </a:solidFill>
                <a:latin typeface="Public Sans"/>
                <a:ea typeface="Public Sans"/>
                <a:cs typeface="Public Sans"/>
                <a:sym typeface="Public Sans"/>
              </a:rPr>
              <a:t>Age &amp; Glucose: Người ≥40 tuổi với Glucose ≥140 có nguy cơ cao nhất.</a:t>
            </a:r>
          </a:p>
          <a:p>
            <a:pPr algn="l" marL="524828" indent="-262414" lvl="1">
              <a:lnSpc>
                <a:spcPts val="4350"/>
              </a:lnSpc>
            </a:pPr>
          </a:p>
        </p:txBody>
      </p:sp>
      <p:grpSp>
        <p:nvGrpSpPr>
          <p:cNvPr name="Group 8" id="8"/>
          <p:cNvGrpSpPr/>
          <p:nvPr/>
        </p:nvGrpSpPr>
        <p:grpSpPr>
          <a:xfrm rot="0">
            <a:off x="3278170" y="1028700"/>
            <a:ext cx="12075117" cy="6051000"/>
            <a:chOff x="0" y="0"/>
            <a:chExt cx="11404610" cy="5715000"/>
          </a:xfrm>
        </p:grpSpPr>
        <p:sp>
          <p:nvSpPr>
            <p:cNvPr name="Freeform 9" id="9"/>
            <p:cNvSpPr/>
            <p:nvPr/>
          </p:nvSpPr>
          <p:spPr>
            <a:xfrm flipH="false" flipV="false" rot="0">
              <a:off x="0" y="0"/>
              <a:ext cx="11404610" cy="5715000"/>
            </a:xfrm>
            <a:custGeom>
              <a:avLst/>
              <a:gdLst/>
              <a:ahLst/>
              <a:cxnLst/>
              <a:rect r="r" b="b" t="t" l="l"/>
              <a:pathLst>
                <a:path h="5715000" w="11404610">
                  <a:moveTo>
                    <a:pt x="0" y="0"/>
                  </a:moveTo>
                  <a:lnTo>
                    <a:pt x="11404610" y="0"/>
                  </a:lnTo>
                  <a:lnTo>
                    <a:pt x="11404610" y="5715000"/>
                  </a:lnTo>
                  <a:lnTo>
                    <a:pt x="0" y="5715000"/>
                  </a:lnTo>
                  <a:lnTo>
                    <a:pt x="0" y="0"/>
                  </a:lnTo>
                  <a:close/>
                </a:path>
              </a:pathLst>
            </a:custGeom>
            <a:blipFill>
              <a:blip r:embed="rId3"/>
              <a:stretch>
                <a:fillRect l="-426" t="0" r="-426" b="0"/>
              </a:stretch>
            </a:blipFill>
          </p:spPr>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914400" y="285750"/>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Ma trận </a:t>
              </a:r>
              <a:r>
                <a:rPr lang="en-US" sz="5400" b="true">
                  <a:solidFill>
                    <a:srgbClr val="000000"/>
                  </a:solidFill>
                  <a:latin typeface="Public Sans Bold"/>
                  <a:ea typeface="Public Sans Bold"/>
                  <a:cs typeface="Public Sans Bold"/>
                  <a:sym typeface="Public Sans Bold"/>
                </a:rPr>
                <a:t>tương quan</a:t>
              </a:r>
            </a:p>
          </p:txBody>
        </p:sp>
      </p:grpSp>
      <p:grpSp>
        <p:nvGrpSpPr>
          <p:cNvPr name="Group 7" id="7"/>
          <p:cNvGrpSpPr/>
          <p:nvPr/>
        </p:nvGrpSpPr>
        <p:grpSpPr>
          <a:xfrm rot="0">
            <a:off x="1028700" y="1334589"/>
            <a:ext cx="9154252" cy="8261235"/>
            <a:chOff x="0" y="0"/>
            <a:chExt cx="12812224" cy="11562364"/>
          </a:xfrm>
        </p:grpSpPr>
        <p:sp>
          <p:nvSpPr>
            <p:cNvPr name="Freeform 8" id="8"/>
            <p:cNvSpPr/>
            <p:nvPr/>
          </p:nvSpPr>
          <p:spPr>
            <a:xfrm flipH="false" flipV="false" rot="0">
              <a:off x="0" y="0"/>
              <a:ext cx="12812225" cy="11562364"/>
            </a:xfrm>
            <a:custGeom>
              <a:avLst/>
              <a:gdLst/>
              <a:ahLst/>
              <a:cxnLst/>
              <a:rect r="r" b="b" t="t" l="l"/>
              <a:pathLst>
                <a:path h="11562364" w="12812225">
                  <a:moveTo>
                    <a:pt x="0" y="0"/>
                  </a:moveTo>
                  <a:lnTo>
                    <a:pt x="12812225" y="0"/>
                  </a:lnTo>
                  <a:lnTo>
                    <a:pt x="12812225" y="11562364"/>
                  </a:lnTo>
                  <a:lnTo>
                    <a:pt x="0" y="11562364"/>
                  </a:lnTo>
                  <a:lnTo>
                    <a:pt x="0" y="0"/>
                  </a:lnTo>
                  <a:close/>
                </a:path>
              </a:pathLst>
            </a:custGeom>
            <a:blipFill>
              <a:blip r:embed="rId3"/>
              <a:stretch>
                <a:fillRect l="0" t="-351" r="0" b="-351"/>
              </a:stretch>
            </a:blipFill>
          </p:spPr>
        </p:sp>
      </p:grpSp>
      <p:sp>
        <p:nvSpPr>
          <p:cNvPr name="TextBox 9" id="9"/>
          <p:cNvSpPr txBox="true"/>
          <p:nvPr/>
        </p:nvSpPr>
        <p:spPr>
          <a:xfrm rot="0">
            <a:off x="10738652" y="1696402"/>
            <a:ext cx="6925627" cy="7849358"/>
          </a:xfrm>
          <a:prstGeom prst="rect">
            <a:avLst/>
          </a:prstGeom>
        </p:spPr>
        <p:txBody>
          <a:bodyPr anchor="t" rtlCol="false" tIns="0" lIns="0" bIns="0" rIns="0">
            <a:spAutoFit/>
          </a:bodyPr>
          <a:lstStyle/>
          <a:p>
            <a:pPr algn="l" marL="542924" indent="-271462" lvl="1">
              <a:lnSpc>
                <a:spcPts val="4499"/>
              </a:lnSpc>
              <a:buFont typeface="Arial"/>
              <a:buChar char="•"/>
            </a:pPr>
            <a:r>
              <a:rPr lang="en-US" sz="2999">
                <a:solidFill>
                  <a:srgbClr val="000000"/>
                </a:solidFill>
                <a:latin typeface="Public Sans"/>
                <a:ea typeface="Public Sans"/>
                <a:cs typeface="Public Sans"/>
                <a:sym typeface="Public Sans"/>
              </a:rPr>
              <a:t>Glucos</a:t>
            </a:r>
            <a:r>
              <a:rPr lang="en-US" sz="2999">
                <a:solidFill>
                  <a:srgbClr val="000000"/>
                </a:solidFill>
                <a:latin typeface="Public Sans"/>
                <a:ea typeface="Public Sans"/>
                <a:cs typeface="Public Sans"/>
                <a:sym typeface="Public Sans"/>
              </a:rPr>
              <a:t>e (0.49): mạnh nhất → người có Glucose cao dễ mắc tiểu đường. BMI (0.31): tương quan khá rõ → BMI cao tăng khả năng mắc bệnh. Age (0.24): người lớn tuổi có nguy cơ cao hơn.</a:t>
            </a:r>
          </a:p>
          <a:p>
            <a:pPr algn="l" marL="542924" indent="-271462" lvl="1">
              <a:lnSpc>
                <a:spcPts val="4499"/>
              </a:lnSpc>
              <a:buFont typeface="Arial"/>
              <a:buChar char="•"/>
            </a:pPr>
            <a:r>
              <a:rPr lang="en-US" sz="2999">
                <a:solidFill>
                  <a:srgbClr val="000000"/>
                </a:solidFill>
                <a:latin typeface="Public Sans"/>
                <a:ea typeface="Public Sans"/>
                <a:cs typeface="Public Sans"/>
                <a:sym typeface="Public Sans"/>
              </a:rPr>
              <a:t>SkinThickness và BMI (0.54): khá cao → có thể gây multicollinearity. Pregnancies và Age (0.54):  tương quan cao (tuổi lớn → số lần mang thai nhiều).</a:t>
            </a:r>
          </a:p>
          <a:p>
            <a:pPr algn="l" marL="542924" indent="-271462" lvl="1">
              <a:lnSpc>
                <a:spcPts val="4499"/>
              </a:lnSpc>
              <a:buFont typeface="Arial"/>
              <a:buChar char="•"/>
            </a:pPr>
            <a:r>
              <a:rPr lang="en-US" sz="2999">
                <a:solidFill>
                  <a:srgbClr val="000000"/>
                </a:solidFill>
                <a:latin typeface="Public Sans"/>
                <a:ea typeface="Public Sans"/>
                <a:cs typeface="Public Sans"/>
                <a:sym typeface="Public Sans"/>
              </a:rPr>
              <a:t>BloodPressure (0.17), SkinThickness (0.21), Insulin (0.20): liên quan yếu với Outcome.</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00" y="0"/>
            <a:ext cx="18300700" cy="10287000"/>
            <a:chOff x="0" y="0"/>
            <a:chExt cx="24400934" cy="13716000"/>
          </a:xfrm>
        </p:grpSpPr>
        <p:sp>
          <p:nvSpPr>
            <p:cNvPr name="Freeform 3" id="3"/>
            <p:cNvSpPr/>
            <p:nvPr/>
          </p:nvSpPr>
          <p:spPr>
            <a:xfrm flipH="false" flipV="false" rot="0">
              <a:off x="0" y="0"/>
              <a:ext cx="24400890" cy="13716000"/>
            </a:xfrm>
            <a:custGeom>
              <a:avLst/>
              <a:gdLst/>
              <a:ahLst/>
              <a:cxnLst/>
              <a:rect r="r" b="b" t="t" l="l"/>
              <a:pathLst>
                <a:path h="13716000" w="24400890">
                  <a:moveTo>
                    <a:pt x="0" y="0"/>
                  </a:moveTo>
                  <a:lnTo>
                    <a:pt x="24400890" y="0"/>
                  </a:lnTo>
                  <a:lnTo>
                    <a:pt x="24400890" y="13716000"/>
                  </a:lnTo>
                  <a:lnTo>
                    <a:pt x="0" y="13716000"/>
                  </a:lnTo>
                  <a:lnTo>
                    <a:pt x="0" y="0"/>
                  </a:lnTo>
                  <a:close/>
                </a:path>
              </a:pathLst>
            </a:custGeom>
            <a:blipFill>
              <a:blip r:embed="rId2"/>
              <a:stretch>
                <a:fillRect l="0" t="-16712" r="0" b="-16712"/>
              </a:stretch>
            </a:blipFill>
          </p:spPr>
        </p:sp>
      </p:grpSp>
      <p:grpSp>
        <p:nvGrpSpPr>
          <p:cNvPr name="Group 4" id="4"/>
          <p:cNvGrpSpPr/>
          <p:nvPr/>
        </p:nvGrpSpPr>
        <p:grpSpPr>
          <a:xfrm rot="0">
            <a:off x="800100" y="337945"/>
            <a:ext cx="16459200" cy="1096845"/>
            <a:chOff x="0" y="0"/>
            <a:chExt cx="21945600" cy="1462460"/>
          </a:xfrm>
        </p:grpSpPr>
        <p:sp>
          <p:nvSpPr>
            <p:cNvPr name="Freeform 5" id="5"/>
            <p:cNvSpPr/>
            <p:nvPr/>
          </p:nvSpPr>
          <p:spPr>
            <a:xfrm flipH="false" flipV="false" rot="0">
              <a:off x="0" y="0"/>
              <a:ext cx="21945600" cy="1462460"/>
            </a:xfrm>
            <a:custGeom>
              <a:avLst/>
              <a:gdLst/>
              <a:ahLst/>
              <a:cxnLst/>
              <a:rect r="r" b="b" t="t" l="l"/>
              <a:pathLst>
                <a:path h="1462460" w="21945600">
                  <a:moveTo>
                    <a:pt x="0" y="0"/>
                  </a:moveTo>
                  <a:lnTo>
                    <a:pt x="21945600" y="0"/>
                  </a:lnTo>
                  <a:lnTo>
                    <a:pt x="21945600" y="1462460"/>
                  </a:lnTo>
                  <a:lnTo>
                    <a:pt x="0" y="1462460"/>
                  </a:lnTo>
                  <a:close/>
                </a:path>
              </a:pathLst>
            </a:custGeom>
            <a:solidFill>
              <a:srgbClr val="000000">
                <a:alpha val="0"/>
              </a:srgbClr>
            </a:solidFill>
          </p:spPr>
        </p:sp>
        <p:sp>
          <p:nvSpPr>
            <p:cNvPr name="TextBox 6" id="6"/>
            <p:cNvSpPr txBox="true"/>
            <p:nvPr/>
          </p:nvSpPr>
          <p:spPr>
            <a:xfrm>
              <a:off x="0" y="0"/>
              <a:ext cx="21945600" cy="1462460"/>
            </a:xfrm>
            <a:prstGeom prst="rect">
              <a:avLst/>
            </a:prstGeom>
          </p:spPr>
          <p:txBody>
            <a:bodyPr anchor="ctr" rtlCol="false" tIns="0" lIns="0" bIns="0" rIns="0"/>
            <a:lstStyle/>
            <a:p>
              <a:pPr algn="ctr">
                <a:lnSpc>
                  <a:spcPts val="6480"/>
                </a:lnSpc>
              </a:pPr>
              <a:r>
                <a:rPr lang="en-US" sz="5400" b="true">
                  <a:solidFill>
                    <a:srgbClr val="000000"/>
                  </a:solidFill>
                  <a:latin typeface="Public Sans Bold"/>
                  <a:ea typeface="Public Sans Bold"/>
                  <a:cs typeface="Public Sans Bold"/>
                  <a:sym typeface="Public Sans Bold"/>
                </a:rPr>
                <a:t>Kết luận</a:t>
              </a:r>
            </a:p>
          </p:txBody>
        </p:sp>
      </p:grpSp>
      <p:sp>
        <p:nvSpPr>
          <p:cNvPr name="TextBox 7" id="7"/>
          <p:cNvSpPr txBox="true"/>
          <p:nvPr/>
        </p:nvSpPr>
        <p:spPr>
          <a:xfrm rot="0">
            <a:off x="306832" y="1330015"/>
            <a:ext cx="17661635" cy="7522195"/>
          </a:xfrm>
          <a:prstGeom prst="rect">
            <a:avLst/>
          </a:prstGeom>
        </p:spPr>
        <p:txBody>
          <a:bodyPr anchor="t" rtlCol="false" tIns="0" lIns="0" bIns="0" rIns="0">
            <a:spAutoFit/>
          </a:bodyPr>
          <a:lstStyle/>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Glucose là yếu tố phân biệt mạnh nhất: người có Glucose cao dễ mắc tiểu đường.</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BMI và Age cũng có ảnh hưởng rõ: BMI cao và tuổi lớn làm tăng nguy cơ mắc bệnh.</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Pregnancies có vai trò nhất định, đặc biệt khi kết hợp với tuổi (phụ nữ lớn tuổi, nhiều lần mang thai → nguy cơ cao).</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Diabetes Pedigree Function (DPF) góp phần bổ sung, nguy cơ tăng mạnh khi kết hợp với BMI cao.</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BloodPressure, SkinThickness, Insulin có liên quan yếu đến Outcome, ít giá trị phân biệt.</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Một số cặp biến có tương quan cao (multicollinearity) như SkinThickness–BMI, Pregnancies–Age.</a:t>
            </a:r>
          </a:p>
          <a:p>
            <a:pPr algn="l" marL="712470" indent="-356235" lvl="1">
              <a:lnSpc>
                <a:spcPts val="4950"/>
              </a:lnSpc>
              <a:buFont typeface="Arial"/>
              <a:buChar char="•"/>
            </a:pPr>
            <a:r>
              <a:rPr lang="en-US" sz="3300">
                <a:solidFill>
                  <a:srgbClr val="000000"/>
                </a:solidFill>
                <a:latin typeface="Public Sans"/>
                <a:ea typeface="Public Sans"/>
                <a:cs typeface="Public Sans"/>
                <a:sym typeface="Public Sans"/>
              </a:rPr>
              <a:t>Bộ dữ liệu mất cân bằng lớp (Outcome=0 chiếm đa số), cần xử lý khi huấn luyện mô hình.</a:t>
            </a:r>
          </a:p>
          <a:p>
            <a:pPr algn="l">
              <a:lnSpc>
                <a:spcPts val="4950"/>
              </a:lnSpc>
            </a:pPr>
            <a:r>
              <a:rPr lang="en-US" sz="3300">
                <a:solidFill>
                  <a:srgbClr val="000000"/>
                </a:solidFill>
                <a:latin typeface="Public Sans"/>
                <a:ea typeface="Public Sans"/>
                <a:cs typeface="Public Sans"/>
                <a:sym typeface="Public Sans"/>
              </a:rPr>
              <a:t>-&gt; Nhìn chung: Glucose, BMI, Age và Pregnancies là những đặc trưng quan trọng nhất để dự báo tiểu đường trong cộng đồng Pima Indians.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DAGz56--yBc</dc:identifier>
  <dcterms:modified xsi:type="dcterms:W3CDTF">2011-08-01T06:04:30Z</dcterms:modified>
  <cp:revision>1</cp:revision>
  <dc:title>Exploratory Data Analysis</dc:title>
</cp:coreProperties>
</file>